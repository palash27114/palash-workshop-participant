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value</c:v>
                </c:pt>
              </c:strCache>
            </c:strRef>
          </c:tx>
          <c:spPr>
            <a:solidFill>
              <a:srgbClr val="2A78D6"/>
            </a:solidFill>
          </c:spPr>
          <c:dPt>
            <c:idx val="0"/>
            <c:spPr>
              <a:solidFill>
                <a:srgbClr val="2A78D6"/>
              </a:solidFill>
            </c:spPr>
          </c:dPt>
          <c:dPt>
            <c:idx val="1"/>
            <c:spPr>
              <a:solidFill>
                <a:srgbClr val="2A78D6"/>
              </a:solidFill>
            </c:spPr>
          </c:dPt>
          <c:dPt>
            <c:idx val="2"/>
            <c:spPr>
              <a:solidFill>
                <a:srgbClr val="B0412D"/>
              </a:solidFill>
            </c:spPr>
          </c:dPt>
          <c:cat>
            <c:strRef>
              <c:f>Sheet1!$A$2:$A$4</c:f>
              <c:strCache>
                <c:ptCount val="3"/>
                <c:pt idx="0">
                  <c:v>Improving</c:v>
                </c:pt>
                <c:pt idx="1">
                  <c:v>Stable</c:v>
                </c:pt>
                <c:pt idx="2">
                  <c:v>Declining</c:v>
                </c:pt>
              </c:strCache>
            </c:strRef>
          </c:cat>
          <c:val>
            <c:numRef>
              <c:f>Sheet1!$B$2:$B$4</c:f>
              <c:numCache>
                <c:formatCode>General</c:formatCode>
                <c:ptCount val="3"/>
                <c:pt idx="0">
                  <c:v>898</c:v>
                </c:pt>
                <c:pt idx="1">
                  <c:v>872</c:v>
                </c:pt>
                <c:pt idx="2">
                  <c:v>230</c:v>
                </c:pt>
              </c:numCache>
            </c:numRef>
          </c:val>
        </c:ser>
        <c:dLbls>
          <c:numFmt formatCode="#,##0" sourceLinked="0"/>
          <c:txPr>
            <a:bodyPr/>
            <a:lstStyle/>
            <a:p>
              <a:pPr>
                <a:defRPr sz="1000">
                  <a:solidFill>
                    <a:srgbClr val="17202A"/>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solidFill>
              <a:srgbClr val="D4DAE1"/>
            </a:solidFill>
          </a:ln>
        </c:spPr>
        <c:txPr>
          <a:bodyPr/>
          <a:lstStyle/>
          <a:p>
            <a:pPr>
              <a:defRPr sz="1100">
                <a:solidFill>
                  <a:srgbClr val="4B5765"/>
                </a:solidFill>
              </a:defRPr>
            </a:pPr>
          </a:p>
        </c:txPr>
        <c:crossAx val="-2113994440"/>
        <c:crosses val="autoZero"/>
        <c:auto val="1"/>
        <c:lblAlgn val="ctr"/>
        <c:lblOffset val="100"/>
        <c:noMultiLvlLbl val="0"/>
      </c:catAx>
      <c:valAx>
        <c:axId val="-2113994440"/>
        <c:scaling>
          <c:max val="1095.56"/>
          <c:min val="0.0"/>
        </c:scaling>
        <c:delete/>
        <c:axPos val="b"/>
        <c:majorTickMark val="out"/>
        <c:minorTickMark val="none"/>
        <c:tickLblPos val="nextTo"/>
        <c:crossAx val="-2068027336"/>
        <c:crosses val="autoZero"/>
      </c:valAx>
    </c:plotArea>
    <c:dispBlanksAs val="gap"/>
  </c:chart>
  <c:spPr>
    <a:noFill/>
    <a:ln>
      <a:noFill/>
    </a:ln>
  </c:spPr>
  <c:txPr>
    <a:bodyPr/>
    <a:lstStyle/>
    <a:p>
      <a:pPr>
        <a:defRPr sz="1100">
          <a:solidFill>
            <a:srgbClr val="4B5765"/>
          </a:solidFill>
          <a:latin typeface="Segoe U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value</c:v>
                </c:pt>
              </c:strCache>
            </c:strRef>
          </c:tx>
          <c:spPr>
            <a:solidFill>
              <a:srgbClr val="2A78D6"/>
            </a:solidFill>
          </c:spPr>
          <c:cat>
            <c:strRef>
              <c:f>Sheet1!$A$2:$A$5</c:f>
              <c:strCache>
                <c:ptCount val="4"/>
                <c:pt idx="0">
                  <c:v>Stakeholder Management</c:v>
                </c:pt>
                <c:pt idx="1">
                  <c:v>Strategic Thinking</c:v>
                </c:pt>
                <c:pt idx="2">
                  <c:v>Presentation Skills</c:v>
                </c:pt>
                <c:pt idx="3">
                  <c:v>Incident Response</c:v>
                </c:pt>
              </c:strCache>
            </c:strRef>
          </c:cat>
          <c:val>
            <c:numRef>
              <c:f>Sheet1!$B$2:$B$5</c:f>
              <c:numCache>
                <c:formatCode>General</c:formatCode>
                <c:ptCount val="4"/>
                <c:pt idx="0">
                  <c:v>17</c:v>
                </c:pt>
                <c:pt idx="1">
                  <c:v>16</c:v>
                </c:pt>
                <c:pt idx="2">
                  <c:v>16</c:v>
                </c:pt>
                <c:pt idx="3">
                  <c:v>16</c:v>
                </c:pt>
              </c:numCache>
            </c:numRef>
          </c:val>
        </c:ser>
        <c:dLbls>
          <c:numFmt formatCode="#,##0" sourceLinked="0"/>
          <c:txPr>
            <a:bodyPr/>
            <a:lstStyle/>
            <a:p>
              <a:pPr>
                <a:defRPr sz="1000">
                  <a:solidFill>
                    <a:srgbClr val="17202A"/>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solidFill>
              <a:srgbClr val="D4DAE1"/>
            </a:solidFill>
          </a:ln>
        </c:spPr>
        <c:txPr>
          <a:bodyPr/>
          <a:lstStyle/>
          <a:p>
            <a:pPr>
              <a:defRPr sz="1000">
                <a:solidFill>
                  <a:srgbClr val="4B5765"/>
                </a:solidFill>
              </a:defRPr>
            </a:pPr>
          </a:p>
        </c:txPr>
        <c:crossAx val="-2113994440"/>
        <c:crosses val="autoZero"/>
        <c:auto val="1"/>
        <c:lblAlgn val="ctr"/>
        <c:lblOffset val="100"/>
        <c:noMultiLvlLbl val="0"/>
      </c:catAx>
      <c:valAx>
        <c:axId val="-2113994440"/>
        <c:scaling>
          <c:max val="20.74"/>
          <c:min val="0.0"/>
        </c:scaling>
        <c:delete/>
        <c:axPos val="b"/>
        <c:majorTickMark val="out"/>
        <c:minorTickMark val="none"/>
        <c:tickLblPos val="nextTo"/>
        <c:crossAx val="-2068027336"/>
        <c:crosses val="autoZero"/>
      </c:valAx>
    </c:plotArea>
    <c:dispBlanksAs val="gap"/>
  </c:chart>
  <c:spPr>
    <a:noFill/>
    <a:ln>
      <a:noFill/>
    </a:ln>
  </c:spPr>
  <c:txPr>
    <a:bodyPr/>
    <a:lstStyle/>
    <a:p>
      <a:pPr>
        <a:defRPr sz="1000">
          <a:solidFill>
            <a:srgbClr val="4B5765"/>
          </a:solidFill>
          <a:latin typeface="Segoe U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value</c:v>
                </c:pt>
              </c:strCache>
            </c:strRef>
          </c:tx>
          <c:spPr>
            <a:solidFill>
              <a:srgbClr val="0D366B"/>
            </a:solidFill>
          </c:spPr>
          <c:dPt>
            <c:idx val="0"/>
            <c:spPr>
              <a:solidFill>
                <a:srgbClr val="0D366B"/>
              </a:solidFill>
            </c:spPr>
          </c:dPt>
          <c:dPt>
            <c:idx val="1"/>
            <c:spPr>
              <a:solidFill>
                <a:srgbClr val="256ABF"/>
              </a:solidFill>
            </c:spPr>
          </c:dPt>
          <c:dPt>
            <c:idx val="2"/>
            <c:spPr>
              <a:solidFill>
                <a:srgbClr val="5598E7"/>
              </a:solidFill>
            </c:spPr>
          </c:dPt>
          <c:dPt>
            <c:idx val="3"/>
            <c:spPr>
              <a:solidFill>
                <a:srgbClr val="9EC5F4"/>
              </a:solidFill>
            </c:spPr>
          </c:dPt>
          <c:cat>
            <c:strRef>
              <c:f>Sheet1!$A$2:$A$5</c:f>
              <c:strCache>
                <c:ptCount val="4"/>
                <c:pt idx="0">
                  <c:v>Ready now</c:v>
                </c:pt>
                <c:pt idx="1">
                  <c:v>Close gaps first</c:v>
                </c:pt>
                <c:pt idx="2">
                  <c:v>Emerging</c:v>
                </c:pt>
                <c:pt idx="3">
                  <c:v>Not in pipeline</c:v>
                </c:pt>
              </c:strCache>
            </c:strRef>
          </c:cat>
          <c:val>
            <c:numRef>
              <c:f>Sheet1!$B$2:$B$5</c:f>
              <c:numCache>
                <c:formatCode>General</c:formatCode>
                <c:ptCount val="4"/>
                <c:pt idx="0">
                  <c:v>124</c:v>
                </c:pt>
                <c:pt idx="1">
                  <c:v>42</c:v>
                </c:pt>
                <c:pt idx="2">
                  <c:v>70</c:v>
                </c:pt>
                <c:pt idx="3">
                  <c:v>1764</c:v>
                </c:pt>
              </c:numCache>
            </c:numRef>
          </c:val>
        </c:ser>
        <c:dLbls>
          <c:numFmt formatCode="#,##0" sourceLinked="0"/>
          <c:txPr>
            <a:bodyPr/>
            <a:lstStyle/>
            <a:p>
              <a:pPr>
                <a:defRPr sz="1000">
                  <a:solidFill>
                    <a:srgbClr val="17202A"/>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solidFill>
              <a:srgbClr val="D4DAE1"/>
            </a:solidFill>
          </a:ln>
        </c:spPr>
        <c:txPr>
          <a:bodyPr/>
          <a:lstStyle/>
          <a:p>
            <a:pPr>
              <a:defRPr sz="1000">
                <a:solidFill>
                  <a:srgbClr val="4B5765"/>
                </a:solidFill>
              </a:defRPr>
            </a:pPr>
          </a:p>
        </c:txPr>
        <c:crossAx val="-2113994440"/>
        <c:crosses val="autoZero"/>
        <c:auto val="1"/>
        <c:lblAlgn val="ctr"/>
        <c:lblOffset val="100"/>
        <c:noMultiLvlLbl val="0"/>
      </c:catAx>
      <c:valAx>
        <c:axId val="-2113994440"/>
        <c:scaling>
          <c:max val="2152.08"/>
          <c:min val="0.0"/>
        </c:scaling>
        <c:delete/>
        <c:axPos val="b"/>
        <c:majorTickMark val="out"/>
        <c:minorTickMark val="none"/>
        <c:tickLblPos val="nextTo"/>
        <c:crossAx val="-2068027336"/>
        <c:crosses val="autoZero"/>
      </c:valAx>
    </c:plotArea>
    <c:dispBlanksAs val="gap"/>
  </c:chart>
  <c:spPr>
    <a:noFill/>
    <a:ln>
      <a:noFill/>
    </a:ln>
  </c:spPr>
  <c:txPr>
    <a:bodyPr/>
    <a:lstStyle/>
    <a:p>
      <a:pPr>
        <a:defRPr sz="1000">
          <a:solidFill>
            <a:srgbClr val="4B5765"/>
          </a:solidFill>
          <a:latin typeface="Segoe U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value</c:v>
                </c:pt>
              </c:strCache>
            </c:strRef>
          </c:tx>
          <c:spPr>
            <a:solidFill>
              <a:srgbClr val="D03B3B"/>
            </a:solidFill>
          </c:spPr>
          <c:dPt>
            <c:idx val="0"/>
            <c:spPr>
              <a:solidFill>
                <a:srgbClr val="D03B3B"/>
              </a:solidFill>
            </c:spPr>
          </c:dPt>
          <c:dPt>
            <c:idx val="1"/>
            <c:spPr>
              <a:solidFill>
                <a:srgbClr val="EC835A"/>
              </a:solidFill>
            </c:spPr>
          </c:dPt>
          <c:dPt>
            <c:idx val="2"/>
            <c:spPr>
              <a:solidFill>
                <a:srgbClr val="0CA30C"/>
              </a:solidFill>
            </c:spPr>
          </c:dPt>
          <c:cat>
            <c:strRef>
              <c:f>Sheet1!$A$2:$A$4</c:f>
              <c:strCache>
                <c:ptCount val="3"/>
                <c:pt idx="0">
                  <c:v>High</c:v>
                </c:pt>
                <c:pt idx="1">
                  <c:v>Medium</c:v>
                </c:pt>
                <c:pt idx="2">
                  <c:v>Low</c:v>
                </c:pt>
              </c:strCache>
            </c:strRef>
          </c:cat>
          <c:val>
            <c:numRef>
              <c:f>Sheet1!$B$2:$B$4</c:f>
              <c:numCache>
                <c:formatCode>General</c:formatCode>
                <c:ptCount val="3"/>
                <c:pt idx="0">
                  <c:v>212</c:v>
                </c:pt>
                <c:pt idx="1">
                  <c:v>148</c:v>
                </c:pt>
                <c:pt idx="2">
                  <c:v>1640</c:v>
                </c:pt>
              </c:numCache>
            </c:numRef>
          </c:val>
        </c:ser>
        <c:dLbls>
          <c:numFmt formatCode="#,##0" sourceLinked="0"/>
          <c:txPr>
            <a:bodyPr/>
            <a:lstStyle/>
            <a:p>
              <a:pPr>
                <a:defRPr sz="1000">
                  <a:solidFill>
                    <a:srgbClr val="17202A"/>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solidFill>
              <a:srgbClr val="D4DAE1"/>
            </a:solidFill>
          </a:ln>
        </c:spPr>
        <c:txPr>
          <a:bodyPr/>
          <a:lstStyle/>
          <a:p>
            <a:pPr>
              <a:defRPr sz="1100">
                <a:solidFill>
                  <a:srgbClr val="4B5765"/>
                </a:solidFill>
              </a:defRPr>
            </a:pPr>
          </a:p>
        </c:txPr>
        <c:crossAx val="-2113994440"/>
        <c:crosses val="autoZero"/>
        <c:auto val="1"/>
        <c:lblAlgn val="ctr"/>
        <c:lblOffset val="100"/>
        <c:noMultiLvlLbl val="0"/>
      </c:catAx>
      <c:valAx>
        <c:axId val="-2113994440"/>
        <c:scaling>
          <c:max val="2000.8"/>
          <c:min val="0.0"/>
        </c:scaling>
        <c:delete/>
        <c:axPos val="b"/>
        <c:majorTickMark val="out"/>
        <c:minorTickMark val="none"/>
        <c:tickLblPos val="nextTo"/>
        <c:crossAx val="-2068027336"/>
        <c:crosses val="autoZero"/>
      </c:valAx>
    </c:plotArea>
    <c:dispBlanksAs val="gap"/>
  </c:chart>
  <c:spPr>
    <a:noFill/>
    <a:ln>
      <a:noFill/>
    </a:ln>
  </c:spPr>
  <c:txPr>
    <a:bodyPr/>
    <a:lstStyle/>
    <a:p>
      <a:pPr>
        <a:defRPr sz="1100">
          <a:solidFill>
            <a:srgbClr val="4B5765"/>
          </a:solidFill>
          <a:latin typeface="Segoe U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value</c:v>
                </c:pt>
              </c:strCache>
            </c:strRef>
          </c:tx>
          <c:spPr>
            <a:solidFill>
              <a:srgbClr val="2A78D6"/>
            </a:solidFill>
          </c:spPr>
          <c:cat>
            <c:strRef>
              <c:f>Sheet1!$A$2:$A$4</c:f>
              <c:strCache>
                <c:ptCount val="3"/>
                <c:pt idx="0">
                  <c:v>All on time (15)</c:v>
                </c:pt>
                <c:pt idx="1">
                  <c:v>Mixed (5)</c:v>
                </c:pt>
                <c:pt idx="2">
                  <c:v>All delayed (7)</c:v>
                </c:pt>
              </c:strCache>
            </c:strRef>
          </c:cat>
          <c:val>
            <c:numRef>
              <c:f>Sheet1!$B$2:$B$4</c:f>
              <c:numCache>
                <c:formatCode>General</c:formatCode>
                <c:ptCount val="3"/>
                <c:pt idx="0">
                  <c:v>56.2</c:v>
                </c:pt>
                <c:pt idx="1">
                  <c:v>46.8</c:v>
                </c:pt>
                <c:pt idx="2">
                  <c:v>43.2</c:v>
                </c:pt>
              </c:numCache>
            </c:numRef>
          </c:val>
        </c:ser>
        <c:dLbls>
          <c:numFmt formatCode="0&quot;%&quot;" sourceLinked="0"/>
          <c:txPr>
            <a:bodyPr/>
            <a:lstStyle/>
            <a:p>
              <a:pPr>
                <a:defRPr sz="1000">
                  <a:solidFill>
                    <a:srgbClr val="17202A"/>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solidFill>
              <a:srgbClr val="D4DAE1"/>
            </a:solidFill>
          </a:ln>
        </c:spPr>
        <c:txPr>
          <a:bodyPr/>
          <a:lstStyle/>
          <a:p>
            <a:pPr>
              <a:defRPr sz="1050">
                <a:solidFill>
                  <a:srgbClr val="4B5765"/>
                </a:solidFill>
              </a:defRPr>
            </a:pPr>
          </a:p>
        </c:txPr>
        <c:crossAx val="-2113994440"/>
        <c:crosses val="autoZero"/>
        <c:auto val="1"/>
        <c:lblAlgn val="ctr"/>
        <c:lblOffset val="100"/>
        <c:noMultiLvlLbl val="0"/>
      </c:catAx>
      <c:valAx>
        <c:axId val="-2113994440"/>
        <c:scaling>
          <c:max val="80.0"/>
          <c:min val="0.0"/>
        </c:scaling>
        <c:delete/>
        <c:axPos val="b"/>
        <c:majorTickMark val="out"/>
        <c:minorTickMark val="none"/>
        <c:tickLblPos val="nextTo"/>
        <c:crossAx val="-2068027336"/>
        <c:crosses val="autoZero"/>
      </c:valAx>
    </c:plotArea>
    <c:dispBlanksAs val="gap"/>
  </c:chart>
  <c:spPr>
    <a:noFill/>
    <a:ln>
      <a:noFill/>
    </a:ln>
  </c:spPr>
  <c:txPr>
    <a:bodyPr/>
    <a:lstStyle/>
    <a:p>
      <a:pPr>
        <a:defRPr sz="1050">
          <a:solidFill>
            <a:srgbClr val="4B5765"/>
          </a:solidFill>
          <a:latin typeface="Segoe U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value</c:v>
                </c:pt>
              </c:strCache>
            </c:strRef>
          </c:tx>
          <c:spPr>
            <a:solidFill>
              <a:srgbClr val="2A78D6"/>
            </a:solidFill>
          </c:spPr>
          <c:cat>
            <c:strRef>
              <c:f>Sheet1!$A$2:$A$5</c:f>
              <c:strCache>
                <c:ptCount val="4"/>
                <c:pt idx="0">
                  <c:v>Stakeholder Management</c:v>
                </c:pt>
                <c:pt idx="1">
                  <c:v>Customer Empathy</c:v>
                </c:pt>
                <c:pt idx="2">
                  <c:v>Presentation Skills</c:v>
                </c:pt>
                <c:pt idx="3">
                  <c:v>Incident Response</c:v>
                </c:pt>
              </c:strCache>
            </c:strRef>
          </c:cat>
          <c:val>
            <c:numRef>
              <c:f>Sheet1!$B$2:$B$5</c:f>
              <c:numCache>
                <c:formatCode>General</c:formatCode>
                <c:ptCount val="4"/>
                <c:pt idx="0">
                  <c:v>65.2</c:v>
                </c:pt>
                <c:pt idx="1">
                  <c:v>68.2</c:v>
                </c:pt>
                <c:pt idx="2">
                  <c:v>69.5</c:v>
                </c:pt>
                <c:pt idx="3">
                  <c:v>69.5</c:v>
                </c:pt>
              </c:numCache>
            </c:numRef>
          </c:val>
        </c:ser>
        <c:dLbls>
          <c:numFmt formatCode="0&quot;%&quot;" sourceLinked="0"/>
          <c:txPr>
            <a:bodyPr/>
            <a:lstStyle/>
            <a:p>
              <a:pPr>
                <a:defRPr sz="1000">
                  <a:solidFill>
                    <a:srgbClr val="17202A"/>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solidFill>
              <a:srgbClr val="D4DAE1"/>
            </a:solidFill>
          </a:ln>
        </c:spPr>
        <c:txPr>
          <a:bodyPr/>
          <a:lstStyle/>
          <a:p>
            <a:pPr>
              <a:defRPr sz="1000">
                <a:solidFill>
                  <a:srgbClr val="4B5765"/>
                </a:solidFill>
              </a:defRPr>
            </a:pPr>
          </a:p>
        </c:txPr>
        <c:crossAx val="-2113994440"/>
        <c:crosses val="autoZero"/>
        <c:auto val="1"/>
        <c:lblAlgn val="ctr"/>
        <c:lblOffset val="100"/>
        <c:noMultiLvlLbl val="0"/>
      </c:catAx>
      <c:valAx>
        <c:axId val="-2113994440"/>
        <c:scaling>
          <c:max val="100.0"/>
          <c:min val="0.0"/>
        </c:scaling>
        <c:delete/>
        <c:axPos val="b"/>
        <c:majorTickMark val="out"/>
        <c:minorTickMark val="none"/>
        <c:tickLblPos val="nextTo"/>
        <c:crossAx val="-2068027336"/>
        <c:crosses val="autoZero"/>
      </c:valAx>
    </c:plotArea>
    <c:dispBlanksAs val="gap"/>
  </c:chart>
  <c:spPr>
    <a:noFill/>
    <a:ln>
      <a:noFill/>
    </a:ln>
  </c:spPr>
  <c:txPr>
    <a:bodyPr/>
    <a:lstStyle/>
    <a:p>
      <a:pPr>
        <a:defRPr sz="1000">
          <a:solidFill>
            <a:srgbClr val="4B5765"/>
          </a:solidFill>
          <a:latin typeface="Segoe U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ACME has performance, skills and training data scattered across systems. I built a batch pipeline with a Bronze, Silver, Gold data lake that answers seven HR questions, with schema validation, quarantine and lineage, 60 automated tests, running both locally and on AWS.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Reviews, development plans and training records live in spreadsheets, email and a separate learning system. Managers can't see who is ready for promotion, who is drifting, or where the skill gaps are. The goal: one curated, trustworthy table per question, refreshed by a repeatable batch run.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sources: the HR database (PostgreSQL locally, Aurora in AWS) and the learning-system export as JSONL files in S3. Bronze stores exactly what arrived; Silver validates every row and quarantines rejects with a reason; Gold builds one table per question and proves its numbers against Silver. The notebook and dashboard read Gold only. job.py runs it all under one run id and writes the lineage manifest.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Profiling found the HR tables clean and the learning export deliberately dirty. Bronze keeps exactly what arrived: write-once, byte-identical copies, reconciled to the source, so any number can be reproduced later. Silver applies a contract per dataset; failing rows go to quarantine with every rule they broke and the original line. Duplicates are extra copies whose original is kept; renamed fields are recovered. Counts reconcile exactly.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Silver dataset gets a quarantine rate. Below 5% it publishes normally. From 5% it still publishes but raises a warning in the log, the data-quality report, the run manifest and a dashboard banner. From 50%, for example 500 of 1,000 rows, the source is probably broken: the rejects are still saved as evidence, but the previous good Silver data is kept, the run stops and Gold is not rebuilt. Both thresholds are environment variables. Today every dataset is OK; the highest is learning activity at about 1%. An end-to-end test lowers the threshold to 0.5% to prove a critical batch keeps the previous data.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loading anything, the pipeline asks each source whether it changed since the last run. For S3 files this is built today: each file's ETag is compared with the watermark in _state, and an unchanged file is skipped (a rerun copied 0 of 783 files). For PostgreSQL the design compares a checksum of each table export with the MD5 already stored in the last Bronze manifest; if nothing changed anywhere, the run records a no-op and skips Silver and Gold. Results are identical either way, because every layer is idempotent; change detection only saves work and avoids duplicate snapshots.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Gold is organised by question. Each table is a pure function of Silver with business rules as named constants, so a threshold is a one-line change. Before publishing, row counts must match the Silver population, totals must add back up, and every row must obey its rule. Lineage exists at run, row and column level, so any Gold number traces back to a source file and line.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Q1: average latest rating 3.41; 898 improved, 872 stable, 230 declined. Q2: a critical gap is two or more levels short, or any shortfall where the role needs level 4+; 465 gaps across 441 people, Stakeholder Management most common, HR department highest share (28%). Q3: ready now = high potential, readiness 'Ready Now', no critical gaps; 124 people; 28 high-potential employees are at high attrition risk. Q4: 1.75 courses per person, 41% quiz pass rate, 232 with no learning activity at all.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Q5 is a transparent points score: rating fell +2, latest rating 2 or below +2, negative manager comment +1, no learning in 180 days +1, manager flag High +2 or Medium +1; 5 or more is High. Managers flagged 311 as high risk; only 145 also show performance warning signs, and 67 score high without a flag. Q6 is team level because projects belong to teams: on-time teams have 56% high performers versus 43% for all-delayed teams, from 27 teams. Q7: Stakeholder Management has the weakest coverage of required levels at 65%; a third of assessments are at level 1–2.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job.py is identical locally and in AWS; environment variables decide the rest. In AWS it runs as a Kubernetes Job on the workshop EKS cluster, reads Aurora and writes Amazon S3: 60 seconds, identical answers. The stock EKS template only supports a single-file job with no settings or AWS access; I kept infra/ and bin/ untouched and closed each gap with small scripts in the project. 60 automated tests, including end-to-end runs.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decisions: pandas because the data is small and pure functions are testable; one code path via LocalStack S3; quarantine instead of dropping; a transparent attrition score. Limits: two review periods, 27 teams for Q6, a weak potential rating, 143 unusable events, plain-HTTP dashboard. Next: change history (SCD Type 2), the four small infra changes, scheduling, SQL over Gold and HTTPS. Then demo: cloud_run.sh, the dashboard, the notebook.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chart" Target="../charts/chart1.xml"/><Relationship Id="rId4" Type="http://schemas.openxmlformats.org/officeDocument/2006/relationships/chart" Target="../charts/chart2.xml"/><Relationship Id="rId5" Type="http://schemas.openxmlformats.org/officeDocument/2006/relationships/chart" Target="../charts/char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chart" Target="../charts/chart4.xml"/><Relationship Id="rId4" Type="http://schemas.openxmlformats.org/officeDocument/2006/relationships/chart" Target="../charts/chart5.xml"/><Relationship Id="rId5" Type="http://schemas.openxmlformats.org/officeDocument/2006/relationships/chart" Target="../charts/char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1417320"/>
            <a:ext cx="6949440" cy="457200"/>
          </a:xfrm>
          <a:prstGeom prst="rect">
            <a:avLst/>
          </a:prstGeom>
          <a:noFill/>
        </p:spPr>
        <p:txBody>
          <a:bodyPr wrap="square" anchor="t" lIns="18288" rIns="18288" tIns="18288" bIns="18288">
            <a:spAutoFit/>
          </a:bodyPr>
          <a:lstStyle/>
          <a:p>
            <a:pPr algn="l">
              <a:spcAft>
                <a:spcPts val="400"/>
              </a:spcAft>
            </a:pPr>
            <a:r>
              <a:rPr sz="1200" b="0">
                <a:solidFill>
                  <a:srgbClr val="1D4E89"/>
                </a:solidFill>
                <a:latin typeface="Segoe UI Semibold"/>
              </a:rPr>
              <a:t>CODING WORKSHOP  ·  DATA ENGINEER TRACK</a:t>
            </a:r>
          </a:p>
        </p:txBody>
      </p:sp>
      <p:sp>
        <p:nvSpPr>
          <p:cNvPr id="3" name="TextBox 2"/>
          <p:cNvSpPr txBox="1"/>
          <p:nvPr/>
        </p:nvSpPr>
        <p:spPr>
          <a:xfrm>
            <a:off x="731520" y="1828800"/>
            <a:ext cx="7132320" cy="1097280"/>
          </a:xfrm>
          <a:prstGeom prst="rect">
            <a:avLst/>
          </a:prstGeom>
          <a:noFill/>
        </p:spPr>
        <p:txBody>
          <a:bodyPr wrap="square" anchor="t" lIns="18288" rIns="18288" tIns="18288" bIns="18288">
            <a:spAutoFit/>
          </a:bodyPr>
          <a:lstStyle/>
          <a:p>
            <a:pPr algn="l">
              <a:spcAft>
                <a:spcPts val="400"/>
              </a:spcAft>
            </a:pPr>
            <a:r>
              <a:rPr sz="5400" b="0">
                <a:solidFill>
                  <a:srgbClr val="17202A"/>
                </a:solidFill>
                <a:latin typeface="Segoe UI Semibold"/>
              </a:rPr>
              <a:t>ACME Talent Lake</a:t>
            </a:r>
          </a:p>
        </p:txBody>
      </p:sp>
      <p:sp>
        <p:nvSpPr>
          <p:cNvPr id="4" name="TextBox 3"/>
          <p:cNvSpPr txBox="1"/>
          <p:nvPr/>
        </p:nvSpPr>
        <p:spPr>
          <a:xfrm>
            <a:off x="731520" y="2880360"/>
            <a:ext cx="6400800" cy="1097280"/>
          </a:xfrm>
          <a:prstGeom prst="rect">
            <a:avLst/>
          </a:prstGeom>
          <a:noFill/>
        </p:spPr>
        <p:txBody>
          <a:bodyPr wrap="square" anchor="t" lIns="18288" rIns="18288" tIns="18288" bIns="18288">
            <a:spAutoFit/>
          </a:bodyPr>
          <a:lstStyle/>
          <a:p>
            <a:pPr algn="l">
              <a:spcAft>
                <a:spcPts val="400"/>
              </a:spcAft>
            </a:pPr>
            <a:r>
              <a:rPr sz="1800" b="0">
                <a:solidFill>
                  <a:srgbClr val="4B5765"/>
                </a:solidFill>
                <a:latin typeface="Segoe UI"/>
              </a:rPr>
              <a:t>Performance, skills, training and attrition analytics on a Bronze → Silver → Gold data lake, running locally and on AWS.</a:t>
            </a:r>
          </a:p>
        </p:txBody>
      </p:sp>
      <p:sp>
        <p:nvSpPr>
          <p:cNvPr id="5" name="TextBox 4"/>
          <p:cNvSpPr txBox="1"/>
          <p:nvPr/>
        </p:nvSpPr>
        <p:spPr>
          <a:xfrm>
            <a:off x="731520" y="5120640"/>
            <a:ext cx="6858000" cy="365760"/>
          </a:xfrm>
          <a:prstGeom prst="rect">
            <a:avLst/>
          </a:prstGeom>
          <a:noFill/>
        </p:spPr>
        <p:txBody>
          <a:bodyPr wrap="square" anchor="t" lIns="18288" rIns="18288" tIns="18288" bIns="18288">
            <a:spAutoFit/>
          </a:bodyPr>
          <a:lstStyle/>
          <a:p>
            <a:pPr algn="l">
              <a:spcAft>
                <a:spcPts val="400"/>
              </a:spcAft>
            </a:pPr>
            <a:r>
              <a:rPr sz="1400" b="0">
                <a:solidFill>
                  <a:srgbClr val="17202A"/>
                </a:solidFill>
                <a:latin typeface="Segoe UI Semibold"/>
              </a:rPr>
              <a:t>Palash Joshi</a:t>
            </a:r>
            <a:r>
              <a:rPr sz="1400" b="0">
                <a:solidFill>
                  <a:srgbClr val="4B5765"/>
                </a:solidFill>
                <a:latin typeface="Segoe UI"/>
              </a:rPr>
              <a:t>   ·   October 2026</a:t>
            </a:r>
          </a:p>
        </p:txBody>
      </p:sp>
      <p:sp>
        <p:nvSpPr>
          <p:cNvPr id="6" name="Rounded Rectangle 5"/>
          <p:cNvSpPr/>
          <p:nvPr/>
        </p:nvSpPr>
        <p:spPr>
          <a:xfrm>
            <a:off x="8138160" y="1600200"/>
            <a:ext cx="3429000" cy="1024128"/>
          </a:xfrm>
          <a:prstGeom prst="roundRect">
            <a:avLst>
              <a:gd name="adj" fmla="val 6000"/>
            </a:avLst>
          </a:prstGeom>
          <a:solidFill>
            <a:srgbClr val="F6ECCC"/>
          </a:solidFill>
          <a:ln w="15875">
            <a:solidFill>
              <a:srgbClr val="8F6C0E"/>
            </a:solidFill>
          </a:ln>
        </p:spPr>
        <p:txBody>
          <a:bodyPr rtlCol="0" anchor="ctr"/>
          <a:lstStyle/>
          <a:p/>
        </p:txBody>
      </p:sp>
      <p:sp>
        <p:nvSpPr>
          <p:cNvPr id="7" name="TextBox 6"/>
          <p:cNvSpPr txBox="1"/>
          <p:nvPr/>
        </p:nvSpPr>
        <p:spPr>
          <a:xfrm>
            <a:off x="8366760" y="1746504"/>
            <a:ext cx="3017520" cy="411480"/>
          </a:xfrm>
          <a:prstGeom prst="rect">
            <a:avLst/>
          </a:prstGeom>
          <a:noFill/>
        </p:spPr>
        <p:txBody>
          <a:bodyPr wrap="square" anchor="t" lIns="18288" rIns="18288" tIns="18288" bIns="18288">
            <a:spAutoFit/>
          </a:bodyPr>
          <a:lstStyle/>
          <a:p>
            <a:pPr algn="l">
              <a:spcAft>
                <a:spcPts val="400"/>
              </a:spcAft>
            </a:pPr>
            <a:r>
              <a:rPr sz="2200" b="0">
                <a:solidFill>
                  <a:srgbClr val="8F6C0E"/>
                </a:solidFill>
                <a:latin typeface="Segoe UI Semibold"/>
              </a:rPr>
              <a:t>Gold</a:t>
            </a:r>
          </a:p>
        </p:txBody>
      </p:sp>
      <p:sp>
        <p:nvSpPr>
          <p:cNvPr id="8" name="TextBox 7"/>
          <p:cNvSpPr txBox="1"/>
          <p:nvPr/>
        </p:nvSpPr>
        <p:spPr>
          <a:xfrm>
            <a:off x="8366760" y="2167128"/>
            <a:ext cx="3108960" cy="365760"/>
          </a:xfrm>
          <a:prstGeom prst="rect">
            <a:avLst/>
          </a:prstGeom>
          <a:noFill/>
        </p:spPr>
        <p:txBody>
          <a:bodyPr wrap="square" anchor="t" lIns="18288" rIns="18288" tIns="18288" bIns="18288">
            <a:spAutoFit/>
          </a:bodyPr>
          <a:lstStyle/>
          <a:p>
            <a:pPr algn="l">
              <a:spcAft>
                <a:spcPts val="400"/>
              </a:spcAft>
            </a:pPr>
            <a:r>
              <a:rPr sz="1200" b="0">
                <a:solidFill>
                  <a:srgbClr val="4B5765"/>
                </a:solidFill>
                <a:latin typeface="Segoe UI"/>
              </a:rPr>
              <a:t>8 business tables · 7 answers</a:t>
            </a:r>
          </a:p>
        </p:txBody>
      </p:sp>
      <p:sp>
        <p:nvSpPr>
          <p:cNvPr id="9" name="Rounded Rectangle 8"/>
          <p:cNvSpPr/>
          <p:nvPr/>
        </p:nvSpPr>
        <p:spPr>
          <a:xfrm>
            <a:off x="8138160" y="2807208"/>
            <a:ext cx="3429000" cy="1024128"/>
          </a:xfrm>
          <a:prstGeom prst="roundRect">
            <a:avLst>
              <a:gd name="adj" fmla="val 6000"/>
            </a:avLst>
          </a:prstGeom>
          <a:solidFill>
            <a:srgbClr val="E8ECF0"/>
          </a:solidFill>
          <a:ln w="15875">
            <a:solidFill>
              <a:srgbClr val="5F6B77"/>
            </a:solidFill>
          </a:ln>
        </p:spPr>
        <p:txBody>
          <a:bodyPr rtlCol="0" anchor="ctr"/>
          <a:lstStyle/>
          <a:p/>
        </p:txBody>
      </p:sp>
      <p:sp>
        <p:nvSpPr>
          <p:cNvPr id="10" name="TextBox 9"/>
          <p:cNvSpPr txBox="1"/>
          <p:nvPr/>
        </p:nvSpPr>
        <p:spPr>
          <a:xfrm>
            <a:off x="8366760" y="2953512"/>
            <a:ext cx="3017520" cy="411480"/>
          </a:xfrm>
          <a:prstGeom prst="rect">
            <a:avLst/>
          </a:prstGeom>
          <a:noFill/>
        </p:spPr>
        <p:txBody>
          <a:bodyPr wrap="square" anchor="t" lIns="18288" rIns="18288" tIns="18288" bIns="18288">
            <a:spAutoFit/>
          </a:bodyPr>
          <a:lstStyle/>
          <a:p>
            <a:pPr algn="l">
              <a:spcAft>
                <a:spcPts val="400"/>
              </a:spcAft>
            </a:pPr>
            <a:r>
              <a:rPr sz="2200" b="0">
                <a:solidFill>
                  <a:srgbClr val="5F6B77"/>
                </a:solidFill>
                <a:latin typeface="Segoe UI Semibold"/>
              </a:rPr>
              <a:t>Silver</a:t>
            </a:r>
          </a:p>
        </p:txBody>
      </p:sp>
      <p:sp>
        <p:nvSpPr>
          <p:cNvPr id="11" name="TextBox 10"/>
          <p:cNvSpPr txBox="1"/>
          <p:nvPr/>
        </p:nvSpPr>
        <p:spPr>
          <a:xfrm>
            <a:off x="8366760" y="3374136"/>
            <a:ext cx="3108960" cy="365760"/>
          </a:xfrm>
          <a:prstGeom prst="rect">
            <a:avLst/>
          </a:prstGeom>
          <a:noFill/>
        </p:spPr>
        <p:txBody>
          <a:bodyPr wrap="square" anchor="t" lIns="18288" rIns="18288" tIns="18288" bIns="18288">
            <a:spAutoFit/>
          </a:bodyPr>
          <a:lstStyle/>
          <a:p>
            <a:pPr algn="l">
              <a:spcAft>
                <a:spcPts val="400"/>
              </a:spcAft>
            </a:pPr>
            <a:r>
              <a:rPr sz="1200" b="0">
                <a:solidFill>
                  <a:srgbClr val="4B5765"/>
                </a:solidFill>
                <a:latin typeface="Segoe UI"/>
              </a:rPr>
              <a:t>29,574 valid events · 294 quarantined</a:t>
            </a:r>
          </a:p>
        </p:txBody>
      </p:sp>
      <p:sp>
        <p:nvSpPr>
          <p:cNvPr id="12" name="Rounded Rectangle 11"/>
          <p:cNvSpPr/>
          <p:nvPr/>
        </p:nvSpPr>
        <p:spPr>
          <a:xfrm>
            <a:off x="8138160" y="4014216"/>
            <a:ext cx="3429000" cy="1024128"/>
          </a:xfrm>
          <a:prstGeom prst="roundRect">
            <a:avLst>
              <a:gd name="adj" fmla="val 6000"/>
            </a:avLst>
          </a:prstGeom>
          <a:solidFill>
            <a:srgbClr val="F6E9DE"/>
          </a:solidFill>
          <a:ln w="15875">
            <a:solidFill>
              <a:srgbClr val="9B5A2A"/>
            </a:solidFill>
          </a:ln>
        </p:spPr>
        <p:txBody>
          <a:bodyPr rtlCol="0" anchor="ctr"/>
          <a:lstStyle/>
          <a:p/>
        </p:txBody>
      </p:sp>
      <p:sp>
        <p:nvSpPr>
          <p:cNvPr id="13" name="TextBox 12"/>
          <p:cNvSpPr txBox="1"/>
          <p:nvPr/>
        </p:nvSpPr>
        <p:spPr>
          <a:xfrm>
            <a:off x="8366760" y="4160520"/>
            <a:ext cx="3017520" cy="411480"/>
          </a:xfrm>
          <a:prstGeom prst="rect">
            <a:avLst/>
          </a:prstGeom>
          <a:noFill/>
        </p:spPr>
        <p:txBody>
          <a:bodyPr wrap="square" anchor="t" lIns="18288" rIns="18288" tIns="18288" bIns="18288">
            <a:spAutoFit/>
          </a:bodyPr>
          <a:lstStyle/>
          <a:p>
            <a:pPr algn="l">
              <a:spcAft>
                <a:spcPts val="400"/>
              </a:spcAft>
            </a:pPr>
            <a:r>
              <a:rPr sz="2200" b="0">
                <a:solidFill>
                  <a:srgbClr val="9B5A2A"/>
                </a:solidFill>
                <a:latin typeface="Segoe UI Semibold"/>
              </a:rPr>
              <a:t>Bronze</a:t>
            </a:r>
          </a:p>
        </p:txBody>
      </p:sp>
      <p:sp>
        <p:nvSpPr>
          <p:cNvPr id="14" name="TextBox 13"/>
          <p:cNvSpPr txBox="1"/>
          <p:nvPr/>
        </p:nvSpPr>
        <p:spPr>
          <a:xfrm>
            <a:off x="8366760" y="4581144"/>
            <a:ext cx="3108960" cy="365760"/>
          </a:xfrm>
          <a:prstGeom prst="rect">
            <a:avLst/>
          </a:prstGeom>
          <a:noFill/>
        </p:spPr>
        <p:txBody>
          <a:bodyPr wrap="square" anchor="t" lIns="18288" rIns="18288" tIns="18288" bIns="18288">
            <a:spAutoFit/>
          </a:bodyPr>
          <a:lstStyle/>
          <a:p>
            <a:pPr algn="l">
              <a:spcAft>
                <a:spcPts val="400"/>
              </a:spcAft>
            </a:pPr>
            <a:r>
              <a:rPr sz="1200" b="0">
                <a:solidFill>
                  <a:srgbClr val="4B5765"/>
                </a:solidFill>
                <a:latin typeface="Segoe UI"/>
              </a:rPr>
              <a:t>29,868 raw lines · 7 HR tables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8229600" cy="274320"/>
          </a:xfrm>
          <a:prstGeom prst="rect">
            <a:avLst/>
          </a:prstGeom>
          <a:noFill/>
        </p:spPr>
        <p:txBody>
          <a:bodyPr wrap="square" anchor="t" lIns="18288" rIns="18288" tIns="18288" bIns="18288">
            <a:spAutoFit/>
          </a:bodyPr>
          <a:lstStyle/>
          <a:p>
            <a:pPr algn="l">
              <a:spcAft>
                <a:spcPts val="400"/>
              </a:spcAft>
            </a:pPr>
            <a:r>
              <a:rPr sz="1100" b="0">
                <a:solidFill>
                  <a:srgbClr val="1D4E89"/>
                </a:solidFill>
                <a:latin typeface="Segoe UI Semibold"/>
              </a:rPr>
              <a:t>BUSINESS PROBLEM</a:t>
            </a:r>
          </a:p>
        </p:txBody>
      </p:sp>
      <p:sp>
        <p:nvSpPr>
          <p:cNvPr id="3" name="TextBox 2"/>
          <p:cNvSpPr txBox="1"/>
          <p:nvPr/>
        </p:nvSpPr>
        <p:spPr>
          <a:xfrm>
            <a:off x="548640" y="566928"/>
            <a:ext cx="11064240" cy="731520"/>
          </a:xfrm>
          <a:prstGeom prst="rect">
            <a:avLst/>
          </a:prstGeom>
          <a:noFill/>
        </p:spPr>
        <p:txBody>
          <a:bodyPr wrap="square" anchor="t" lIns="18288" rIns="18288" tIns="18288" bIns="18288">
            <a:spAutoFit/>
          </a:bodyPr>
          <a:lstStyle/>
          <a:p>
            <a:pPr algn="l">
              <a:spcAft>
                <a:spcPts val="400"/>
              </a:spcAft>
            </a:pPr>
            <a:r>
              <a:rPr sz="2600" b="0">
                <a:solidFill>
                  <a:srgbClr val="17202A"/>
                </a:solidFill>
                <a:latin typeface="Segoe UI Semibold"/>
              </a:rPr>
              <a:t>HR can't answer seven basic workforce questions</a:t>
            </a:r>
          </a:p>
        </p:txBody>
      </p:sp>
      <p:sp>
        <p:nvSpPr>
          <p:cNvPr id="4" name="TextBox 3"/>
          <p:cNvSpPr txBox="1"/>
          <p:nvPr/>
        </p:nvSpPr>
        <p:spPr>
          <a:xfrm>
            <a:off x="548640" y="1508760"/>
            <a:ext cx="3931920" cy="4206240"/>
          </a:xfrm>
          <a:prstGeom prst="rect">
            <a:avLst/>
          </a:prstGeom>
          <a:noFill/>
        </p:spPr>
        <p:txBody>
          <a:bodyPr wrap="square" anchor="t" lIns="18288" rIns="18288" tIns="18288" bIns="18288">
            <a:spAutoFit/>
          </a:bodyPr>
          <a:lstStyle/>
          <a:p>
            <a:pPr algn="l">
              <a:spcAft>
                <a:spcPts val="1400"/>
              </a:spcAft>
            </a:pPr>
            <a:r>
              <a:rPr sz="1500" b="0">
                <a:solidFill>
                  <a:srgbClr val="4B5765"/>
                </a:solidFill>
                <a:latin typeface="Segoe UI"/>
              </a:rPr>
              <a:t>Performance reviews, development plans, competencies and training records are scattered across spreadsheets, email and a separate learning system.</a:t>
            </a:r>
          </a:p>
          <a:p>
            <a:pPr algn="l">
              <a:spcAft>
                <a:spcPts val="1400"/>
              </a:spcAft>
            </a:pPr>
            <a:r>
              <a:rPr sz="1500" b="0">
                <a:solidFill>
                  <a:srgbClr val="4B5765"/>
                </a:solidFill>
                <a:latin typeface="Segoe UI"/>
              </a:rPr>
              <a:t>Managers can't see who is ready for promotion, who is drifting, or where the skill gaps are.</a:t>
            </a:r>
          </a:p>
          <a:p>
            <a:pPr algn="l">
              <a:spcAft>
                <a:spcPts val="1400"/>
              </a:spcAft>
            </a:pPr>
            <a:r>
              <a:rPr sz="1500" b="0">
                <a:solidFill>
                  <a:srgbClr val="17202A"/>
                </a:solidFill>
                <a:latin typeface="Segoe UI Semibold"/>
              </a:rPr>
              <a:t>Goal: one trusted, curated table per question, refreshed by a repeatable batch pipeline.</a:t>
            </a:r>
          </a:p>
          <a:p>
            <a:pPr algn="l">
              <a:spcAft>
                <a:spcPts val="1400"/>
              </a:spcAft>
            </a:pPr>
            <a:r>
              <a:rPr sz="1300" b="0">
                <a:solidFill>
                  <a:srgbClr val="4B5765"/>
                </a:solidFill>
                <a:latin typeface="Segoe UI"/>
              </a:rPr>
              <a:t>Sample data: 2,000 employees, 100 teams, 7 HR tables and 29,868 learning events.</a:t>
            </a:r>
          </a:p>
        </p:txBody>
      </p:sp>
      <p:sp>
        <p:nvSpPr>
          <p:cNvPr id="5" name="Rounded Rectangle 4"/>
          <p:cNvSpPr/>
          <p:nvPr/>
        </p:nvSpPr>
        <p:spPr>
          <a:xfrm>
            <a:off x="4983480" y="1481328"/>
            <a:ext cx="6656832" cy="548640"/>
          </a:xfrm>
          <a:prstGeom prst="roundRect">
            <a:avLst>
              <a:gd name="adj" fmla="val 6000"/>
            </a:avLst>
          </a:prstGeom>
          <a:solidFill>
            <a:srgbClr val="F4F6F8"/>
          </a:solidFill>
          <a:ln>
            <a:noFill/>
          </a:ln>
        </p:spPr>
        <p:txBody>
          <a:bodyPr rtlCol="0" anchor="ctr"/>
          <a:lstStyle/>
          <a:p/>
        </p:txBody>
      </p:sp>
      <p:sp>
        <p:nvSpPr>
          <p:cNvPr id="6" name="TextBox 5"/>
          <p:cNvSpPr txBox="1"/>
          <p:nvPr/>
        </p:nvSpPr>
        <p:spPr>
          <a:xfrm>
            <a:off x="5166360" y="1600200"/>
            <a:ext cx="548640" cy="329184"/>
          </a:xfrm>
          <a:prstGeom prst="rect">
            <a:avLst/>
          </a:prstGeom>
          <a:noFill/>
        </p:spPr>
        <p:txBody>
          <a:bodyPr wrap="square" anchor="t" lIns="18288" rIns="18288" tIns="18288" bIns="18288">
            <a:spAutoFit/>
          </a:bodyPr>
          <a:lstStyle/>
          <a:p>
            <a:pPr algn="l">
              <a:spcAft>
                <a:spcPts val="400"/>
              </a:spcAft>
            </a:pPr>
            <a:r>
              <a:rPr sz="1400" b="0">
                <a:solidFill>
                  <a:srgbClr val="8F6C0E"/>
                </a:solidFill>
                <a:latin typeface="Segoe UI Semibold"/>
              </a:rPr>
              <a:t>Q1</a:t>
            </a:r>
          </a:p>
        </p:txBody>
      </p:sp>
      <p:sp>
        <p:nvSpPr>
          <p:cNvPr id="7" name="TextBox 6"/>
          <p:cNvSpPr txBox="1"/>
          <p:nvPr/>
        </p:nvSpPr>
        <p:spPr>
          <a:xfrm>
            <a:off x="5760720" y="1600200"/>
            <a:ext cx="5760720" cy="329184"/>
          </a:xfrm>
          <a:prstGeom prst="rect">
            <a:avLst/>
          </a:prstGeom>
          <a:noFill/>
        </p:spPr>
        <p:txBody>
          <a:bodyPr wrap="square" anchor="t" lIns="18288" rIns="18288" tIns="18288" bIns="18288">
            <a:spAutoFit/>
          </a:bodyPr>
          <a:lstStyle/>
          <a:p>
            <a:pPr algn="l">
              <a:spcAft>
                <a:spcPts val="400"/>
              </a:spcAft>
            </a:pPr>
            <a:r>
              <a:rPr sz="1400" b="0">
                <a:solidFill>
                  <a:srgbClr val="17202A"/>
                </a:solidFill>
                <a:latin typeface="Segoe UI"/>
              </a:rPr>
              <a:t>Performance ratings and review history for each employee</a:t>
            </a:r>
          </a:p>
        </p:txBody>
      </p:sp>
      <p:sp>
        <p:nvSpPr>
          <p:cNvPr id="8" name="Rounded Rectangle 7"/>
          <p:cNvSpPr/>
          <p:nvPr/>
        </p:nvSpPr>
        <p:spPr>
          <a:xfrm>
            <a:off x="4983480" y="2148840"/>
            <a:ext cx="6656832" cy="548640"/>
          </a:xfrm>
          <a:prstGeom prst="roundRect">
            <a:avLst>
              <a:gd name="adj" fmla="val 6000"/>
            </a:avLst>
          </a:prstGeom>
          <a:solidFill>
            <a:srgbClr val="FFFFFF"/>
          </a:solidFill>
          <a:ln>
            <a:noFill/>
          </a:ln>
        </p:spPr>
        <p:txBody>
          <a:bodyPr rtlCol="0" anchor="ctr"/>
          <a:lstStyle/>
          <a:p/>
        </p:txBody>
      </p:sp>
      <p:sp>
        <p:nvSpPr>
          <p:cNvPr id="9" name="TextBox 8"/>
          <p:cNvSpPr txBox="1"/>
          <p:nvPr/>
        </p:nvSpPr>
        <p:spPr>
          <a:xfrm>
            <a:off x="5166360" y="2267712"/>
            <a:ext cx="548640" cy="329184"/>
          </a:xfrm>
          <a:prstGeom prst="rect">
            <a:avLst/>
          </a:prstGeom>
          <a:noFill/>
        </p:spPr>
        <p:txBody>
          <a:bodyPr wrap="square" anchor="t" lIns="18288" rIns="18288" tIns="18288" bIns="18288">
            <a:spAutoFit/>
          </a:bodyPr>
          <a:lstStyle/>
          <a:p>
            <a:pPr algn="l">
              <a:spcAft>
                <a:spcPts val="400"/>
              </a:spcAft>
            </a:pPr>
            <a:r>
              <a:rPr sz="1400" b="0">
                <a:solidFill>
                  <a:srgbClr val="8F6C0E"/>
                </a:solidFill>
                <a:latin typeface="Segoe UI Semibold"/>
              </a:rPr>
              <a:t>Q2</a:t>
            </a:r>
          </a:p>
        </p:txBody>
      </p:sp>
      <p:sp>
        <p:nvSpPr>
          <p:cNvPr id="10" name="TextBox 9"/>
          <p:cNvSpPr txBox="1"/>
          <p:nvPr/>
        </p:nvSpPr>
        <p:spPr>
          <a:xfrm>
            <a:off x="5760720" y="2267712"/>
            <a:ext cx="5760720" cy="329184"/>
          </a:xfrm>
          <a:prstGeom prst="rect">
            <a:avLst/>
          </a:prstGeom>
          <a:noFill/>
        </p:spPr>
        <p:txBody>
          <a:bodyPr wrap="square" anchor="t" lIns="18288" rIns="18288" tIns="18288" bIns="18288">
            <a:spAutoFit/>
          </a:bodyPr>
          <a:lstStyle/>
          <a:p>
            <a:pPr algn="l">
              <a:spcAft>
                <a:spcPts val="400"/>
              </a:spcAft>
            </a:pPr>
            <a:r>
              <a:rPr sz="1400" b="0">
                <a:solidFill>
                  <a:srgbClr val="17202A"/>
                </a:solidFill>
                <a:latin typeface="Segoe UI"/>
              </a:rPr>
              <a:t>Employees with critical gaps in key competencies</a:t>
            </a:r>
          </a:p>
        </p:txBody>
      </p:sp>
      <p:sp>
        <p:nvSpPr>
          <p:cNvPr id="11" name="Rounded Rectangle 10"/>
          <p:cNvSpPr/>
          <p:nvPr/>
        </p:nvSpPr>
        <p:spPr>
          <a:xfrm>
            <a:off x="4983480" y="2816352"/>
            <a:ext cx="6656832" cy="548640"/>
          </a:xfrm>
          <a:prstGeom prst="roundRect">
            <a:avLst>
              <a:gd name="adj" fmla="val 6000"/>
            </a:avLst>
          </a:prstGeom>
          <a:solidFill>
            <a:srgbClr val="F4F6F8"/>
          </a:solidFill>
          <a:ln>
            <a:noFill/>
          </a:ln>
        </p:spPr>
        <p:txBody>
          <a:bodyPr rtlCol="0" anchor="ctr"/>
          <a:lstStyle/>
          <a:p/>
        </p:txBody>
      </p:sp>
      <p:sp>
        <p:nvSpPr>
          <p:cNvPr id="12" name="TextBox 11"/>
          <p:cNvSpPr txBox="1"/>
          <p:nvPr/>
        </p:nvSpPr>
        <p:spPr>
          <a:xfrm>
            <a:off x="5166360" y="2935224"/>
            <a:ext cx="548640" cy="329184"/>
          </a:xfrm>
          <a:prstGeom prst="rect">
            <a:avLst/>
          </a:prstGeom>
          <a:noFill/>
        </p:spPr>
        <p:txBody>
          <a:bodyPr wrap="square" anchor="t" lIns="18288" rIns="18288" tIns="18288" bIns="18288">
            <a:spAutoFit/>
          </a:bodyPr>
          <a:lstStyle/>
          <a:p>
            <a:pPr algn="l">
              <a:spcAft>
                <a:spcPts val="400"/>
              </a:spcAft>
            </a:pPr>
            <a:r>
              <a:rPr sz="1400" b="0">
                <a:solidFill>
                  <a:srgbClr val="8F6C0E"/>
                </a:solidFill>
                <a:latin typeface="Segoe UI Semibold"/>
              </a:rPr>
              <a:t>Q3</a:t>
            </a:r>
          </a:p>
        </p:txBody>
      </p:sp>
      <p:sp>
        <p:nvSpPr>
          <p:cNvPr id="13" name="TextBox 12"/>
          <p:cNvSpPr txBox="1"/>
          <p:nvPr/>
        </p:nvSpPr>
        <p:spPr>
          <a:xfrm>
            <a:off x="5760720" y="2935224"/>
            <a:ext cx="5760720" cy="329184"/>
          </a:xfrm>
          <a:prstGeom prst="rect">
            <a:avLst/>
          </a:prstGeom>
          <a:noFill/>
        </p:spPr>
        <p:txBody>
          <a:bodyPr wrap="square" anchor="t" lIns="18288" rIns="18288" tIns="18288" bIns="18288">
            <a:spAutoFit/>
          </a:bodyPr>
          <a:lstStyle/>
          <a:p>
            <a:pPr algn="l">
              <a:spcAft>
                <a:spcPts val="400"/>
              </a:spcAft>
            </a:pPr>
            <a:r>
              <a:rPr sz="1400" b="0">
                <a:solidFill>
                  <a:srgbClr val="17202A"/>
                </a:solidFill>
                <a:latin typeface="Segoe UI"/>
              </a:rPr>
              <a:t>High-potential employees ready for promotion</a:t>
            </a:r>
          </a:p>
        </p:txBody>
      </p:sp>
      <p:sp>
        <p:nvSpPr>
          <p:cNvPr id="14" name="Rounded Rectangle 13"/>
          <p:cNvSpPr/>
          <p:nvPr/>
        </p:nvSpPr>
        <p:spPr>
          <a:xfrm>
            <a:off x="4983480" y="3483864"/>
            <a:ext cx="6656832" cy="548640"/>
          </a:xfrm>
          <a:prstGeom prst="roundRect">
            <a:avLst>
              <a:gd name="adj" fmla="val 6000"/>
            </a:avLst>
          </a:prstGeom>
          <a:solidFill>
            <a:srgbClr val="FFFFFF"/>
          </a:solidFill>
          <a:ln>
            <a:noFill/>
          </a:ln>
        </p:spPr>
        <p:txBody>
          <a:bodyPr rtlCol="0" anchor="ctr"/>
          <a:lstStyle/>
          <a:p/>
        </p:txBody>
      </p:sp>
      <p:sp>
        <p:nvSpPr>
          <p:cNvPr id="15" name="TextBox 14"/>
          <p:cNvSpPr txBox="1"/>
          <p:nvPr/>
        </p:nvSpPr>
        <p:spPr>
          <a:xfrm>
            <a:off x="5166360" y="3602736"/>
            <a:ext cx="548640" cy="329184"/>
          </a:xfrm>
          <a:prstGeom prst="rect">
            <a:avLst/>
          </a:prstGeom>
          <a:noFill/>
        </p:spPr>
        <p:txBody>
          <a:bodyPr wrap="square" anchor="t" lIns="18288" rIns="18288" tIns="18288" bIns="18288">
            <a:spAutoFit/>
          </a:bodyPr>
          <a:lstStyle/>
          <a:p>
            <a:pPr algn="l">
              <a:spcAft>
                <a:spcPts val="400"/>
              </a:spcAft>
            </a:pPr>
            <a:r>
              <a:rPr sz="1400" b="0">
                <a:solidFill>
                  <a:srgbClr val="8F6C0E"/>
                </a:solidFill>
                <a:latin typeface="Segoe UI Semibold"/>
              </a:rPr>
              <a:t>Q4</a:t>
            </a:r>
          </a:p>
        </p:txBody>
      </p:sp>
      <p:sp>
        <p:nvSpPr>
          <p:cNvPr id="16" name="TextBox 15"/>
          <p:cNvSpPr txBox="1"/>
          <p:nvPr/>
        </p:nvSpPr>
        <p:spPr>
          <a:xfrm>
            <a:off x="5760720" y="3602736"/>
            <a:ext cx="5760720" cy="329184"/>
          </a:xfrm>
          <a:prstGeom prst="rect">
            <a:avLst/>
          </a:prstGeom>
          <a:noFill/>
        </p:spPr>
        <p:txBody>
          <a:bodyPr wrap="square" anchor="t" lIns="18288" rIns="18288" tIns="18288" bIns="18288">
            <a:spAutoFit/>
          </a:bodyPr>
          <a:lstStyle/>
          <a:p>
            <a:pPr algn="l">
              <a:spcAft>
                <a:spcPts val="400"/>
              </a:spcAft>
            </a:pPr>
            <a:r>
              <a:rPr sz="1400" b="0">
                <a:solidFill>
                  <a:srgbClr val="17202A"/>
                </a:solidFill>
                <a:latin typeface="Segoe UI"/>
              </a:rPr>
              <a:t>Training and development completed by each employee</a:t>
            </a:r>
          </a:p>
        </p:txBody>
      </p:sp>
      <p:sp>
        <p:nvSpPr>
          <p:cNvPr id="17" name="Rounded Rectangle 16"/>
          <p:cNvSpPr/>
          <p:nvPr/>
        </p:nvSpPr>
        <p:spPr>
          <a:xfrm>
            <a:off x="4983480" y="4151376"/>
            <a:ext cx="6656832" cy="548640"/>
          </a:xfrm>
          <a:prstGeom prst="roundRect">
            <a:avLst>
              <a:gd name="adj" fmla="val 6000"/>
            </a:avLst>
          </a:prstGeom>
          <a:solidFill>
            <a:srgbClr val="F4F6F8"/>
          </a:solidFill>
          <a:ln>
            <a:noFill/>
          </a:ln>
        </p:spPr>
        <p:txBody>
          <a:bodyPr rtlCol="0" anchor="ctr"/>
          <a:lstStyle/>
          <a:p/>
        </p:txBody>
      </p:sp>
      <p:sp>
        <p:nvSpPr>
          <p:cNvPr id="18" name="TextBox 17"/>
          <p:cNvSpPr txBox="1"/>
          <p:nvPr/>
        </p:nvSpPr>
        <p:spPr>
          <a:xfrm>
            <a:off x="5166360" y="4270248"/>
            <a:ext cx="548640" cy="329184"/>
          </a:xfrm>
          <a:prstGeom prst="rect">
            <a:avLst/>
          </a:prstGeom>
          <a:noFill/>
        </p:spPr>
        <p:txBody>
          <a:bodyPr wrap="square" anchor="t" lIns="18288" rIns="18288" tIns="18288" bIns="18288">
            <a:spAutoFit/>
          </a:bodyPr>
          <a:lstStyle/>
          <a:p>
            <a:pPr algn="l">
              <a:spcAft>
                <a:spcPts val="400"/>
              </a:spcAft>
            </a:pPr>
            <a:r>
              <a:rPr sz="1400" b="0">
                <a:solidFill>
                  <a:srgbClr val="8F6C0E"/>
                </a:solidFill>
                <a:latin typeface="Segoe UI Semibold"/>
              </a:rPr>
              <a:t>Q5</a:t>
            </a:r>
          </a:p>
        </p:txBody>
      </p:sp>
      <p:sp>
        <p:nvSpPr>
          <p:cNvPr id="19" name="TextBox 18"/>
          <p:cNvSpPr txBox="1"/>
          <p:nvPr/>
        </p:nvSpPr>
        <p:spPr>
          <a:xfrm>
            <a:off x="5760720" y="4270248"/>
            <a:ext cx="5760720" cy="329184"/>
          </a:xfrm>
          <a:prstGeom prst="rect">
            <a:avLst/>
          </a:prstGeom>
          <a:noFill/>
        </p:spPr>
        <p:txBody>
          <a:bodyPr wrap="square" anchor="t" lIns="18288" rIns="18288" tIns="18288" bIns="18288">
            <a:spAutoFit/>
          </a:bodyPr>
          <a:lstStyle/>
          <a:p>
            <a:pPr algn="l">
              <a:spcAft>
                <a:spcPts val="400"/>
              </a:spcAft>
            </a:pPr>
            <a:r>
              <a:rPr sz="1400" b="0">
                <a:solidFill>
                  <a:srgbClr val="17202A"/>
                </a:solidFill>
                <a:latin typeface="Segoe UI"/>
              </a:rPr>
              <a:t>Employees at risk of attrition from performance trends</a:t>
            </a:r>
          </a:p>
        </p:txBody>
      </p:sp>
      <p:sp>
        <p:nvSpPr>
          <p:cNvPr id="20" name="Rounded Rectangle 19"/>
          <p:cNvSpPr/>
          <p:nvPr/>
        </p:nvSpPr>
        <p:spPr>
          <a:xfrm>
            <a:off x="4983480" y="4818888"/>
            <a:ext cx="6656832" cy="548640"/>
          </a:xfrm>
          <a:prstGeom prst="roundRect">
            <a:avLst>
              <a:gd name="adj" fmla="val 6000"/>
            </a:avLst>
          </a:prstGeom>
          <a:solidFill>
            <a:srgbClr val="FFFFFF"/>
          </a:solidFill>
          <a:ln>
            <a:noFill/>
          </a:ln>
        </p:spPr>
        <p:txBody>
          <a:bodyPr rtlCol="0" anchor="ctr"/>
          <a:lstStyle/>
          <a:p/>
        </p:txBody>
      </p:sp>
      <p:sp>
        <p:nvSpPr>
          <p:cNvPr id="21" name="TextBox 20"/>
          <p:cNvSpPr txBox="1"/>
          <p:nvPr/>
        </p:nvSpPr>
        <p:spPr>
          <a:xfrm>
            <a:off x="5166360" y="4937759"/>
            <a:ext cx="548640" cy="329184"/>
          </a:xfrm>
          <a:prstGeom prst="rect">
            <a:avLst/>
          </a:prstGeom>
          <a:noFill/>
        </p:spPr>
        <p:txBody>
          <a:bodyPr wrap="square" anchor="t" lIns="18288" rIns="18288" tIns="18288" bIns="18288">
            <a:spAutoFit/>
          </a:bodyPr>
          <a:lstStyle/>
          <a:p>
            <a:pPr algn="l">
              <a:spcAft>
                <a:spcPts val="400"/>
              </a:spcAft>
            </a:pPr>
            <a:r>
              <a:rPr sz="1400" b="0">
                <a:solidFill>
                  <a:srgbClr val="8F6C0E"/>
                </a:solidFill>
                <a:latin typeface="Segoe UI Semibold"/>
              </a:rPr>
              <a:t>Q6</a:t>
            </a:r>
          </a:p>
        </p:txBody>
      </p:sp>
      <p:sp>
        <p:nvSpPr>
          <p:cNvPr id="22" name="TextBox 21"/>
          <p:cNvSpPr txBox="1"/>
          <p:nvPr/>
        </p:nvSpPr>
        <p:spPr>
          <a:xfrm>
            <a:off x="5760720" y="4937759"/>
            <a:ext cx="5760720" cy="329184"/>
          </a:xfrm>
          <a:prstGeom prst="rect">
            <a:avLst/>
          </a:prstGeom>
          <a:noFill/>
        </p:spPr>
        <p:txBody>
          <a:bodyPr wrap="square" anchor="t" lIns="18288" rIns="18288" tIns="18288" bIns="18288">
            <a:spAutoFit/>
          </a:bodyPr>
          <a:lstStyle/>
          <a:p>
            <a:pPr algn="l">
              <a:spcAft>
                <a:spcPts val="400"/>
              </a:spcAft>
            </a:pPr>
            <a:r>
              <a:rPr sz="1400" b="0">
                <a:solidFill>
                  <a:srgbClr val="17202A"/>
                </a:solidFill>
                <a:latin typeface="Segoe UI"/>
              </a:rPr>
              <a:t>How performance correlates with team and project outcomes</a:t>
            </a:r>
          </a:p>
        </p:txBody>
      </p:sp>
      <p:sp>
        <p:nvSpPr>
          <p:cNvPr id="23" name="Rounded Rectangle 22"/>
          <p:cNvSpPr/>
          <p:nvPr/>
        </p:nvSpPr>
        <p:spPr>
          <a:xfrm>
            <a:off x="4983480" y="5486400"/>
            <a:ext cx="6656832" cy="548640"/>
          </a:xfrm>
          <a:prstGeom prst="roundRect">
            <a:avLst>
              <a:gd name="adj" fmla="val 6000"/>
            </a:avLst>
          </a:prstGeom>
          <a:solidFill>
            <a:srgbClr val="F4F6F8"/>
          </a:solidFill>
          <a:ln>
            <a:noFill/>
          </a:ln>
        </p:spPr>
        <p:txBody>
          <a:bodyPr rtlCol="0" anchor="ctr"/>
          <a:lstStyle/>
          <a:p/>
        </p:txBody>
      </p:sp>
      <p:sp>
        <p:nvSpPr>
          <p:cNvPr id="24" name="TextBox 23"/>
          <p:cNvSpPr txBox="1"/>
          <p:nvPr/>
        </p:nvSpPr>
        <p:spPr>
          <a:xfrm>
            <a:off x="5166360" y="5605272"/>
            <a:ext cx="548640" cy="329184"/>
          </a:xfrm>
          <a:prstGeom prst="rect">
            <a:avLst/>
          </a:prstGeom>
          <a:noFill/>
        </p:spPr>
        <p:txBody>
          <a:bodyPr wrap="square" anchor="t" lIns="18288" rIns="18288" tIns="18288" bIns="18288">
            <a:spAutoFit/>
          </a:bodyPr>
          <a:lstStyle/>
          <a:p>
            <a:pPr algn="l">
              <a:spcAft>
                <a:spcPts val="400"/>
              </a:spcAft>
            </a:pPr>
            <a:r>
              <a:rPr sz="1400" b="0">
                <a:solidFill>
                  <a:srgbClr val="8F6C0E"/>
                </a:solidFill>
                <a:latin typeface="Segoe UI Semibold"/>
              </a:rPr>
              <a:t>Q7</a:t>
            </a:r>
          </a:p>
        </p:txBody>
      </p:sp>
      <p:sp>
        <p:nvSpPr>
          <p:cNvPr id="25" name="TextBox 24"/>
          <p:cNvSpPr txBox="1"/>
          <p:nvPr/>
        </p:nvSpPr>
        <p:spPr>
          <a:xfrm>
            <a:off x="5760720" y="5605272"/>
            <a:ext cx="5760720" cy="329184"/>
          </a:xfrm>
          <a:prstGeom prst="rect">
            <a:avLst/>
          </a:prstGeom>
          <a:noFill/>
        </p:spPr>
        <p:txBody>
          <a:bodyPr wrap="square" anchor="t" lIns="18288" rIns="18288" tIns="18288" bIns="18288">
            <a:spAutoFit/>
          </a:bodyPr>
          <a:lstStyle/>
          <a:p>
            <a:pPr algn="l">
              <a:spcAft>
                <a:spcPts val="400"/>
              </a:spcAft>
            </a:pPr>
            <a:r>
              <a:rPr sz="1400" b="0">
                <a:solidFill>
                  <a:srgbClr val="17202A"/>
                </a:solidFill>
                <a:latin typeface="Segoe UI"/>
              </a:rPr>
              <a:t>Distribution of skills across the organization</a:t>
            </a:r>
          </a:p>
        </p:txBody>
      </p:sp>
      <p:cxnSp>
        <p:nvCxnSpPr>
          <p:cNvPr id="26" name="Connector 25"/>
          <p:cNvCxnSpPr/>
          <p:nvPr/>
        </p:nvCxnSpPr>
        <p:spPr>
          <a:xfrm>
            <a:off x="548640" y="6400800"/>
            <a:ext cx="11094415" cy="0"/>
          </a:xfrm>
          <a:prstGeom prst="line">
            <a:avLst/>
          </a:prstGeom>
          <a:ln w="9525">
            <a:solidFill>
              <a:srgbClr val="D4DAE1"/>
            </a:solidFill>
          </a:ln>
        </p:spPr>
      </p:cxnSp>
      <p:sp>
        <p:nvSpPr>
          <p:cNvPr id="27" name="TextBox 26"/>
          <p:cNvSpPr txBox="1"/>
          <p:nvPr/>
        </p:nvSpPr>
        <p:spPr>
          <a:xfrm>
            <a:off x="548640" y="6455664"/>
            <a:ext cx="7315200" cy="274320"/>
          </a:xfrm>
          <a:prstGeom prst="rect">
            <a:avLst/>
          </a:prstGeom>
          <a:noFill/>
        </p:spPr>
        <p:txBody>
          <a:bodyPr wrap="square" anchor="t" lIns="18288" rIns="18288" tIns="18288" bIns="18288">
            <a:spAutoFit/>
          </a:bodyPr>
          <a:lstStyle/>
          <a:p>
            <a:pPr algn="l">
              <a:spcAft>
                <a:spcPts val="400"/>
              </a:spcAft>
            </a:pPr>
            <a:r>
              <a:rPr sz="900" b="0">
                <a:solidFill>
                  <a:srgbClr val="8A94A0"/>
                </a:solidFill>
                <a:latin typeface="Segoe UI"/>
              </a:rPr>
              <a:t>ACME Talent Lake  ·  Data Engineer track  ·  Coding Workshop 2026</a:t>
            </a:r>
          </a:p>
        </p:txBody>
      </p:sp>
      <p:sp>
        <p:nvSpPr>
          <p:cNvPr id="28" name="TextBox 27"/>
          <p:cNvSpPr txBox="1"/>
          <p:nvPr/>
        </p:nvSpPr>
        <p:spPr>
          <a:xfrm>
            <a:off x="10698480" y="6455664"/>
            <a:ext cx="941832" cy="274320"/>
          </a:xfrm>
          <a:prstGeom prst="rect">
            <a:avLst/>
          </a:prstGeom>
          <a:noFill/>
        </p:spPr>
        <p:txBody>
          <a:bodyPr wrap="square" anchor="t" lIns="18288" rIns="18288" tIns="18288" bIns="18288">
            <a:spAutoFit/>
          </a:bodyPr>
          <a:lstStyle/>
          <a:p>
            <a:pPr algn="r">
              <a:spcAft>
                <a:spcPts val="400"/>
              </a:spcAft>
            </a:pPr>
            <a:r>
              <a:rPr sz="900" b="0">
                <a:solidFill>
                  <a:srgbClr val="8A94A0"/>
                </a:solidFill>
                <a:latin typeface="Segoe UI"/>
              </a:rPr>
              <a:t>2 / 11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8229600" cy="274320"/>
          </a:xfrm>
          <a:prstGeom prst="rect">
            <a:avLst/>
          </a:prstGeom>
          <a:noFill/>
        </p:spPr>
        <p:txBody>
          <a:bodyPr wrap="square" anchor="t" lIns="18288" rIns="18288" tIns="18288" bIns="18288">
            <a:spAutoFit/>
          </a:bodyPr>
          <a:lstStyle/>
          <a:p>
            <a:pPr algn="l">
              <a:spcAft>
                <a:spcPts val="400"/>
              </a:spcAft>
            </a:pPr>
            <a:r>
              <a:rPr sz="1100" b="0">
                <a:solidFill>
                  <a:srgbClr val="1D4E89"/>
                </a:solidFill>
                <a:latin typeface="Segoe UI Semibold"/>
              </a:rPr>
              <a:t>ARCHITECTURE</a:t>
            </a:r>
          </a:p>
        </p:txBody>
      </p:sp>
      <p:sp>
        <p:nvSpPr>
          <p:cNvPr id="3" name="TextBox 2"/>
          <p:cNvSpPr txBox="1"/>
          <p:nvPr/>
        </p:nvSpPr>
        <p:spPr>
          <a:xfrm>
            <a:off x="548640" y="566928"/>
            <a:ext cx="11064240" cy="731520"/>
          </a:xfrm>
          <a:prstGeom prst="rect">
            <a:avLst/>
          </a:prstGeom>
          <a:noFill/>
        </p:spPr>
        <p:txBody>
          <a:bodyPr wrap="square" anchor="t" lIns="18288" rIns="18288" tIns="18288" bIns="18288">
            <a:spAutoFit/>
          </a:bodyPr>
          <a:lstStyle/>
          <a:p>
            <a:pPr algn="l">
              <a:spcAft>
                <a:spcPts val="400"/>
              </a:spcAft>
            </a:pPr>
            <a:r>
              <a:rPr sz="2600" b="0">
                <a:solidFill>
                  <a:srgbClr val="17202A"/>
                </a:solidFill>
                <a:latin typeface="Segoe UI Semibold"/>
              </a:rPr>
              <a:t>One batch pipeline, three layers, one table per question</a:t>
            </a:r>
          </a:p>
        </p:txBody>
      </p:sp>
      <p:sp>
        <p:nvSpPr>
          <p:cNvPr id="4" name="TextBox 3"/>
          <p:cNvSpPr txBox="1"/>
          <p:nvPr/>
        </p:nvSpPr>
        <p:spPr>
          <a:xfrm>
            <a:off x="548640" y="1298448"/>
            <a:ext cx="1737360" cy="228600"/>
          </a:xfrm>
          <a:prstGeom prst="rect">
            <a:avLst/>
          </a:prstGeom>
          <a:noFill/>
        </p:spPr>
        <p:txBody>
          <a:bodyPr wrap="square" anchor="t" lIns="18288" rIns="18288" tIns="18288" bIns="18288">
            <a:spAutoFit/>
          </a:bodyPr>
          <a:lstStyle/>
          <a:p>
            <a:pPr algn="l">
              <a:spcAft>
                <a:spcPts val="400"/>
              </a:spcAft>
            </a:pPr>
            <a:r>
              <a:rPr sz="1000" b="0">
                <a:solidFill>
                  <a:srgbClr val="8A94A0"/>
                </a:solidFill>
                <a:latin typeface="Segoe UI Semibold"/>
              </a:rPr>
              <a:t>SOURCES</a:t>
            </a:r>
          </a:p>
        </p:txBody>
      </p:sp>
      <p:sp>
        <p:nvSpPr>
          <p:cNvPr id="5" name="TextBox 4"/>
          <p:cNvSpPr txBox="1"/>
          <p:nvPr/>
        </p:nvSpPr>
        <p:spPr>
          <a:xfrm>
            <a:off x="2670048" y="1298448"/>
            <a:ext cx="6400800" cy="228600"/>
          </a:xfrm>
          <a:prstGeom prst="rect">
            <a:avLst/>
          </a:prstGeom>
          <a:noFill/>
        </p:spPr>
        <p:txBody>
          <a:bodyPr wrap="square" anchor="t" lIns="18288" rIns="18288" tIns="18288" bIns="18288">
            <a:spAutoFit/>
          </a:bodyPr>
          <a:lstStyle/>
          <a:p>
            <a:pPr algn="l">
              <a:spcAft>
                <a:spcPts val="400"/>
              </a:spcAft>
            </a:pPr>
            <a:r>
              <a:rPr sz="1000" b="0">
                <a:solidFill>
                  <a:srgbClr val="8A94A0"/>
                </a:solidFill>
                <a:latin typeface="Segoe UI Semibold"/>
              </a:rPr>
              <a:t>DATA LAKE · S3 (LocalStack locally, Amazon S3 in AWS)</a:t>
            </a:r>
          </a:p>
        </p:txBody>
      </p:sp>
      <p:sp>
        <p:nvSpPr>
          <p:cNvPr id="6" name="TextBox 5"/>
          <p:cNvSpPr txBox="1"/>
          <p:nvPr/>
        </p:nvSpPr>
        <p:spPr>
          <a:xfrm>
            <a:off x="9418320" y="1298448"/>
            <a:ext cx="2194560" cy="228600"/>
          </a:xfrm>
          <a:prstGeom prst="rect">
            <a:avLst/>
          </a:prstGeom>
          <a:noFill/>
        </p:spPr>
        <p:txBody>
          <a:bodyPr wrap="square" anchor="t" lIns="18288" rIns="18288" tIns="18288" bIns="18288">
            <a:spAutoFit/>
          </a:bodyPr>
          <a:lstStyle/>
          <a:p>
            <a:pPr algn="l">
              <a:spcAft>
                <a:spcPts val="400"/>
              </a:spcAft>
            </a:pPr>
            <a:r>
              <a:rPr sz="1000" b="0">
                <a:solidFill>
                  <a:srgbClr val="8A94A0"/>
                </a:solidFill>
                <a:latin typeface="Segoe UI Semibold"/>
              </a:rPr>
              <a:t>CONSUME</a:t>
            </a:r>
          </a:p>
        </p:txBody>
      </p:sp>
      <p:sp>
        <p:nvSpPr>
          <p:cNvPr id="7" name="Rounded Rectangle 6"/>
          <p:cNvSpPr/>
          <p:nvPr/>
        </p:nvSpPr>
        <p:spPr>
          <a:xfrm>
            <a:off x="548640" y="1554480"/>
            <a:ext cx="1783080" cy="1463040"/>
          </a:xfrm>
          <a:prstGeom prst="roundRect">
            <a:avLst>
              <a:gd name="adj" fmla="val 6000"/>
            </a:avLst>
          </a:prstGeom>
          <a:solidFill>
            <a:srgbClr val="FFFFFF"/>
          </a:solidFill>
          <a:ln w="12700">
            <a:solidFill>
              <a:srgbClr val="D4DAE1"/>
            </a:solidFill>
          </a:ln>
        </p:spPr>
        <p:txBody>
          <a:bodyPr rtlCol="0" anchor="ctr"/>
          <a:lstStyle/>
          <a:p/>
        </p:txBody>
      </p:sp>
      <p:sp>
        <p:nvSpPr>
          <p:cNvPr id="8" name="TextBox 7"/>
          <p:cNvSpPr txBox="1"/>
          <p:nvPr/>
        </p:nvSpPr>
        <p:spPr>
          <a:xfrm>
            <a:off x="713232" y="1682495"/>
            <a:ext cx="1453895" cy="365760"/>
          </a:xfrm>
          <a:prstGeom prst="rect">
            <a:avLst/>
          </a:prstGeom>
          <a:noFill/>
        </p:spPr>
        <p:txBody>
          <a:bodyPr wrap="square" anchor="t" lIns="18288" rIns="18288" tIns="18288" bIns="18288">
            <a:spAutoFit/>
          </a:bodyPr>
          <a:lstStyle/>
          <a:p>
            <a:pPr algn="l">
              <a:spcAft>
                <a:spcPts val="400"/>
              </a:spcAft>
            </a:pPr>
            <a:r>
              <a:rPr sz="1300" b="0">
                <a:solidFill>
                  <a:srgbClr val="17202A"/>
                </a:solidFill>
                <a:latin typeface="Segoe UI Semibold"/>
              </a:rPr>
              <a:t>PostgreSQL</a:t>
            </a:r>
          </a:p>
        </p:txBody>
      </p:sp>
      <p:sp>
        <p:nvSpPr>
          <p:cNvPr id="9" name="TextBox 8"/>
          <p:cNvSpPr txBox="1"/>
          <p:nvPr/>
        </p:nvSpPr>
        <p:spPr>
          <a:xfrm>
            <a:off x="713232" y="2057400"/>
            <a:ext cx="1453895" cy="868680"/>
          </a:xfrm>
          <a:prstGeom prst="rect">
            <a:avLst/>
          </a:prstGeom>
          <a:noFill/>
        </p:spPr>
        <p:txBody>
          <a:bodyPr wrap="square" anchor="t" lIns="18288" rIns="18288" tIns="18288" bIns="18288">
            <a:spAutoFit/>
          </a:bodyPr>
          <a:lstStyle/>
          <a:p>
            <a:pPr algn="l">
              <a:spcAft>
                <a:spcPts val="500"/>
              </a:spcAft>
            </a:pPr>
            <a:r>
              <a:rPr sz="1100" b="0">
                <a:solidFill>
                  <a:srgbClr val="4B5765"/>
                </a:solidFill>
                <a:latin typeface="Segoe UI"/>
              </a:rPr>
              <a:t>HR system</a:t>
            </a:r>
          </a:p>
          <a:p>
            <a:pPr algn="l">
              <a:spcAft>
                <a:spcPts val="500"/>
              </a:spcAft>
            </a:pPr>
            <a:r>
              <a:rPr sz="1100" b="0">
                <a:solidFill>
                  <a:srgbClr val="4B5765"/>
                </a:solidFill>
                <a:latin typeface="Segoe UI"/>
              </a:rPr>
              <a:t>7 tables</a:t>
            </a:r>
          </a:p>
          <a:p>
            <a:pPr algn="l">
              <a:spcAft>
                <a:spcPts val="500"/>
              </a:spcAft>
            </a:pPr>
            <a:r>
              <a:rPr sz="1100" b="0">
                <a:solidFill>
                  <a:srgbClr val="4B5765"/>
                </a:solidFill>
                <a:latin typeface="Segoe UI"/>
              </a:rPr>
              <a:t>Aurora in AWS</a:t>
            </a:r>
          </a:p>
        </p:txBody>
      </p:sp>
      <p:sp>
        <p:nvSpPr>
          <p:cNvPr id="10" name="Rounded Rectangle 9"/>
          <p:cNvSpPr/>
          <p:nvPr/>
        </p:nvSpPr>
        <p:spPr>
          <a:xfrm>
            <a:off x="548640" y="3246120"/>
            <a:ext cx="1783080" cy="1463040"/>
          </a:xfrm>
          <a:prstGeom prst="roundRect">
            <a:avLst>
              <a:gd name="adj" fmla="val 6000"/>
            </a:avLst>
          </a:prstGeom>
          <a:solidFill>
            <a:srgbClr val="FFFFFF"/>
          </a:solidFill>
          <a:ln w="12700">
            <a:solidFill>
              <a:srgbClr val="D4DAE1"/>
            </a:solidFill>
          </a:ln>
        </p:spPr>
        <p:txBody>
          <a:bodyPr rtlCol="0" anchor="ctr"/>
          <a:lstStyle/>
          <a:p/>
        </p:txBody>
      </p:sp>
      <p:sp>
        <p:nvSpPr>
          <p:cNvPr id="11" name="TextBox 10"/>
          <p:cNvSpPr txBox="1"/>
          <p:nvPr/>
        </p:nvSpPr>
        <p:spPr>
          <a:xfrm>
            <a:off x="713232" y="3374136"/>
            <a:ext cx="1453895" cy="365760"/>
          </a:xfrm>
          <a:prstGeom prst="rect">
            <a:avLst/>
          </a:prstGeom>
          <a:noFill/>
        </p:spPr>
        <p:txBody>
          <a:bodyPr wrap="square" anchor="t" lIns="18288" rIns="18288" tIns="18288" bIns="18288">
            <a:spAutoFit/>
          </a:bodyPr>
          <a:lstStyle/>
          <a:p>
            <a:pPr algn="l">
              <a:spcAft>
                <a:spcPts val="400"/>
              </a:spcAft>
            </a:pPr>
            <a:r>
              <a:rPr sz="1300" b="0">
                <a:solidFill>
                  <a:srgbClr val="17202A"/>
                </a:solidFill>
                <a:latin typeface="Segoe UI Semibold"/>
              </a:rPr>
              <a:t>S3 landing</a:t>
            </a:r>
          </a:p>
        </p:txBody>
      </p:sp>
      <p:sp>
        <p:nvSpPr>
          <p:cNvPr id="12" name="TextBox 11"/>
          <p:cNvSpPr txBox="1"/>
          <p:nvPr/>
        </p:nvSpPr>
        <p:spPr>
          <a:xfrm>
            <a:off x="713232" y="3749039"/>
            <a:ext cx="1453895" cy="868680"/>
          </a:xfrm>
          <a:prstGeom prst="rect">
            <a:avLst/>
          </a:prstGeom>
          <a:noFill/>
        </p:spPr>
        <p:txBody>
          <a:bodyPr wrap="square" anchor="t" lIns="18288" rIns="18288" tIns="18288" bIns="18288">
            <a:spAutoFit/>
          </a:bodyPr>
          <a:lstStyle/>
          <a:p>
            <a:pPr algn="l">
              <a:spcAft>
                <a:spcPts val="500"/>
              </a:spcAft>
            </a:pPr>
            <a:r>
              <a:rPr sz="1100" b="0">
                <a:solidFill>
                  <a:srgbClr val="4B5765"/>
                </a:solidFill>
                <a:latin typeface="Segoe UI"/>
              </a:rPr>
              <a:t>LMS export</a:t>
            </a:r>
          </a:p>
          <a:p>
            <a:pPr algn="l">
              <a:spcAft>
                <a:spcPts val="500"/>
              </a:spcAft>
            </a:pPr>
            <a:r>
              <a:rPr sz="1100" b="0">
                <a:solidFill>
                  <a:srgbClr val="4B5765"/>
                </a:solidFill>
                <a:latin typeface="Segoe UI"/>
              </a:rPr>
              <a:t>783 JSONL files</a:t>
            </a:r>
          </a:p>
        </p:txBody>
      </p:sp>
      <p:sp>
        <p:nvSpPr>
          <p:cNvPr id="13" name="Rounded Rectangle 12"/>
          <p:cNvSpPr/>
          <p:nvPr/>
        </p:nvSpPr>
        <p:spPr>
          <a:xfrm>
            <a:off x="2606040" y="1508760"/>
            <a:ext cx="6537960" cy="3246120"/>
          </a:xfrm>
          <a:prstGeom prst="roundRect">
            <a:avLst>
              <a:gd name="adj" fmla="val 3000"/>
            </a:avLst>
          </a:prstGeom>
          <a:noFill/>
          <a:ln w="9525">
            <a:solidFill>
              <a:srgbClr val="8A94A0"/>
            </a:solidFill>
            <a:prstDash val="dash"/>
          </a:ln>
        </p:spPr>
        <p:txBody>
          <a:bodyPr rtlCol="0" anchor="ctr"/>
          <a:lstStyle/>
          <a:p/>
        </p:txBody>
      </p:sp>
      <p:sp>
        <p:nvSpPr>
          <p:cNvPr id="14" name="Rounded Rectangle 13"/>
          <p:cNvSpPr/>
          <p:nvPr/>
        </p:nvSpPr>
        <p:spPr>
          <a:xfrm>
            <a:off x="2788920" y="1645920"/>
            <a:ext cx="1828800" cy="2971800"/>
          </a:xfrm>
          <a:prstGeom prst="roundRect">
            <a:avLst>
              <a:gd name="adj" fmla="val 6000"/>
            </a:avLst>
          </a:prstGeom>
          <a:solidFill>
            <a:srgbClr val="F6E9DE"/>
          </a:solidFill>
          <a:ln w="12700">
            <a:solidFill>
              <a:srgbClr val="9B5A2A"/>
            </a:solidFill>
          </a:ln>
        </p:spPr>
        <p:txBody>
          <a:bodyPr rtlCol="0" anchor="ctr"/>
          <a:lstStyle/>
          <a:p/>
        </p:txBody>
      </p:sp>
      <p:sp>
        <p:nvSpPr>
          <p:cNvPr id="15" name="TextBox 14"/>
          <p:cNvSpPr txBox="1"/>
          <p:nvPr/>
        </p:nvSpPr>
        <p:spPr>
          <a:xfrm>
            <a:off x="2953512" y="1773936"/>
            <a:ext cx="1499616" cy="365760"/>
          </a:xfrm>
          <a:prstGeom prst="rect">
            <a:avLst/>
          </a:prstGeom>
          <a:noFill/>
        </p:spPr>
        <p:txBody>
          <a:bodyPr wrap="square" anchor="t" lIns="18288" rIns="18288" tIns="18288" bIns="18288">
            <a:spAutoFit/>
          </a:bodyPr>
          <a:lstStyle/>
          <a:p>
            <a:pPr algn="l">
              <a:spcAft>
                <a:spcPts val="400"/>
              </a:spcAft>
            </a:pPr>
            <a:r>
              <a:rPr sz="1400" b="0">
                <a:solidFill>
                  <a:srgbClr val="9B5A2A"/>
                </a:solidFill>
                <a:latin typeface="Segoe UI Semibold"/>
              </a:rPr>
              <a:t>Bronze</a:t>
            </a:r>
          </a:p>
        </p:txBody>
      </p:sp>
      <p:sp>
        <p:nvSpPr>
          <p:cNvPr id="16" name="TextBox 15"/>
          <p:cNvSpPr txBox="1"/>
          <p:nvPr/>
        </p:nvSpPr>
        <p:spPr>
          <a:xfrm>
            <a:off x="2953512" y="2148840"/>
            <a:ext cx="1499616" cy="2377440"/>
          </a:xfrm>
          <a:prstGeom prst="rect">
            <a:avLst/>
          </a:prstGeom>
          <a:noFill/>
        </p:spPr>
        <p:txBody>
          <a:bodyPr wrap="square" anchor="t" lIns="18288" rIns="18288" tIns="18288" bIns="18288">
            <a:spAutoFit/>
          </a:bodyPr>
          <a:lstStyle/>
          <a:p>
            <a:pPr algn="l">
              <a:spcAft>
                <a:spcPts val="500"/>
              </a:spcAft>
            </a:pPr>
            <a:r>
              <a:rPr sz="1100" b="0">
                <a:solidFill>
                  <a:srgbClr val="4B5765"/>
                </a:solidFill>
                <a:latin typeface="Segoe UI"/>
              </a:rPr>
              <a:t>Raw, as received</a:t>
            </a:r>
          </a:p>
          <a:p>
            <a:pPr algn="l">
              <a:spcAft>
                <a:spcPts val="500"/>
              </a:spcAft>
            </a:pPr>
            <a:r>
              <a:rPr sz="1100" b="0">
                <a:solidFill>
                  <a:srgbClr val="4B5765"/>
                </a:solidFill>
                <a:latin typeface="Segoe UI"/>
              </a:rPr>
              <a:t>Write-once</a:t>
            </a:r>
          </a:p>
          <a:p>
            <a:pPr algn="l">
              <a:spcAft>
                <a:spcPts val="500"/>
              </a:spcAft>
            </a:pPr>
            <a:r>
              <a:rPr sz="1100" b="0">
                <a:solidFill>
                  <a:srgbClr val="4B5765"/>
                </a:solidFill>
                <a:latin typeface="Segoe UI"/>
              </a:rPr>
              <a:t>Byte-identical copies</a:t>
            </a:r>
          </a:p>
          <a:p>
            <a:pPr algn="l">
              <a:spcAft>
                <a:spcPts val="500"/>
              </a:spcAft>
            </a:pPr>
            <a:r>
              <a:rPr sz="1100" b="0">
                <a:solidFill>
                  <a:srgbClr val="4B5765"/>
                </a:solidFill>
                <a:latin typeface="Segoe UI"/>
              </a:rPr>
              <a:t>Reconciled to source</a:t>
            </a:r>
          </a:p>
        </p:txBody>
      </p:sp>
      <p:sp>
        <p:nvSpPr>
          <p:cNvPr id="17" name="Rounded Rectangle 16"/>
          <p:cNvSpPr/>
          <p:nvPr/>
        </p:nvSpPr>
        <p:spPr>
          <a:xfrm>
            <a:off x="4892040" y="1645920"/>
            <a:ext cx="1828800" cy="1874519"/>
          </a:xfrm>
          <a:prstGeom prst="roundRect">
            <a:avLst>
              <a:gd name="adj" fmla="val 6000"/>
            </a:avLst>
          </a:prstGeom>
          <a:solidFill>
            <a:srgbClr val="E8ECF0"/>
          </a:solidFill>
          <a:ln w="12700">
            <a:solidFill>
              <a:srgbClr val="5F6B77"/>
            </a:solidFill>
          </a:ln>
        </p:spPr>
        <p:txBody>
          <a:bodyPr rtlCol="0" anchor="ctr"/>
          <a:lstStyle/>
          <a:p/>
        </p:txBody>
      </p:sp>
      <p:sp>
        <p:nvSpPr>
          <p:cNvPr id="18" name="TextBox 17"/>
          <p:cNvSpPr txBox="1"/>
          <p:nvPr/>
        </p:nvSpPr>
        <p:spPr>
          <a:xfrm>
            <a:off x="5056631" y="1773936"/>
            <a:ext cx="1499616" cy="365760"/>
          </a:xfrm>
          <a:prstGeom prst="rect">
            <a:avLst/>
          </a:prstGeom>
          <a:noFill/>
        </p:spPr>
        <p:txBody>
          <a:bodyPr wrap="square" anchor="t" lIns="18288" rIns="18288" tIns="18288" bIns="18288">
            <a:spAutoFit/>
          </a:bodyPr>
          <a:lstStyle/>
          <a:p>
            <a:pPr algn="l">
              <a:spcAft>
                <a:spcPts val="400"/>
              </a:spcAft>
            </a:pPr>
            <a:r>
              <a:rPr sz="1400" b="0">
                <a:solidFill>
                  <a:srgbClr val="5F6B77"/>
                </a:solidFill>
                <a:latin typeface="Segoe UI Semibold"/>
              </a:rPr>
              <a:t>Silver</a:t>
            </a:r>
          </a:p>
        </p:txBody>
      </p:sp>
      <p:sp>
        <p:nvSpPr>
          <p:cNvPr id="19" name="TextBox 18"/>
          <p:cNvSpPr txBox="1"/>
          <p:nvPr/>
        </p:nvSpPr>
        <p:spPr>
          <a:xfrm>
            <a:off x="5056631" y="2148840"/>
            <a:ext cx="1499616" cy="1280160"/>
          </a:xfrm>
          <a:prstGeom prst="rect">
            <a:avLst/>
          </a:prstGeom>
          <a:noFill/>
        </p:spPr>
        <p:txBody>
          <a:bodyPr wrap="square" anchor="t" lIns="18288" rIns="18288" tIns="18288" bIns="18288">
            <a:spAutoFit/>
          </a:bodyPr>
          <a:lstStyle/>
          <a:p>
            <a:pPr algn="l">
              <a:spcAft>
                <a:spcPts val="500"/>
              </a:spcAft>
            </a:pPr>
            <a:r>
              <a:rPr sz="1100" b="0">
                <a:solidFill>
                  <a:srgbClr val="4B5765"/>
                </a:solidFill>
                <a:latin typeface="Segoe UI"/>
              </a:rPr>
              <a:t>Typed, validated</a:t>
            </a:r>
          </a:p>
          <a:p>
            <a:pPr algn="l">
              <a:spcAft>
                <a:spcPts val="500"/>
              </a:spcAft>
            </a:pPr>
            <a:r>
              <a:rPr sz="1100" b="0">
                <a:solidFill>
                  <a:srgbClr val="4B5765"/>
                </a:solidFill>
                <a:latin typeface="Segoe UI"/>
              </a:rPr>
              <a:t>Contract per dataset</a:t>
            </a:r>
          </a:p>
          <a:p>
            <a:pPr algn="l">
              <a:spcAft>
                <a:spcPts val="500"/>
              </a:spcAft>
            </a:pPr>
            <a:r>
              <a:rPr sz="1100" b="0">
                <a:solidFill>
                  <a:srgbClr val="4B5765"/>
                </a:solidFill>
                <a:latin typeface="Segoe UI"/>
              </a:rPr>
              <a:t>Deduplicated</a:t>
            </a:r>
          </a:p>
        </p:txBody>
      </p:sp>
      <p:sp>
        <p:nvSpPr>
          <p:cNvPr id="20" name="Rounded Rectangle 19"/>
          <p:cNvSpPr/>
          <p:nvPr/>
        </p:nvSpPr>
        <p:spPr>
          <a:xfrm>
            <a:off x="4892040" y="3703320"/>
            <a:ext cx="1828800" cy="914400"/>
          </a:xfrm>
          <a:prstGeom prst="roundRect">
            <a:avLst>
              <a:gd name="adj" fmla="val 6000"/>
            </a:avLst>
          </a:prstGeom>
          <a:solidFill>
            <a:srgbClr val="F8E2DC"/>
          </a:solidFill>
          <a:ln w="12700">
            <a:solidFill>
              <a:srgbClr val="B0412D"/>
            </a:solidFill>
          </a:ln>
        </p:spPr>
        <p:txBody>
          <a:bodyPr rtlCol="0" anchor="ctr"/>
          <a:lstStyle/>
          <a:p/>
        </p:txBody>
      </p:sp>
      <p:sp>
        <p:nvSpPr>
          <p:cNvPr id="21" name="TextBox 20"/>
          <p:cNvSpPr txBox="1"/>
          <p:nvPr/>
        </p:nvSpPr>
        <p:spPr>
          <a:xfrm>
            <a:off x="5056631" y="3831335"/>
            <a:ext cx="1499616" cy="365760"/>
          </a:xfrm>
          <a:prstGeom prst="rect">
            <a:avLst/>
          </a:prstGeom>
          <a:noFill/>
        </p:spPr>
        <p:txBody>
          <a:bodyPr wrap="square" anchor="t" lIns="18288" rIns="18288" tIns="18288" bIns="18288">
            <a:spAutoFit/>
          </a:bodyPr>
          <a:lstStyle/>
          <a:p>
            <a:pPr algn="l">
              <a:spcAft>
                <a:spcPts val="400"/>
              </a:spcAft>
            </a:pPr>
            <a:r>
              <a:rPr sz="1400" b="0">
                <a:solidFill>
                  <a:srgbClr val="B0412D"/>
                </a:solidFill>
                <a:latin typeface="Segoe UI Semibold"/>
              </a:rPr>
              <a:t>Quarantine</a:t>
            </a:r>
          </a:p>
        </p:txBody>
      </p:sp>
      <p:sp>
        <p:nvSpPr>
          <p:cNvPr id="22" name="TextBox 21"/>
          <p:cNvSpPr txBox="1"/>
          <p:nvPr/>
        </p:nvSpPr>
        <p:spPr>
          <a:xfrm>
            <a:off x="5056631" y="4206240"/>
            <a:ext cx="1499616" cy="320040"/>
          </a:xfrm>
          <a:prstGeom prst="rect">
            <a:avLst/>
          </a:prstGeom>
          <a:noFill/>
        </p:spPr>
        <p:txBody>
          <a:bodyPr wrap="square" anchor="t" lIns="18288" rIns="18288" tIns="18288" bIns="18288">
            <a:spAutoFit/>
          </a:bodyPr>
          <a:lstStyle/>
          <a:p>
            <a:pPr algn="l">
              <a:spcAft>
                <a:spcPts val="500"/>
              </a:spcAft>
            </a:pPr>
            <a:r>
              <a:rPr sz="1100" b="0">
                <a:solidFill>
                  <a:srgbClr val="4B5765"/>
                </a:solidFill>
                <a:latin typeface="Segoe UI"/>
              </a:rPr>
              <a:t>row + reason</a:t>
            </a:r>
          </a:p>
        </p:txBody>
      </p:sp>
      <p:sp>
        <p:nvSpPr>
          <p:cNvPr id="23" name="Rounded Rectangle 22"/>
          <p:cNvSpPr/>
          <p:nvPr/>
        </p:nvSpPr>
        <p:spPr>
          <a:xfrm>
            <a:off x="6995160" y="1645920"/>
            <a:ext cx="1965960" cy="2971800"/>
          </a:xfrm>
          <a:prstGeom prst="roundRect">
            <a:avLst>
              <a:gd name="adj" fmla="val 6000"/>
            </a:avLst>
          </a:prstGeom>
          <a:solidFill>
            <a:srgbClr val="F6ECCC"/>
          </a:solidFill>
          <a:ln w="12700">
            <a:solidFill>
              <a:srgbClr val="8F6C0E"/>
            </a:solidFill>
          </a:ln>
        </p:spPr>
        <p:txBody>
          <a:bodyPr rtlCol="0" anchor="ctr"/>
          <a:lstStyle/>
          <a:p/>
        </p:txBody>
      </p:sp>
      <p:sp>
        <p:nvSpPr>
          <p:cNvPr id="24" name="TextBox 23"/>
          <p:cNvSpPr txBox="1"/>
          <p:nvPr/>
        </p:nvSpPr>
        <p:spPr>
          <a:xfrm>
            <a:off x="7159752" y="1773936"/>
            <a:ext cx="1636776" cy="365760"/>
          </a:xfrm>
          <a:prstGeom prst="rect">
            <a:avLst/>
          </a:prstGeom>
          <a:noFill/>
        </p:spPr>
        <p:txBody>
          <a:bodyPr wrap="square" anchor="t" lIns="18288" rIns="18288" tIns="18288" bIns="18288">
            <a:spAutoFit/>
          </a:bodyPr>
          <a:lstStyle/>
          <a:p>
            <a:pPr algn="l">
              <a:spcAft>
                <a:spcPts val="400"/>
              </a:spcAft>
            </a:pPr>
            <a:r>
              <a:rPr sz="1400" b="0">
                <a:solidFill>
                  <a:srgbClr val="8F6C0E"/>
                </a:solidFill>
                <a:latin typeface="Segoe UI Semibold"/>
              </a:rPr>
              <a:t>Gold</a:t>
            </a:r>
          </a:p>
        </p:txBody>
      </p:sp>
      <p:sp>
        <p:nvSpPr>
          <p:cNvPr id="25" name="TextBox 24"/>
          <p:cNvSpPr txBox="1"/>
          <p:nvPr/>
        </p:nvSpPr>
        <p:spPr>
          <a:xfrm>
            <a:off x="7159752" y="2148840"/>
            <a:ext cx="1636776" cy="2377440"/>
          </a:xfrm>
          <a:prstGeom prst="rect">
            <a:avLst/>
          </a:prstGeom>
          <a:noFill/>
        </p:spPr>
        <p:txBody>
          <a:bodyPr wrap="square" anchor="t" lIns="18288" rIns="18288" tIns="18288" bIns="18288">
            <a:spAutoFit/>
          </a:bodyPr>
          <a:lstStyle/>
          <a:p>
            <a:pPr algn="l">
              <a:spcAft>
                <a:spcPts val="500"/>
              </a:spcAft>
            </a:pPr>
            <a:r>
              <a:rPr sz="1100" b="0">
                <a:solidFill>
                  <a:srgbClr val="4B5765"/>
                </a:solidFill>
                <a:latin typeface="Segoe UI"/>
              </a:rPr>
              <a:t>8 tables, Q1–Q7</a:t>
            </a:r>
          </a:p>
          <a:p>
            <a:pPr algn="l">
              <a:spcAft>
                <a:spcPts val="500"/>
              </a:spcAft>
            </a:pPr>
            <a:r>
              <a:rPr sz="1100" b="0">
                <a:solidFill>
                  <a:srgbClr val="4B5765"/>
                </a:solidFill>
                <a:latin typeface="Segoe UI"/>
              </a:rPr>
              <a:t>Grain enforced</a:t>
            </a:r>
          </a:p>
          <a:p>
            <a:pPr algn="l">
              <a:spcAft>
                <a:spcPts val="500"/>
              </a:spcAft>
            </a:pPr>
            <a:r>
              <a:rPr sz="1100" b="0">
                <a:solidFill>
                  <a:srgbClr val="4B5765"/>
                </a:solidFill>
                <a:latin typeface="Segoe UI"/>
              </a:rPr>
              <a:t>Reconciled with Silver</a:t>
            </a:r>
          </a:p>
          <a:p>
            <a:pPr algn="l">
              <a:spcAft>
                <a:spcPts val="500"/>
              </a:spcAft>
            </a:pPr>
            <a:r>
              <a:rPr sz="1100" b="0">
                <a:solidFill>
                  <a:srgbClr val="4B5765"/>
                </a:solidFill>
                <a:latin typeface="Segoe UI"/>
              </a:rPr>
              <a:t>Rules in _catalog.json</a:t>
            </a:r>
          </a:p>
        </p:txBody>
      </p:sp>
      <p:sp>
        <p:nvSpPr>
          <p:cNvPr id="26" name="Rounded Rectangle 25"/>
          <p:cNvSpPr/>
          <p:nvPr/>
        </p:nvSpPr>
        <p:spPr>
          <a:xfrm>
            <a:off x="9418320" y="1554480"/>
            <a:ext cx="2221992" cy="1463040"/>
          </a:xfrm>
          <a:prstGeom prst="roundRect">
            <a:avLst>
              <a:gd name="adj" fmla="val 6000"/>
            </a:avLst>
          </a:prstGeom>
          <a:solidFill>
            <a:srgbClr val="FFFFFF"/>
          </a:solidFill>
          <a:ln w="12700">
            <a:solidFill>
              <a:srgbClr val="D4DAE1"/>
            </a:solidFill>
          </a:ln>
        </p:spPr>
        <p:txBody>
          <a:bodyPr rtlCol="0" anchor="ctr"/>
          <a:lstStyle/>
          <a:p/>
        </p:txBody>
      </p:sp>
      <p:sp>
        <p:nvSpPr>
          <p:cNvPr id="27" name="TextBox 26"/>
          <p:cNvSpPr txBox="1"/>
          <p:nvPr/>
        </p:nvSpPr>
        <p:spPr>
          <a:xfrm>
            <a:off x="9582912" y="1682495"/>
            <a:ext cx="1892808" cy="365760"/>
          </a:xfrm>
          <a:prstGeom prst="rect">
            <a:avLst/>
          </a:prstGeom>
          <a:noFill/>
        </p:spPr>
        <p:txBody>
          <a:bodyPr wrap="square" anchor="t" lIns="18288" rIns="18288" tIns="18288" bIns="18288">
            <a:spAutoFit/>
          </a:bodyPr>
          <a:lstStyle/>
          <a:p>
            <a:pPr algn="l">
              <a:spcAft>
                <a:spcPts val="400"/>
              </a:spcAft>
            </a:pPr>
            <a:r>
              <a:rPr sz="1300" b="0">
                <a:solidFill>
                  <a:srgbClr val="17202A"/>
                </a:solidFill>
                <a:latin typeface="Segoe UI Semibold"/>
              </a:rPr>
              <a:t>Jupyter notebook</a:t>
            </a:r>
          </a:p>
        </p:txBody>
      </p:sp>
      <p:sp>
        <p:nvSpPr>
          <p:cNvPr id="28" name="TextBox 27"/>
          <p:cNvSpPr txBox="1"/>
          <p:nvPr/>
        </p:nvSpPr>
        <p:spPr>
          <a:xfrm>
            <a:off x="9582912" y="2057400"/>
            <a:ext cx="1892808" cy="868680"/>
          </a:xfrm>
          <a:prstGeom prst="rect">
            <a:avLst/>
          </a:prstGeom>
          <a:noFill/>
        </p:spPr>
        <p:txBody>
          <a:bodyPr wrap="square" anchor="t" lIns="18288" rIns="18288" tIns="18288" bIns="18288">
            <a:spAutoFit/>
          </a:bodyPr>
          <a:lstStyle/>
          <a:p>
            <a:pPr algn="l">
              <a:spcAft>
                <a:spcPts val="500"/>
              </a:spcAft>
            </a:pPr>
            <a:r>
              <a:rPr sz="1100" b="0">
                <a:solidFill>
                  <a:srgbClr val="4B5765"/>
                </a:solidFill>
                <a:latin typeface="Segoe UI"/>
              </a:rPr>
              <a:t>chart + finding</a:t>
            </a:r>
          </a:p>
          <a:p>
            <a:pPr algn="l">
              <a:spcAft>
                <a:spcPts val="500"/>
              </a:spcAft>
            </a:pPr>
            <a:r>
              <a:rPr sz="1100" b="0">
                <a:solidFill>
                  <a:srgbClr val="4B5765"/>
                </a:solidFill>
                <a:latin typeface="Segoe UI"/>
              </a:rPr>
              <a:t>per question</a:t>
            </a:r>
          </a:p>
        </p:txBody>
      </p:sp>
      <p:sp>
        <p:nvSpPr>
          <p:cNvPr id="29" name="Rounded Rectangle 28"/>
          <p:cNvSpPr/>
          <p:nvPr/>
        </p:nvSpPr>
        <p:spPr>
          <a:xfrm>
            <a:off x="9418320" y="3246120"/>
            <a:ext cx="2221992" cy="1463040"/>
          </a:xfrm>
          <a:prstGeom prst="roundRect">
            <a:avLst>
              <a:gd name="adj" fmla="val 6000"/>
            </a:avLst>
          </a:prstGeom>
          <a:solidFill>
            <a:srgbClr val="FFFFFF"/>
          </a:solidFill>
          <a:ln w="12700">
            <a:solidFill>
              <a:srgbClr val="D4DAE1"/>
            </a:solidFill>
          </a:ln>
        </p:spPr>
        <p:txBody>
          <a:bodyPr rtlCol="0" anchor="ctr"/>
          <a:lstStyle/>
          <a:p/>
        </p:txBody>
      </p:sp>
      <p:sp>
        <p:nvSpPr>
          <p:cNvPr id="30" name="TextBox 29"/>
          <p:cNvSpPr txBox="1"/>
          <p:nvPr/>
        </p:nvSpPr>
        <p:spPr>
          <a:xfrm>
            <a:off x="9582912" y="3374136"/>
            <a:ext cx="1892808" cy="365760"/>
          </a:xfrm>
          <a:prstGeom prst="rect">
            <a:avLst/>
          </a:prstGeom>
          <a:noFill/>
        </p:spPr>
        <p:txBody>
          <a:bodyPr wrap="square" anchor="t" lIns="18288" rIns="18288" tIns="18288" bIns="18288">
            <a:spAutoFit/>
          </a:bodyPr>
          <a:lstStyle/>
          <a:p>
            <a:pPr algn="l">
              <a:spcAft>
                <a:spcPts val="400"/>
              </a:spcAft>
            </a:pPr>
            <a:r>
              <a:rPr sz="1300" b="0">
                <a:solidFill>
                  <a:srgbClr val="17202A"/>
                </a:solidFill>
                <a:latin typeface="Segoe UI Semibold"/>
              </a:rPr>
              <a:t>Streamlit dashboard</a:t>
            </a:r>
          </a:p>
        </p:txBody>
      </p:sp>
      <p:sp>
        <p:nvSpPr>
          <p:cNvPr id="31" name="TextBox 30"/>
          <p:cNvSpPr txBox="1"/>
          <p:nvPr/>
        </p:nvSpPr>
        <p:spPr>
          <a:xfrm>
            <a:off x="9582912" y="3749039"/>
            <a:ext cx="1892808" cy="868680"/>
          </a:xfrm>
          <a:prstGeom prst="rect">
            <a:avLst/>
          </a:prstGeom>
          <a:noFill/>
        </p:spPr>
        <p:txBody>
          <a:bodyPr wrap="square" anchor="t" lIns="18288" rIns="18288" tIns="18288" bIns="18288">
            <a:spAutoFit/>
          </a:bodyPr>
          <a:lstStyle/>
          <a:p>
            <a:pPr algn="l">
              <a:spcAft>
                <a:spcPts val="500"/>
              </a:spcAft>
            </a:pPr>
            <a:r>
              <a:rPr sz="1100" b="0">
                <a:solidFill>
                  <a:srgbClr val="4B5765"/>
                </a:solidFill>
                <a:latin typeface="Segoe UI"/>
              </a:rPr>
              <a:t>filters, Employee 360</a:t>
            </a:r>
          </a:p>
          <a:p>
            <a:pPr algn="l">
              <a:spcAft>
                <a:spcPts val="500"/>
              </a:spcAft>
            </a:pPr>
            <a:r>
              <a:rPr sz="1100" b="0">
                <a:solidFill>
                  <a:srgbClr val="4B5765"/>
                </a:solidFill>
                <a:latin typeface="Segoe UI"/>
              </a:rPr>
              <a:t>hosted on EKS</a:t>
            </a:r>
          </a:p>
        </p:txBody>
      </p:sp>
      <p:cxnSp>
        <p:nvCxnSpPr>
          <p:cNvPr id="32" name="Connector 31"/>
          <p:cNvCxnSpPr/>
          <p:nvPr/>
        </p:nvCxnSpPr>
        <p:spPr>
          <a:xfrm>
            <a:off x="2331720" y="2286000"/>
            <a:ext cx="457200" cy="0"/>
          </a:xfrm>
          <a:prstGeom prst="line">
            <a:avLst/>
          </a:prstGeom>
          <a:ln w="19050">
            <a:solidFill>
              <a:srgbClr val="4B5765"/>
            </a:solidFill>
            <a:tailEnd type="triangle" w="med" len="med"/>
          </a:ln>
        </p:spPr>
      </p:cxnSp>
      <p:sp>
        <p:nvSpPr>
          <p:cNvPr id="33" name="TextBox 32"/>
          <p:cNvSpPr txBox="1"/>
          <p:nvPr/>
        </p:nvSpPr>
        <p:spPr>
          <a:xfrm>
            <a:off x="2011679" y="2066543"/>
            <a:ext cx="1097280" cy="201168"/>
          </a:xfrm>
          <a:prstGeom prst="rect">
            <a:avLst/>
          </a:prstGeom>
          <a:noFill/>
        </p:spPr>
        <p:txBody>
          <a:bodyPr wrap="square" anchor="t" lIns="18288" rIns="18288" tIns="18288" bIns="18288">
            <a:spAutoFit/>
          </a:bodyPr>
          <a:lstStyle/>
          <a:p>
            <a:pPr algn="ctr">
              <a:spcAft>
                <a:spcPts val="400"/>
              </a:spcAft>
            </a:pPr>
            <a:r>
              <a:rPr sz="900" b="0">
                <a:solidFill>
                  <a:srgbClr val="4B5765"/>
                </a:solidFill>
                <a:latin typeface="Consolas"/>
              </a:rPr>
              <a:t>if changed</a:t>
            </a:r>
          </a:p>
        </p:txBody>
      </p:sp>
      <p:cxnSp>
        <p:nvCxnSpPr>
          <p:cNvPr id="34" name="Connector 33"/>
          <p:cNvCxnSpPr/>
          <p:nvPr/>
        </p:nvCxnSpPr>
        <p:spPr>
          <a:xfrm>
            <a:off x="2331720" y="3977639"/>
            <a:ext cx="457200" cy="0"/>
          </a:xfrm>
          <a:prstGeom prst="line">
            <a:avLst/>
          </a:prstGeom>
          <a:ln w="19050">
            <a:solidFill>
              <a:srgbClr val="4B5765"/>
            </a:solidFill>
            <a:tailEnd type="triangle" w="med" len="med"/>
          </a:ln>
        </p:spPr>
      </p:cxnSp>
      <p:sp>
        <p:nvSpPr>
          <p:cNvPr id="35" name="TextBox 34"/>
          <p:cNvSpPr txBox="1"/>
          <p:nvPr/>
        </p:nvSpPr>
        <p:spPr>
          <a:xfrm>
            <a:off x="2011679" y="3758183"/>
            <a:ext cx="1097280" cy="201168"/>
          </a:xfrm>
          <a:prstGeom prst="rect">
            <a:avLst/>
          </a:prstGeom>
          <a:noFill/>
        </p:spPr>
        <p:txBody>
          <a:bodyPr wrap="square" anchor="t" lIns="18288" rIns="18288" tIns="18288" bIns="18288">
            <a:spAutoFit/>
          </a:bodyPr>
          <a:lstStyle/>
          <a:p>
            <a:pPr algn="ctr">
              <a:spcAft>
                <a:spcPts val="400"/>
              </a:spcAft>
            </a:pPr>
            <a:r>
              <a:rPr sz="900" b="0">
                <a:solidFill>
                  <a:srgbClr val="4B5765"/>
                </a:solidFill>
                <a:latin typeface="Consolas"/>
              </a:rPr>
              <a:t>if changed</a:t>
            </a:r>
          </a:p>
        </p:txBody>
      </p:sp>
      <p:cxnSp>
        <p:nvCxnSpPr>
          <p:cNvPr id="36" name="Connector 35"/>
          <p:cNvCxnSpPr/>
          <p:nvPr/>
        </p:nvCxnSpPr>
        <p:spPr>
          <a:xfrm>
            <a:off x="4617720" y="2560320"/>
            <a:ext cx="274320" cy="0"/>
          </a:xfrm>
          <a:prstGeom prst="line">
            <a:avLst/>
          </a:prstGeom>
          <a:ln w="19050">
            <a:solidFill>
              <a:srgbClr val="4B5765"/>
            </a:solidFill>
            <a:tailEnd type="triangle" w="med" len="med"/>
          </a:ln>
        </p:spPr>
      </p:cxnSp>
      <p:cxnSp>
        <p:nvCxnSpPr>
          <p:cNvPr id="37" name="Connector 36"/>
          <p:cNvCxnSpPr/>
          <p:nvPr/>
        </p:nvCxnSpPr>
        <p:spPr>
          <a:xfrm>
            <a:off x="5806440" y="3520439"/>
            <a:ext cx="0" cy="182881"/>
          </a:xfrm>
          <a:prstGeom prst="line">
            <a:avLst/>
          </a:prstGeom>
          <a:ln w="19050">
            <a:solidFill>
              <a:srgbClr val="4B5765"/>
            </a:solidFill>
            <a:tailEnd type="triangle" w="med" len="med"/>
          </a:ln>
        </p:spPr>
      </p:cxnSp>
      <p:cxnSp>
        <p:nvCxnSpPr>
          <p:cNvPr id="38" name="Connector 37"/>
          <p:cNvCxnSpPr/>
          <p:nvPr/>
        </p:nvCxnSpPr>
        <p:spPr>
          <a:xfrm>
            <a:off x="6720840" y="2560320"/>
            <a:ext cx="274320" cy="0"/>
          </a:xfrm>
          <a:prstGeom prst="line">
            <a:avLst/>
          </a:prstGeom>
          <a:ln w="19050">
            <a:solidFill>
              <a:srgbClr val="4B5765"/>
            </a:solidFill>
            <a:tailEnd type="triangle" w="med" len="med"/>
          </a:ln>
        </p:spPr>
      </p:cxnSp>
      <p:cxnSp>
        <p:nvCxnSpPr>
          <p:cNvPr id="39" name="Connector 38"/>
          <p:cNvCxnSpPr/>
          <p:nvPr/>
        </p:nvCxnSpPr>
        <p:spPr>
          <a:xfrm>
            <a:off x="8961120" y="2286000"/>
            <a:ext cx="457200" cy="0"/>
          </a:xfrm>
          <a:prstGeom prst="line">
            <a:avLst/>
          </a:prstGeom>
          <a:ln w="19050">
            <a:solidFill>
              <a:srgbClr val="4B5765"/>
            </a:solidFill>
            <a:tailEnd type="triangle" w="med" len="med"/>
          </a:ln>
        </p:spPr>
      </p:cxnSp>
      <p:sp>
        <p:nvSpPr>
          <p:cNvPr id="40" name="TextBox 39"/>
          <p:cNvSpPr txBox="1"/>
          <p:nvPr/>
        </p:nvSpPr>
        <p:spPr>
          <a:xfrm>
            <a:off x="8641080" y="2066543"/>
            <a:ext cx="1097280" cy="201168"/>
          </a:xfrm>
          <a:prstGeom prst="rect">
            <a:avLst/>
          </a:prstGeom>
          <a:noFill/>
        </p:spPr>
        <p:txBody>
          <a:bodyPr wrap="square" anchor="t" lIns="18288" rIns="18288" tIns="18288" bIns="18288">
            <a:spAutoFit/>
          </a:bodyPr>
          <a:lstStyle/>
          <a:p>
            <a:pPr algn="ctr">
              <a:spcAft>
                <a:spcPts val="400"/>
              </a:spcAft>
            </a:pPr>
            <a:r>
              <a:rPr sz="900" b="0">
                <a:solidFill>
                  <a:srgbClr val="4B5765"/>
                </a:solidFill>
                <a:latin typeface="Consolas"/>
              </a:rPr>
              <a:t>read</a:t>
            </a:r>
          </a:p>
        </p:txBody>
      </p:sp>
      <p:cxnSp>
        <p:nvCxnSpPr>
          <p:cNvPr id="41" name="Connector 40"/>
          <p:cNvCxnSpPr/>
          <p:nvPr/>
        </p:nvCxnSpPr>
        <p:spPr>
          <a:xfrm>
            <a:off x="8961120" y="3977639"/>
            <a:ext cx="457200" cy="0"/>
          </a:xfrm>
          <a:prstGeom prst="line">
            <a:avLst/>
          </a:prstGeom>
          <a:ln w="19050">
            <a:solidFill>
              <a:srgbClr val="4B5765"/>
            </a:solidFill>
            <a:tailEnd type="triangle" w="med" len="med"/>
          </a:ln>
        </p:spPr>
      </p:cxnSp>
      <p:sp>
        <p:nvSpPr>
          <p:cNvPr id="42" name="TextBox 41"/>
          <p:cNvSpPr txBox="1"/>
          <p:nvPr/>
        </p:nvSpPr>
        <p:spPr>
          <a:xfrm>
            <a:off x="8641080" y="3758183"/>
            <a:ext cx="1097280" cy="201168"/>
          </a:xfrm>
          <a:prstGeom prst="rect">
            <a:avLst/>
          </a:prstGeom>
          <a:noFill/>
        </p:spPr>
        <p:txBody>
          <a:bodyPr wrap="square" anchor="t" lIns="18288" rIns="18288" tIns="18288" bIns="18288">
            <a:spAutoFit/>
          </a:bodyPr>
          <a:lstStyle/>
          <a:p>
            <a:pPr algn="ctr">
              <a:spcAft>
                <a:spcPts val="400"/>
              </a:spcAft>
            </a:pPr>
            <a:r>
              <a:rPr sz="900" b="0">
                <a:solidFill>
                  <a:srgbClr val="4B5765"/>
                </a:solidFill>
                <a:latin typeface="Consolas"/>
              </a:rPr>
              <a:t>read</a:t>
            </a:r>
          </a:p>
        </p:txBody>
      </p:sp>
      <p:sp>
        <p:nvSpPr>
          <p:cNvPr id="43" name="Rounded Rectangle 42"/>
          <p:cNvSpPr/>
          <p:nvPr/>
        </p:nvSpPr>
        <p:spPr>
          <a:xfrm>
            <a:off x="548640" y="4956048"/>
            <a:ext cx="11091672" cy="1234440"/>
          </a:xfrm>
          <a:prstGeom prst="roundRect">
            <a:avLst>
              <a:gd name="adj" fmla="val 6000"/>
            </a:avLst>
          </a:prstGeom>
          <a:solidFill>
            <a:srgbClr val="F4F6F8"/>
          </a:solidFill>
          <a:ln>
            <a:noFill/>
          </a:ln>
        </p:spPr>
        <p:txBody>
          <a:bodyPr rtlCol="0" anchor="ctr"/>
          <a:lstStyle/>
          <a:p/>
        </p:txBody>
      </p:sp>
      <p:sp>
        <p:nvSpPr>
          <p:cNvPr id="44" name="TextBox 43"/>
          <p:cNvSpPr txBox="1"/>
          <p:nvPr/>
        </p:nvSpPr>
        <p:spPr>
          <a:xfrm>
            <a:off x="777240" y="5074920"/>
            <a:ext cx="3291840" cy="365760"/>
          </a:xfrm>
          <a:prstGeom prst="rect">
            <a:avLst/>
          </a:prstGeom>
          <a:noFill/>
        </p:spPr>
        <p:txBody>
          <a:bodyPr wrap="square" anchor="t" lIns="18288" rIns="18288" tIns="18288" bIns="18288">
            <a:spAutoFit/>
          </a:bodyPr>
          <a:lstStyle/>
          <a:p>
            <a:pPr algn="l">
              <a:spcAft>
                <a:spcPts val="400"/>
              </a:spcAft>
            </a:pPr>
            <a:r>
              <a:rPr sz="1400" b="0">
                <a:solidFill>
                  <a:srgbClr val="17202A"/>
                </a:solidFill>
                <a:latin typeface="Segoe UI Semibold"/>
              </a:rPr>
              <a:t>job.py orchestrator</a:t>
            </a:r>
          </a:p>
        </p:txBody>
      </p:sp>
      <p:sp>
        <p:nvSpPr>
          <p:cNvPr id="45" name="TextBox 44"/>
          <p:cNvSpPr txBox="1"/>
          <p:nvPr/>
        </p:nvSpPr>
        <p:spPr>
          <a:xfrm>
            <a:off x="777240" y="5440680"/>
            <a:ext cx="3383280" cy="731520"/>
          </a:xfrm>
          <a:prstGeom prst="rect">
            <a:avLst/>
          </a:prstGeom>
          <a:noFill/>
        </p:spPr>
        <p:txBody>
          <a:bodyPr wrap="square" anchor="t" lIns="18288" rIns="18288" tIns="18288" bIns="18288">
            <a:spAutoFit/>
          </a:bodyPr>
          <a:lstStyle/>
          <a:p>
            <a:pPr algn="l">
              <a:spcAft>
                <a:spcPts val="400"/>
              </a:spcAft>
            </a:pPr>
            <a:r>
              <a:rPr sz="1100" b="0">
                <a:solidFill>
                  <a:srgbClr val="4B5765"/>
                </a:solidFill>
                <a:latin typeface="Segoe UI"/>
              </a:rPr>
              <a:t>Checks each source for changes first; unchanged data is skipped. Stops if any check fails.</a:t>
            </a:r>
          </a:p>
        </p:txBody>
      </p:sp>
      <p:sp>
        <p:nvSpPr>
          <p:cNvPr id="46" name="TextBox 45"/>
          <p:cNvSpPr txBox="1"/>
          <p:nvPr/>
        </p:nvSpPr>
        <p:spPr>
          <a:xfrm>
            <a:off x="4343400" y="5102352"/>
            <a:ext cx="2331720" cy="274320"/>
          </a:xfrm>
          <a:prstGeom prst="rect">
            <a:avLst/>
          </a:prstGeom>
          <a:noFill/>
        </p:spPr>
        <p:txBody>
          <a:bodyPr wrap="square" anchor="t" lIns="18288" rIns="18288" tIns="18288" bIns="18288">
            <a:spAutoFit/>
          </a:bodyPr>
          <a:lstStyle/>
          <a:p>
            <a:pPr algn="l">
              <a:spcAft>
                <a:spcPts val="400"/>
              </a:spcAft>
            </a:pPr>
            <a:r>
              <a:rPr sz="1100" b="0">
                <a:solidFill>
                  <a:srgbClr val="17202A"/>
                </a:solidFill>
                <a:latin typeface="Consolas"/>
              </a:rPr>
              <a:t>_lineage/</a:t>
            </a:r>
          </a:p>
        </p:txBody>
      </p:sp>
      <p:sp>
        <p:nvSpPr>
          <p:cNvPr id="47" name="TextBox 46"/>
          <p:cNvSpPr txBox="1"/>
          <p:nvPr/>
        </p:nvSpPr>
        <p:spPr>
          <a:xfrm>
            <a:off x="4343400" y="5413248"/>
            <a:ext cx="2331720" cy="731520"/>
          </a:xfrm>
          <a:prstGeom prst="rect">
            <a:avLst/>
          </a:prstGeom>
          <a:noFill/>
        </p:spPr>
        <p:txBody>
          <a:bodyPr wrap="square" anchor="t" lIns="18288" rIns="18288" tIns="18288" bIns="18288">
            <a:spAutoFit/>
          </a:bodyPr>
          <a:lstStyle/>
          <a:p>
            <a:pPr algn="l">
              <a:spcAft>
                <a:spcPts val="400"/>
              </a:spcAft>
            </a:pPr>
            <a:r>
              <a:rPr sz="1050" b="0">
                <a:solidFill>
                  <a:srgbClr val="4B5765"/>
                </a:solidFill>
                <a:latin typeface="Segoe UI"/>
              </a:rPr>
              <a:t>run manifest: inputs → outputs, row counts per step</a:t>
            </a:r>
          </a:p>
        </p:txBody>
      </p:sp>
      <p:sp>
        <p:nvSpPr>
          <p:cNvPr id="48" name="TextBox 47"/>
          <p:cNvSpPr txBox="1"/>
          <p:nvPr/>
        </p:nvSpPr>
        <p:spPr>
          <a:xfrm>
            <a:off x="6812280" y="5102352"/>
            <a:ext cx="2331720" cy="274320"/>
          </a:xfrm>
          <a:prstGeom prst="rect">
            <a:avLst/>
          </a:prstGeom>
          <a:noFill/>
        </p:spPr>
        <p:txBody>
          <a:bodyPr wrap="square" anchor="t" lIns="18288" rIns="18288" tIns="18288" bIns="18288">
            <a:spAutoFit/>
          </a:bodyPr>
          <a:lstStyle/>
          <a:p>
            <a:pPr algn="l">
              <a:spcAft>
                <a:spcPts val="400"/>
              </a:spcAft>
            </a:pPr>
            <a:r>
              <a:rPr sz="1100" b="0">
                <a:solidFill>
                  <a:srgbClr val="17202A"/>
                </a:solidFill>
                <a:latin typeface="Consolas"/>
              </a:rPr>
              <a:t>_state/</a:t>
            </a:r>
          </a:p>
        </p:txBody>
      </p:sp>
      <p:sp>
        <p:nvSpPr>
          <p:cNvPr id="49" name="TextBox 48"/>
          <p:cNvSpPr txBox="1"/>
          <p:nvPr/>
        </p:nvSpPr>
        <p:spPr>
          <a:xfrm>
            <a:off x="6812280" y="5413248"/>
            <a:ext cx="2331720" cy="731520"/>
          </a:xfrm>
          <a:prstGeom prst="rect">
            <a:avLst/>
          </a:prstGeom>
          <a:noFill/>
        </p:spPr>
        <p:txBody>
          <a:bodyPr wrap="square" anchor="t" lIns="18288" rIns="18288" tIns="18288" bIns="18288">
            <a:spAutoFit/>
          </a:bodyPr>
          <a:lstStyle/>
          <a:p>
            <a:pPr algn="l">
              <a:spcAft>
                <a:spcPts val="400"/>
              </a:spcAft>
            </a:pPr>
            <a:r>
              <a:rPr sz="1050" b="0">
                <a:solidFill>
                  <a:srgbClr val="4B5765"/>
                </a:solidFill>
                <a:latin typeface="Segoe UI"/>
              </a:rPr>
              <a:t>change watermark: file ETags, table checksums</a:t>
            </a:r>
          </a:p>
        </p:txBody>
      </p:sp>
      <p:sp>
        <p:nvSpPr>
          <p:cNvPr id="50" name="TextBox 49"/>
          <p:cNvSpPr txBox="1"/>
          <p:nvPr/>
        </p:nvSpPr>
        <p:spPr>
          <a:xfrm>
            <a:off x="9281160" y="5102352"/>
            <a:ext cx="2331720" cy="274320"/>
          </a:xfrm>
          <a:prstGeom prst="rect">
            <a:avLst/>
          </a:prstGeom>
          <a:noFill/>
        </p:spPr>
        <p:txBody>
          <a:bodyPr wrap="square" anchor="t" lIns="18288" rIns="18288" tIns="18288" bIns="18288">
            <a:spAutoFit/>
          </a:bodyPr>
          <a:lstStyle/>
          <a:p>
            <a:pPr algn="l">
              <a:spcAft>
                <a:spcPts val="400"/>
              </a:spcAft>
            </a:pPr>
            <a:r>
              <a:rPr sz="1100" b="0">
                <a:solidFill>
                  <a:srgbClr val="17202A"/>
                </a:solidFill>
                <a:latin typeface="Consolas"/>
              </a:rPr>
              <a:t>quarantine/_reports/</a:t>
            </a:r>
          </a:p>
        </p:txBody>
      </p:sp>
      <p:sp>
        <p:nvSpPr>
          <p:cNvPr id="51" name="TextBox 50"/>
          <p:cNvSpPr txBox="1"/>
          <p:nvPr/>
        </p:nvSpPr>
        <p:spPr>
          <a:xfrm>
            <a:off x="9281160" y="5413248"/>
            <a:ext cx="2331720" cy="731520"/>
          </a:xfrm>
          <a:prstGeom prst="rect">
            <a:avLst/>
          </a:prstGeom>
          <a:noFill/>
        </p:spPr>
        <p:txBody>
          <a:bodyPr wrap="square" anchor="t" lIns="18288" rIns="18288" tIns="18288" bIns="18288">
            <a:spAutoFit/>
          </a:bodyPr>
          <a:lstStyle/>
          <a:p>
            <a:pPr algn="l">
              <a:spcAft>
                <a:spcPts val="400"/>
              </a:spcAft>
            </a:pPr>
            <a:r>
              <a:rPr sz="1050" b="0">
                <a:solidFill>
                  <a:srgbClr val="4B5765"/>
                </a:solidFill>
                <a:latin typeface="Segoe UI"/>
              </a:rPr>
              <a:t>data-quality report with sample rejected rows</a:t>
            </a:r>
          </a:p>
        </p:txBody>
      </p:sp>
      <p:cxnSp>
        <p:nvCxnSpPr>
          <p:cNvPr id="52" name="Connector 51"/>
          <p:cNvCxnSpPr/>
          <p:nvPr/>
        </p:nvCxnSpPr>
        <p:spPr>
          <a:xfrm>
            <a:off x="548640" y="6400800"/>
            <a:ext cx="11094415" cy="0"/>
          </a:xfrm>
          <a:prstGeom prst="line">
            <a:avLst/>
          </a:prstGeom>
          <a:ln w="9525">
            <a:solidFill>
              <a:srgbClr val="D4DAE1"/>
            </a:solidFill>
          </a:ln>
        </p:spPr>
      </p:cxnSp>
      <p:sp>
        <p:nvSpPr>
          <p:cNvPr id="53" name="TextBox 52"/>
          <p:cNvSpPr txBox="1"/>
          <p:nvPr/>
        </p:nvSpPr>
        <p:spPr>
          <a:xfrm>
            <a:off x="548640" y="6455664"/>
            <a:ext cx="7315200" cy="274320"/>
          </a:xfrm>
          <a:prstGeom prst="rect">
            <a:avLst/>
          </a:prstGeom>
          <a:noFill/>
        </p:spPr>
        <p:txBody>
          <a:bodyPr wrap="square" anchor="t" lIns="18288" rIns="18288" tIns="18288" bIns="18288">
            <a:spAutoFit/>
          </a:bodyPr>
          <a:lstStyle/>
          <a:p>
            <a:pPr algn="l">
              <a:spcAft>
                <a:spcPts val="400"/>
              </a:spcAft>
            </a:pPr>
            <a:r>
              <a:rPr sz="900" b="0">
                <a:solidFill>
                  <a:srgbClr val="8A94A0"/>
                </a:solidFill>
                <a:latin typeface="Segoe UI"/>
              </a:rPr>
              <a:t>ACME Talent Lake  ·  Data Engineer track  ·  Coding Workshop 2026</a:t>
            </a:r>
          </a:p>
        </p:txBody>
      </p:sp>
      <p:sp>
        <p:nvSpPr>
          <p:cNvPr id="54" name="TextBox 53"/>
          <p:cNvSpPr txBox="1"/>
          <p:nvPr/>
        </p:nvSpPr>
        <p:spPr>
          <a:xfrm>
            <a:off x="10698480" y="6455664"/>
            <a:ext cx="941832" cy="274320"/>
          </a:xfrm>
          <a:prstGeom prst="rect">
            <a:avLst/>
          </a:prstGeom>
          <a:noFill/>
        </p:spPr>
        <p:txBody>
          <a:bodyPr wrap="square" anchor="t" lIns="18288" rIns="18288" tIns="18288" bIns="18288">
            <a:spAutoFit/>
          </a:bodyPr>
          <a:lstStyle/>
          <a:p>
            <a:pPr algn="r">
              <a:spcAft>
                <a:spcPts val="400"/>
              </a:spcAft>
            </a:pPr>
            <a:r>
              <a:rPr sz="900" b="0">
                <a:solidFill>
                  <a:srgbClr val="8A94A0"/>
                </a:solidFill>
                <a:latin typeface="Segoe UI"/>
              </a:rPr>
              <a:t>3 / 11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8229600" cy="274320"/>
          </a:xfrm>
          <a:prstGeom prst="rect">
            <a:avLst/>
          </a:prstGeom>
          <a:noFill/>
        </p:spPr>
        <p:txBody>
          <a:bodyPr wrap="square" anchor="t" lIns="18288" rIns="18288" tIns="18288" bIns="18288">
            <a:spAutoFit/>
          </a:bodyPr>
          <a:lstStyle/>
          <a:p>
            <a:pPr algn="l">
              <a:spcAft>
                <a:spcPts val="400"/>
              </a:spcAft>
            </a:pPr>
            <a:r>
              <a:rPr sz="1100" b="0">
                <a:solidFill>
                  <a:srgbClr val="1D4E89"/>
                </a:solidFill>
                <a:latin typeface="Segoe UI Semibold"/>
              </a:rPr>
              <a:t>BRONZE &amp; SILVER</a:t>
            </a:r>
          </a:p>
        </p:txBody>
      </p:sp>
      <p:sp>
        <p:nvSpPr>
          <p:cNvPr id="3" name="TextBox 2"/>
          <p:cNvSpPr txBox="1"/>
          <p:nvPr/>
        </p:nvSpPr>
        <p:spPr>
          <a:xfrm>
            <a:off x="548640" y="566928"/>
            <a:ext cx="11064240" cy="731520"/>
          </a:xfrm>
          <a:prstGeom prst="rect">
            <a:avLst/>
          </a:prstGeom>
          <a:noFill/>
        </p:spPr>
        <p:txBody>
          <a:bodyPr wrap="square" anchor="t" lIns="18288" rIns="18288" tIns="18288" bIns="18288">
            <a:spAutoFit/>
          </a:bodyPr>
          <a:lstStyle/>
          <a:p>
            <a:pPr algn="l">
              <a:spcAft>
                <a:spcPts val="400"/>
              </a:spcAft>
            </a:pPr>
            <a:r>
              <a:rPr sz="2600" b="0">
                <a:solidFill>
                  <a:srgbClr val="17202A"/>
                </a:solidFill>
                <a:latin typeface="Segoe UI Semibold"/>
              </a:rPr>
              <a:t>Raw data kept exactly; every row checked</a:t>
            </a:r>
          </a:p>
        </p:txBody>
      </p:sp>
      <p:sp>
        <p:nvSpPr>
          <p:cNvPr id="4" name="TextBox 3"/>
          <p:cNvSpPr txBox="1"/>
          <p:nvPr/>
        </p:nvSpPr>
        <p:spPr>
          <a:xfrm>
            <a:off x="548640" y="1444752"/>
            <a:ext cx="6035040" cy="365760"/>
          </a:xfrm>
          <a:prstGeom prst="rect">
            <a:avLst/>
          </a:prstGeom>
          <a:noFill/>
        </p:spPr>
        <p:txBody>
          <a:bodyPr wrap="square" anchor="t" lIns="18288" rIns="18288" tIns="18288" bIns="18288">
            <a:spAutoFit/>
          </a:bodyPr>
          <a:lstStyle/>
          <a:p>
            <a:pPr algn="l">
              <a:spcAft>
                <a:spcPts val="400"/>
              </a:spcAft>
            </a:pPr>
            <a:r>
              <a:rPr sz="1400" b="0">
                <a:solidFill>
                  <a:srgbClr val="17202A"/>
                </a:solidFill>
                <a:latin typeface="Segoe UI Semibold"/>
              </a:rPr>
              <a:t>Planted defects in the learning export, and what Silver does</a:t>
            </a:r>
          </a:p>
        </p:txBody>
      </p:sp>
      <p:graphicFrame>
        <p:nvGraphicFramePr>
          <p:cNvPr id="5" name="Table 4"/>
          <p:cNvGraphicFramePr>
            <a:graphicFrameLocks noGrp="1"/>
          </p:cNvGraphicFramePr>
          <p:nvPr/>
        </p:nvGraphicFramePr>
        <p:xfrm>
          <a:off x="548640" y="1847088"/>
          <a:ext cx="6080760" cy="2414016"/>
        </p:xfrm>
        <a:graphic>
          <a:graphicData uri="http://schemas.openxmlformats.org/drawingml/2006/table">
            <a:tbl>
              <a:tblPr firstRow="1">
                <a:tableStyleId>{5C22544A-7EE6-4342-B048-85BDC9FD1C3A}</a:tableStyleId>
              </a:tblPr>
              <a:tblGrid>
                <a:gridCol w="2331720"/>
                <a:gridCol w="640080"/>
                <a:gridCol w="3108960"/>
              </a:tblGrid>
              <a:tr h="402336">
                <a:tc>
                  <a:txBody>
                    <a:bodyPr wrap="square"/>
                    <a:lstStyle/>
                    <a:p>
                      <a:pPr algn="l"/>
                      <a:r>
                        <a:rPr sz="1100" b="1">
                          <a:solidFill>
                            <a:srgbClr val="4B5765"/>
                          </a:solidFill>
                          <a:latin typeface="Segoe UI Semibold"/>
                        </a:rPr>
                        <a:t>Defect</a:t>
                      </a:r>
                    </a:p>
                  </a:txBody>
                  <a:tcPr marL="82296" marR="82296" marT="36576" marB="36576" anchor="ctr">
                    <a:solidFill>
                      <a:srgbClr val="F4F6F8"/>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l"/>
                      <a:r>
                        <a:rPr sz="1100" b="1">
                          <a:solidFill>
                            <a:srgbClr val="4B5765"/>
                          </a:solidFill>
                          <a:latin typeface="Segoe UI Semibold"/>
                        </a:rPr>
                        <a:t>Rows</a:t>
                      </a:r>
                    </a:p>
                  </a:txBody>
                  <a:tcPr marL="82296" marR="82296" marT="36576" marB="36576" anchor="ctr">
                    <a:solidFill>
                      <a:srgbClr val="F4F6F8"/>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l"/>
                      <a:r>
                        <a:rPr sz="1100" b="1">
                          <a:solidFill>
                            <a:srgbClr val="4B5765"/>
                          </a:solidFill>
                          <a:latin typeface="Segoe UI Semibold"/>
                        </a:rPr>
                        <a:t>Silver</a:t>
                      </a:r>
                    </a:p>
                  </a:txBody>
                  <a:tcPr marL="82296" marR="82296" marT="36576" marB="36576" anchor="ctr">
                    <a:solidFill>
                      <a:srgbClr val="F4F6F8"/>
                    </a:solidFill>
                    <a:lnL w="6350">
                      <a:solidFill>
                        <a:srgbClr val="D4DAE1"/>
                      </a:solidFill>
                    </a:lnL>
                    <a:lnR w="6350">
                      <a:solidFill>
                        <a:srgbClr val="D4DAE1"/>
                      </a:solidFill>
                    </a:lnR>
                    <a:lnT w="6350">
                      <a:solidFill>
                        <a:srgbClr val="D4DAE1"/>
                      </a:solidFill>
                    </a:lnT>
                    <a:lnB w="6350">
                      <a:solidFill>
                        <a:srgbClr val="D4DAE1"/>
                      </a:solidFill>
                    </a:lnB>
                  </a:tcPr>
                </a:tc>
              </a:tr>
              <a:tr h="402336">
                <a:tc>
                  <a:txBody>
                    <a:bodyPr wrap="square"/>
                    <a:lstStyle/>
                    <a:p>
                      <a:pPr algn="l"/>
                      <a:r>
                        <a:rPr sz="1200" b="0">
                          <a:solidFill>
                            <a:srgbClr val="17202A"/>
                          </a:solidFill>
                          <a:latin typeface="Segoe UI"/>
                        </a:rPr>
                        <a:t>Line is not valid JSON</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r"/>
                      <a:r>
                        <a:rPr sz="1200" b="0">
                          <a:solidFill>
                            <a:srgbClr val="17202A"/>
                          </a:solidFill>
                          <a:latin typeface="Segoe UI"/>
                        </a:rPr>
                        <a:t>13</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l"/>
                      <a:r>
                        <a:rPr sz="1200" b="0">
                          <a:solidFill>
                            <a:srgbClr val="17202A"/>
                          </a:solidFill>
                          <a:latin typeface="Segoe UI"/>
                        </a:rPr>
                        <a:t>quarantined, raw line kept</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r>
              <a:tr h="402336">
                <a:tc>
                  <a:txBody>
                    <a:bodyPr wrap="square"/>
                    <a:lstStyle/>
                    <a:p>
                      <a:pPr algn="l"/>
                      <a:r>
                        <a:rPr sz="1200" b="0">
                          <a:solidFill>
                            <a:srgbClr val="17202A"/>
                          </a:solidFill>
                          <a:latin typeface="Segoe UI"/>
                        </a:rPr>
                        <a:t>Same event delivered twice</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r"/>
                      <a:r>
                        <a:rPr sz="1200" b="0">
                          <a:solidFill>
                            <a:srgbClr val="17202A"/>
                          </a:solidFill>
                          <a:latin typeface="Segoe UI"/>
                        </a:rPr>
                        <a:t>152</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l"/>
                      <a:r>
                        <a:rPr sz="1200" b="0">
                          <a:solidFill>
                            <a:srgbClr val="17202A"/>
                          </a:solidFill>
                          <a:latin typeface="Segoe UI"/>
                        </a:rPr>
                        <a:t>first copy kept, extras quarantined</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r>
              <a:tr h="402336">
                <a:tc>
                  <a:txBody>
                    <a:bodyPr wrap="square"/>
                    <a:lstStyle/>
                    <a:p>
                      <a:pPr algn="l"/>
                      <a:r>
                        <a:rPr sz="1200" b="0">
                          <a:solidFill>
                            <a:srgbClr val="17202A"/>
                          </a:solidFill>
                          <a:latin typeface="Segoe UI"/>
                        </a:rPr>
                        <a:t>Missing employee_id</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r"/>
                      <a:r>
                        <a:rPr sz="1200" b="0">
                          <a:solidFill>
                            <a:srgbClr val="17202A"/>
                          </a:solidFill>
                          <a:latin typeface="Segoe UI"/>
                        </a:rPr>
                        <a:t>76</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l"/>
                      <a:r>
                        <a:rPr sz="1200" b="0">
                          <a:solidFill>
                            <a:srgbClr val="17202A"/>
                          </a:solidFill>
                          <a:latin typeface="Segoe UI"/>
                        </a:rPr>
                        <a:t>quarantined</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r>
              <a:tr h="402336">
                <a:tc>
                  <a:txBody>
                    <a:bodyPr wrap="square"/>
                    <a:lstStyle/>
                    <a:p>
                      <a:pPr algn="l"/>
                      <a:r>
                        <a:rPr sz="1200" b="0">
                          <a:solidFill>
                            <a:srgbClr val="17202A"/>
                          </a:solidFill>
                          <a:latin typeface="Segoe UI"/>
                        </a:rPr>
                        <a:t>Unparseable or empty date</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r"/>
                      <a:r>
                        <a:rPr sz="1200" b="0">
                          <a:solidFill>
                            <a:srgbClr val="17202A"/>
                          </a:solidFill>
                          <a:latin typeface="Segoe UI"/>
                        </a:rPr>
                        <a:t>54</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l"/>
                      <a:r>
                        <a:rPr sz="1200" b="0">
                          <a:solidFill>
                            <a:srgbClr val="17202A"/>
                          </a:solidFill>
                          <a:latin typeface="Segoe UI"/>
                        </a:rPr>
                        <a:t>quarantined ('yesterday')</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r>
              <a:tr h="402336">
                <a:tc>
                  <a:txBody>
                    <a:bodyPr wrap="square"/>
                    <a:lstStyle/>
                    <a:p>
                      <a:pPr algn="l"/>
                      <a:r>
                        <a:rPr sz="1200" b="0">
                          <a:solidFill>
                            <a:srgbClr val="17202A"/>
                          </a:solidFill>
                          <a:latin typeface="Segoe UI"/>
                        </a:rPr>
                        <a:t>'text' renamed to 'notes'</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r"/>
                      <a:r>
                        <a:rPr sz="1200" b="0">
                          <a:solidFill>
                            <a:srgbClr val="17202A"/>
                          </a:solidFill>
                          <a:latin typeface="Segoe UI"/>
                        </a:rPr>
                        <a:t>39</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l"/>
                      <a:r>
                        <a:rPr sz="1200" b="0">
                          <a:solidFill>
                            <a:srgbClr val="17202A"/>
                          </a:solidFill>
                          <a:latin typeface="Segoe UI"/>
                        </a:rPr>
                        <a:t>recovered into text</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r>
            </a:tbl>
          </a:graphicData>
        </a:graphic>
      </p:graphicFrame>
      <p:sp>
        <p:nvSpPr>
          <p:cNvPr id="6" name="TextBox 5"/>
          <p:cNvSpPr txBox="1"/>
          <p:nvPr/>
        </p:nvSpPr>
        <p:spPr>
          <a:xfrm>
            <a:off x="548640" y="4343400"/>
            <a:ext cx="6035040" cy="365760"/>
          </a:xfrm>
          <a:prstGeom prst="rect">
            <a:avLst/>
          </a:prstGeom>
          <a:noFill/>
        </p:spPr>
        <p:txBody>
          <a:bodyPr wrap="square" anchor="t" lIns="18288" rIns="18288" tIns="18288" bIns="18288">
            <a:spAutoFit/>
          </a:bodyPr>
          <a:lstStyle/>
          <a:p>
            <a:pPr algn="l">
              <a:spcAft>
                <a:spcPts val="400"/>
              </a:spcAft>
            </a:pPr>
            <a:r>
              <a:rPr sz="1200" b="0">
                <a:solidFill>
                  <a:srgbClr val="4B5765"/>
                </a:solidFill>
                <a:latin typeface="Segoe UI"/>
              </a:rPr>
              <a:t>HR tables (7 tables, 12,173 rows): clean, 0 rejected.</a:t>
            </a:r>
          </a:p>
        </p:txBody>
      </p:sp>
      <p:sp>
        <p:nvSpPr>
          <p:cNvPr id="7" name="Rounded Rectangle 6"/>
          <p:cNvSpPr/>
          <p:nvPr/>
        </p:nvSpPr>
        <p:spPr>
          <a:xfrm>
            <a:off x="6949440" y="1463040"/>
            <a:ext cx="4690872" cy="1828800"/>
          </a:xfrm>
          <a:prstGeom prst="roundRect">
            <a:avLst>
              <a:gd name="adj" fmla="val 6000"/>
            </a:avLst>
          </a:prstGeom>
          <a:solidFill>
            <a:srgbClr val="F6E9DE"/>
          </a:solidFill>
          <a:ln w="12700">
            <a:solidFill>
              <a:srgbClr val="9B5A2A"/>
            </a:solidFill>
          </a:ln>
        </p:spPr>
        <p:txBody>
          <a:bodyPr rtlCol="0" anchor="ctr"/>
          <a:lstStyle/>
          <a:p/>
        </p:txBody>
      </p:sp>
      <p:sp>
        <p:nvSpPr>
          <p:cNvPr id="8" name="TextBox 7"/>
          <p:cNvSpPr txBox="1"/>
          <p:nvPr/>
        </p:nvSpPr>
        <p:spPr>
          <a:xfrm>
            <a:off x="7114031" y="1591056"/>
            <a:ext cx="4361688" cy="365760"/>
          </a:xfrm>
          <a:prstGeom prst="rect">
            <a:avLst/>
          </a:prstGeom>
          <a:noFill/>
        </p:spPr>
        <p:txBody>
          <a:bodyPr wrap="square" anchor="t" lIns="18288" rIns="18288" tIns="18288" bIns="18288">
            <a:spAutoFit/>
          </a:bodyPr>
          <a:lstStyle/>
          <a:p>
            <a:pPr algn="l">
              <a:spcAft>
                <a:spcPts val="400"/>
              </a:spcAft>
            </a:pPr>
            <a:r>
              <a:rPr sz="1400" b="0">
                <a:solidFill>
                  <a:srgbClr val="9B5A2A"/>
                </a:solidFill>
                <a:latin typeface="Segoe UI Semibold"/>
              </a:rPr>
              <a:t>Bronze: exact and write-once</a:t>
            </a:r>
          </a:p>
        </p:txBody>
      </p:sp>
      <p:sp>
        <p:nvSpPr>
          <p:cNvPr id="9" name="TextBox 8"/>
          <p:cNvSpPr txBox="1"/>
          <p:nvPr/>
        </p:nvSpPr>
        <p:spPr>
          <a:xfrm>
            <a:off x="7114031" y="1965960"/>
            <a:ext cx="4361688" cy="1234440"/>
          </a:xfrm>
          <a:prstGeom prst="rect">
            <a:avLst/>
          </a:prstGeom>
          <a:noFill/>
        </p:spPr>
        <p:txBody>
          <a:bodyPr wrap="square" anchor="t" lIns="18288" rIns="18288" tIns="18288" bIns="18288">
            <a:spAutoFit/>
          </a:bodyPr>
          <a:lstStyle/>
          <a:p>
            <a:pPr algn="l">
              <a:spcAft>
                <a:spcPts val="500"/>
              </a:spcAft>
            </a:pPr>
            <a:r>
              <a:rPr sz="1150" b="0">
                <a:solidFill>
                  <a:srgbClr val="4B5765"/>
                </a:solidFill>
                <a:latin typeface="Segoe UI"/>
              </a:rPr>
              <a:t>Raw CSV export and raw .jsonl copies, plus Parquet</a:t>
            </a:r>
          </a:p>
          <a:p>
            <a:pPr algn="l">
              <a:spcAft>
                <a:spcPts val="500"/>
              </a:spcAft>
            </a:pPr>
            <a:r>
              <a:rPr sz="1150" b="0">
                <a:solidFill>
                  <a:srgbClr val="4B5765"/>
                </a:solidFill>
                <a:latin typeface="Segoe UI"/>
              </a:rPr>
              <a:t>Re-runs skip loaded days; a changed file lands as a new version</a:t>
            </a:r>
          </a:p>
          <a:p>
            <a:pPr algn="l">
              <a:spcAft>
                <a:spcPts val="500"/>
              </a:spcAft>
            </a:pPr>
            <a:r>
              <a:rPr sz="1150" b="0">
                <a:solidFill>
                  <a:srgbClr val="4B5765"/>
                </a:solidFill>
                <a:latin typeface="Segoe UI"/>
              </a:rPr>
              <a:t>2,000 rows = source count(*) · 29,868 lines = 29,868 rows</a:t>
            </a:r>
          </a:p>
        </p:txBody>
      </p:sp>
      <p:sp>
        <p:nvSpPr>
          <p:cNvPr id="10" name="Rounded Rectangle 9"/>
          <p:cNvSpPr/>
          <p:nvPr/>
        </p:nvSpPr>
        <p:spPr>
          <a:xfrm>
            <a:off x="6949440" y="3429000"/>
            <a:ext cx="4690872" cy="1234440"/>
          </a:xfrm>
          <a:prstGeom prst="roundRect">
            <a:avLst>
              <a:gd name="adj" fmla="val 6000"/>
            </a:avLst>
          </a:prstGeom>
          <a:solidFill>
            <a:srgbClr val="E8ECF0"/>
          </a:solidFill>
          <a:ln w="12700">
            <a:solidFill>
              <a:srgbClr val="5F6B77"/>
            </a:solidFill>
          </a:ln>
        </p:spPr>
        <p:txBody>
          <a:bodyPr rtlCol="0" anchor="ctr"/>
          <a:lstStyle/>
          <a:p/>
        </p:txBody>
      </p:sp>
      <p:sp>
        <p:nvSpPr>
          <p:cNvPr id="11" name="TextBox 10"/>
          <p:cNvSpPr txBox="1"/>
          <p:nvPr/>
        </p:nvSpPr>
        <p:spPr>
          <a:xfrm>
            <a:off x="7114031" y="3557016"/>
            <a:ext cx="4361688" cy="365760"/>
          </a:xfrm>
          <a:prstGeom prst="rect">
            <a:avLst/>
          </a:prstGeom>
          <a:noFill/>
        </p:spPr>
        <p:txBody>
          <a:bodyPr wrap="square" anchor="t" lIns="18288" rIns="18288" tIns="18288" bIns="18288">
            <a:spAutoFit/>
          </a:bodyPr>
          <a:lstStyle/>
          <a:p>
            <a:pPr algn="l">
              <a:spcAft>
                <a:spcPts val="400"/>
              </a:spcAft>
            </a:pPr>
            <a:r>
              <a:rPr sz="1400" b="0">
                <a:solidFill>
                  <a:srgbClr val="5F6B77"/>
                </a:solidFill>
                <a:latin typeface="Segoe UI Semibold"/>
              </a:rPr>
              <a:t>Silver: validated before publishing</a:t>
            </a:r>
          </a:p>
        </p:txBody>
      </p:sp>
      <p:sp>
        <p:nvSpPr>
          <p:cNvPr id="12" name="TextBox 11"/>
          <p:cNvSpPr txBox="1"/>
          <p:nvPr/>
        </p:nvSpPr>
        <p:spPr>
          <a:xfrm>
            <a:off x="7114031" y="3931920"/>
            <a:ext cx="4361688" cy="640080"/>
          </a:xfrm>
          <a:prstGeom prst="rect">
            <a:avLst/>
          </a:prstGeom>
          <a:noFill/>
        </p:spPr>
        <p:txBody>
          <a:bodyPr wrap="square" anchor="t" lIns="18288" rIns="18288" tIns="18288" bIns="18288">
            <a:spAutoFit/>
          </a:bodyPr>
          <a:lstStyle/>
          <a:p>
            <a:pPr algn="l">
              <a:spcAft>
                <a:spcPts val="500"/>
              </a:spcAft>
            </a:pPr>
            <a:r>
              <a:rPr sz="1150" b="0">
                <a:solidFill>
                  <a:srgbClr val="4B5765"/>
                </a:solidFill>
                <a:latin typeface="Segoe UI"/>
              </a:rPr>
              <a:t>Contract per dataset; key present and unique, required filled, types exact</a:t>
            </a:r>
          </a:p>
        </p:txBody>
      </p:sp>
      <p:sp>
        <p:nvSpPr>
          <p:cNvPr id="13" name="TextBox 12"/>
          <p:cNvSpPr txBox="1"/>
          <p:nvPr/>
        </p:nvSpPr>
        <p:spPr>
          <a:xfrm>
            <a:off x="548640" y="4846320"/>
            <a:ext cx="10972800" cy="320040"/>
          </a:xfrm>
          <a:prstGeom prst="rect">
            <a:avLst/>
          </a:prstGeom>
          <a:noFill/>
        </p:spPr>
        <p:txBody>
          <a:bodyPr wrap="square" anchor="t" lIns="18288" rIns="18288" tIns="18288" bIns="18288">
            <a:spAutoFit/>
          </a:bodyPr>
          <a:lstStyle/>
          <a:p>
            <a:pPr algn="l">
              <a:spcAft>
                <a:spcPts val="400"/>
              </a:spcAft>
            </a:pPr>
            <a:r>
              <a:rPr sz="1300" b="0">
                <a:solidFill>
                  <a:srgbClr val="17202A"/>
                </a:solidFill>
                <a:latin typeface="Segoe UI Semibold"/>
              </a:rPr>
              <a:t>Learning events reconcile exactly (drawn to scale)</a:t>
            </a:r>
          </a:p>
        </p:txBody>
      </p:sp>
      <p:sp>
        <p:nvSpPr>
          <p:cNvPr id="14" name="Rectangle 13"/>
          <p:cNvSpPr/>
          <p:nvPr/>
        </p:nvSpPr>
        <p:spPr>
          <a:xfrm>
            <a:off x="548640" y="5212080"/>
            <a:ext cx="10982493" cy="457200"/>
          </a:xfrm>
          <a:prstGeom prst="rect">
            <a:avLst/>
          </a:prstGeom>
          <a:solidFill>
            <a:srgbClr val="5F6B77"/>
          </a:solidFill>
          <a:ln>
            <a:noFill/>
          </a:ln>
        </p:spPr>
        <p:txBody>
          <a:bodyPr rtlCol="0" anchor="ctr"/>
          <a:lstStyle/>
          <a:p/>
        </p:txBody>
      </p:sp>
      <p:sp>
        <p:nvSpPr>
          <p:cNvPr id="15" name="Rectangle 14"/>
          <p:cNvSpPr/>
          <p:nvPr/>
        </p:nvSpPr>
        <p:spPr>
          <a:xfrm>
            <a:off x="11531133" y="5212080"/>
            <a:ext cx="109178" cy="457200"/>
          </a:xfrm>
          <a:prstGeom prst="rect">
            <a:avLst/>
          </a:prstGeom>
          <a:solidFill>
            <a:srgbClr val="B0412D"/>
          </a:solidFill>
          <a:ln>
            <a:noFill/>
          </a:ln>
        </p:spPr>
        <p:txBody>
          <a:bodyPr rtlCol="0" anchor="ctr"/>
          <a:lstStyle/>
          <a:p/>
        </p:txBody>
      </p:sp>
      <p:sp>
        <p:nvSpPr>
          <p:cNvPr id="16" name="TextBox 15"/>
          <p:cNvSpPr txBox="1"/>
          <p:nvPr/>
        </p:nvSpPr>
        <p:spPr>
          <a:xfrm>
            <a:off x="731520" y="5285232"/>
            <a:ext cx="6400800" cy="329184"/>
          </a:xfrm>
          <a:prstGeom prst="rect">
            <a:avLst/>
          </a:prstGeom>
          <a:noFill/>
        </p:spPr>
        <p:txBody>
          <a:bodyPr wrap="square" anchor="t" lIns="18288" rIns="18288" tIns="18288" bIns="18288">
            <a:spAutoFit/>
          </a:bodyPr>
          <a:lstStyle/>
          <a:p>
            <a:pPr algn="l">
              <a:spcAft>
                <a:spcPts val="400"/>
              </a:spcAft>
            </a:pPr>
            <a:r>
              <a:rPr sz="1300" b="0">
                <a:solidFill>
                  <a:srgbClr val="FFFFFF"/>
                </a:solidFill>
                <a:latin typeface="Segoe UI Semibold"/>
              </a:rPr>
              <a:t>29,574 valid rows → Silver</a:t>
            </a:r>
          </a:p>
        </p:txBody>
      </p:sp>
      <p:sp>
        <p:nvSpPr>
          <p:cNvPr id="17" name="TextBox 16"/>
          <p:cNvSpPr txBox="1"/>
          <p:nvPr/>
        </p:nvSpPr>
        <p:spPr>
          <a:xfrm>
            <a:off x="548640" y="5760720"/>
            <a:ext cx="5943600" cy="320040"/>
          </a:xfrm>
          <a:prstGeom prst="rect">
            <a:avLst/>
          </a:prstGeom>
          <a:noFill/>
        </p:spPr>
        <p:txBody>
          <a:bodyPr wrap="square" anchor="t" lIns="18288" rIns="18288" tIns="18288" bIns="18288">
            <a:spAutoFit/>
          </a:bodyPr>
          <a:lstStyle/>
          <a:p>
            <a:pPr algn="l">
              <a:spcAft>
                <a:spcPts val="400"/>
              </a:spcAft>
            </a:pPr>
            <a:r>
              <a:rPr sz="1200" b="0">
                <a:solidFill>
                  <a:srgbClr val="4B5765"/>
                </a:solidFill>
                <a:latin typeface="Segoe UI"/>
              </a:rPr>
              <a:t>29,868 Bronze lines = 29,574 valid + 294 quarantined</a:t>
            </a:r>
          </a:p>
        </p:txBody>
      </p:sp>
      <p:sp>
        <p:nvSpPr>
          <p:cNvPr id="18" name="TextBox 17"/>
          <p:cNvSpPr txBox="1"/>
          <p:nvPr/>
        </p:nvSpPr>
        <p:spPr>
          <a:xfrm>
            <a:off x="7040880" y="5760720"/>
            <a:ext cx="4599432" cy="320040"/>
          </a:xfrm>
          <a:prstGeom prst="rect">
            <a:avLst/>
          </a:prstGeom>
          <a:noFill/>
        </p:spPr>
        <p:txBody>
          <a:bodyPr wrap="square" anchor="t" lIns="18288" rIns="18288" tIns="18288" bIns="18288">
            <a:spAutoFit/>
          </a:bodyPr>
          <a:lstStyle/>
          <a:p>
            <a:pPr algn="r">
              <a:spcAft>
                <a:spcPts val="400"/>
              </a:spcAft>
            </a:pPr>
            <a:r>
              <a:rPr sz="1200" b="0">
                <a:solidFill>
                  <a:srgbClr val="B0412D"/>
                </a:solidFill>
                <a:latin typeface="Segoe UI Semibold"/>
              </a:rPr>
              <a:t>294 quarantined (1.0%)</a:t>
            </a:r>
          </a:p>
        </p:txBody>
      </p:sp>
      <p:cxnSp>
        <p:nvCxnSpPr>
          <p:cNvPr id="19" name="Connector 18"/>
          <p:cNvCxnSpPr/>
          <p:nvPr/>
        </p:nvCxnSpPr>
        <p:spPr>
          <a:xfrm>
            <a:off x="548640" y="6400800"/>
            <a:ext cx="11094415" cy="0"/>
          </a:xfrm>
          <a:prstGeom prst="line">
            <a:avLst/>
          </a:prstGeom>
          <a:ln w="9525">
            <a:solidFill>
              <a:srgbClr val="D4DAE1"/>
            </a:solidFill>
          </a:ln>
        </p:spPr>
      </p:cxnSp>
      <p:sp>
        <p:nvSpPr>
          <p:cNvPr id="20" name="TextBox 19"/>
          <p:cNvSpPr txBox="1"/>
          <p:nvPr/>
        </p:nvSpPr>
        <p:spPr>
          <a:xfrm>
            <a:off x="548640" y="6455664"/>
            <a:ext cx="7315200" cy="274320"/>
          </a:xfrm>
          <a:prstGeom prst="rect">
            <a:avLst/>
          </a:prstGeom>
          <a:noFill/>
        </p:spPr>
        <p:txBody>
          <a:bodyPr wrap="square" anchor="t" lIns="18288" rIns="18288" tIns="18288" bIns="18288">
            <a:spAutoFit/>
          </a:bodyPr>
          <a:lstStyle/>
          <a:p>
            <a:pPr algn="l">
              <a:spcAft>
                <a:spcPts val="400"/>
              </a:spcAft>
            </a:pPr>
            <a:r>
              <a:rPr sz="900" b="0">
                <a:solidFill>
                  <a:srgbClr val="8A94A0"/>
                </a:solidFill>
                <a:latin typeface="Segoe UI"/>
              </a:rPr>
              <a:t>ACME Talent Lake  ·  Data Engineer track  ·  Coding Workshop 2026</a:t>
            </a:r>
          </a:p>
        </p:txBody>
      </p:sp>
      <p:sp>
        <p:nvSpPr>
          <p:cNvPr id="21" name="TextBox 20"/>
          <p:cNvSpPr txBox="1"/>
          <p:nvPr/>
        </p:nvSpPr>
        <p:spPr>
          <a:xfrm>
            <a:off x="10698480" y="6455664"/>
            <a:ext cx="941832" cy="274320"/>
          </a:xfrm>
          <a:prstGeom prst="rect">
            <a:avLst/>
          </a:prstGeom>
          <a:noFill/>
        </p:spPr>
        <p:txBody>
          <a:bodyPr wrap="square" anchor="t" lIns="18288" rIns="18288" tIns="18288" bIns="18288">
            <a:spAutoFit/>
          </a:bodyPr>
          <a:lstStyle/>
          <a:p>
            <a:pPr algn="r">
              <a:spcAft>
                <a:spcPts val="400"/>
              </a:spcAft>
            </a:pPr>
            <a:r>
              <a:rPr sz="900" b="0">
                <a:solidFill>
                  <a:srgbClr val="8A94A0"/>
                </a:solidFill>
                <a:latin typeface="Segoe UI"/>
              </a:rPr>
              <a:t>4 / 11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8229600" cy="274320"/>
          </a:xfrm>
          <a:prstGeom prst="rect">
            <a:avLst/>
          </a:prstGeom>
          <a:noFill/>
        </p:spPr>
        <p:txBody>
          <a:bodyPr wrap="square" anchor="t" lIns="18288" rIns="18288" tIns="18288" bIns="18288">
            <a:spAutoFit/>
          </a:bodyPr>
          <a:lstStyle/>
          <a:p>
            <a:pPr algn="l">
              <a:spcAft>
                <a:spcPts val="400"/>
              </a:spcAft>
            </a:pPr>
            <a:r>
              <a:rPr sz="1100" b="0">
                <a:solidFill>
                  <a:srgbClr val="1D4E89"/>
                </a:solidFill>
                <a:latin typeface="Segoe UI Semibold"/>
              </a:rPr>
              <a:t>PIPELINE HEALTH &amp; ALERTS</a:t>
            </a:r>
          </a:p>
        </p:txBody>
      </p:sp>
      <p:sp>
        <p:nvSpPr>
          <p:cNvPr id="3" name="TextBox 2"/>
          <p:cNvSpPr txBox="1"/>
          <p:nvPr/>
        </p:nvSpPr>
        <p:spPr>
          <a:xfrm>
            <a:off x="548640" y="566928"/>
            <a:ext cx="11064240" cy="731520"/>
          </a:xfrm>
          <a:prstGeom prst="rect">
            <a:avLst/>
          </a:prstGeom>
          <a:noFill/>
        </p:spPr>
        <p:txBody>
          <a:bodyPr wrap="square" anchor="t" lIns="18288" rIns="18288" tIns="18288" bIns="18288">
            <a:spAutoFit/>
          </a:bodyPr>
          <a:lstStyle/>
          <a:p>
            <a:pPr algn="l">
              <a:spcAft>
                <a:spcPts val="400"/>
              </a:spcAft>
            </a:pPr>
            <a:r>
              <a:rPr sz="2600" b="0">
                <a:solidFill>
                  <a:srgbClr val="17202A"/>
                </a:solidFill>
                <a:latin typeface="Segoe UI Semibold"/>
              </a:rPr>
              <a:t>Every run is scored, and a broken batch can't reach the answers</a:t>
            </a:r>
          </a:p>
        </p:txBody>
      </p:sp>
      <p:graphicFrame>
        <p:nvGraphicFramePr>
          <p:cNvPr id="4" name="Table 3"/>
          <p:cNvGraphicFramePr>
            <a:graphicFrameLocks noGrp="1"/>
          </p:cNvGraphicFramePr>
          <p:nvPr/>
        </p:nvGraphicFramePr>
        <p:xfrm>
          <a:off x="548640" y="1463040"/>
          <a:ext cx="6309360" cy="3456432"/>
        </p:xfrm>
        <a:graphic>
          <a:graphicData uri="http://schemas.openxmlformats.org/drawingml/2006/table">
            <a:tbl>
              <a:tblPr firstRow="1">
                <a:tableStyleId>{5C22544A-7EE6-4342-B048-85BDC9FD1C3A}</a:tableStyleId>
              </a:tblPr>
              <a:tblGrid>
                <a:gridCol w="2514600"/>
                <a:gridCol w="1005840"/>
                <a:gridCol w="1188720"/>
                <a:gridCol w="777240"/>
                <a:gridCol w="822960"/>
              </a:tblGrid>
              <a:tr h="384048">
                <a:tc>
                  <a:txBody>
                    <a:bodyPr wrap="square"/>
                    <a:lstStyle/>
                    <a:p>
                      <a:pPr algn="l"/>
                      <a:r>
                        <a:rPr sz="1050" b="1">
                          <a:solidFill>
                            <a:srgbClr val="4B5765"/>
                          </a:solidFill>
                          <a:latin typeface="Segoe UI Semibold"/>
                        </a:rPr>
                        <a:t>Dataset</a:t>
                      </a:r>
                    </a:p>
                  </a:txBody>
                  <a:tcPr marL="82296" marR="82296" marT="36576" marB="36576" anchor="ctr">
                    <a:solidFill>
                      <a:srgbClr val="F4F6F8"/>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l"/>
                      <a:r>
                        <a:rPr sz="1050" b="1">
                          <a:solidFill>
                            <a:srgbClr val="4B5765"/>
                          </a:solidFill>
                          <a:latin typeface="Segoe UI Semibold"/>
                        </a:rPr>
                        <a:t>Rows in</a:t>
                      </a:r>
                    </a:p>
                  </a:txBody>
                  <a:tcPr marL="82296" marR="82296" marT="36576" marB="36576" anchor="ctr">
                    <a:solidFill>
                      <a:srgbClr val="F4F6F8"/>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l"/>
                      <a:r>
                        <a:rPr sz="1050" b="1">
                          <a:solidFill>
                            <a:srgbClr val="4B5765"/>
                          </a:solidFill>
                          <a:latin typeface="Segoe UI Semibold"/>
                        </a:rPr>
                        <a:t>Quarantined</a:t>
                      </a:r>
                    </a:p>
                  </a:txBody>
                  <a:tcPr marL="82296" marR="82296" marT="36576" marB="36576" anchor="ctr">
                    <a:solidFill>
                      <a:srgbClr val="F4F6F8"/>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l"/>
                      <a:r>
                        <a:rPr sz="1050" b="1">
                          <a:solidFill>
                            <a:srgbClr val="4B5765"/>
                          </a:solidFill>
                          <a:latin typeface="Segoe UI Semibold"/>
                        </a:rPr>
                        <a:t>Rate</a:t>
                      </a:r>
                    </a:p>
                  </a:txBody>
                  <a:tcPr marL="82296" marR="82296" marT="36576" marB="36576" anchor="ctr">
                    <a:solidFill>
                      <a:srgbClr val="F4F6F8"/>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l"/>
                      <a:r>
                        <a:rPr sz="1050" b="1">
                          <a:solidFill>
                            <a:srgbClr val="4B5765"/>
                          </a:solidFill>
                          <a:latin typeface="Segoe UI Semibold"/>
                        </a:rPr>
                        <a:t>Status</a:t>
                      </a:r>
                    </a:p>
                  </a:txBody>
                  <a:tcPr marL="82296" marR="82296" marT="36576" marB="36576" anchor="ctr">
                    <a:solidFill>
                      <a:srgbClr val="F4F6F8"/>
                    </a:solidFill>
                    <a:lnL w="6350">
                      <a:solidFill>
                        <a:srgbClr val="D4DAE1"/>
                      </a:solidFill>
                    </a:lnL>
                    <a:lnR w="6350">
                      <a:solidFill>
                        <a:srgbClr val="D4DAE1"/>
                      </a:solidFill>
                    </a:lnR>
                    <a:lnT w="6350">
                      <a:solidFill>
                        <a:srgbClr val="D4DAE1"/>
                      </a:solidFill>
                    </a:lnT>
                    <a:lnB w="6350">
                      <a:solidFill>
                        <a:srgbClr val="D4DAE1"/>
                      </a:solidFill>
                    </a:lnB>
                  </a:tcPr>
                </a:tc>
              </a:tr>
              <a:tr h="384048">
                <a:tc>
                  <a:txBody>
                    <a:bodyPr wrap="square"/>
                    <a:lstStyle/>
                    <a:p>
                      <a:pPr algn="l"/>
                      <a:r>
                        <a:rPr sz="1150" b="0">
                          <a:solidFill>
                            <a:srgbClr val="17202A"/>
                          </a:solidFill>
                          <a:latin typeface="Segoe UI"/>
                        </a:rPr>
                        <a:t>teams</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r"/>
                      <a:r>
                        <a:rPr sz="1150" b="0">
                          <a:solidFill>
                            <a:srgbClr val="17202A"/>
                          </a:solidFill>
                          <a:latin typeface="Segoe UI"/>
                        </a:rPr>
                        <a:t>100</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r"/>
                      <a:r>
                        <a:rPr sz="1150" b="0">
                          <a:solidFill>
                            <a:srgbClr val="17202A"/>
                          </a:solidFill>
                          <a:latin typeface="Segoe UI"/>
                        </a:rPr>
                        <a:t>0</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r"/>
                      <a:r>
                        <a:rPr sz="1150" b="0">
                          <a:solidFill>
                            <a:srgbClr val="17202A"/>
                          </a:solidFill>
                          <a:latin typeface="Segoe UI"/>
                        </a:rPr>
                        <a:t>0.00%</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l"/>
                      <a:r>
                        <a:rPr sz="1150" b="0">
                          <a:solidFill>
                            <a:srgbClr val="2D7449"/>
                          </a:solidFill>
                          <a:latin typeface="Segoe UI Semibold"/>
                        </a:rPr>
                        <a:t>OK</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r>
              <a:tr h="384048">
                <a:tc>
                  <a:txBody>
                    <a:bodyPr wrap="square"/>
                    <a:lstStyle/>
                    <a:p>
                      <a:pPr algn="l"/>
                      <a:r>
                        <a:rPr sz="1150" b="0">
                          <a:solidFill>
                            <a:srgbClr val="17202A"/>
                          </a:solidFill>
                          <a:latin typeface="Segoe UI"/>
                        </a:rPr>
                        <a:t>competencies</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r"/>
                      <a:r>
                        <a:rPr sz="1150" b="0">
                          <a:solidFill>
                            <a:srgbClr val="17202A"/>
                          </a:solidFill>
                          <a:latin typeface="Segoe UI"/>
                        </a:rPr>
                        <a:t>40</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r"/>
                      <a:r>
                        <a:rPr sz="1150" b="0">
                          <a:solidFill>
                            <a:srgbClr val="17202A"/>
                          </a:solidFill>
                          <a:latin typeface="Segoe UI"/>
                        </a:rPr>
                        <a:t>0</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r"/>
                      <a:r>
                        <a:rPr sz="1150" b="0">
                          <a:solidFill>
                            <a:srgbClr val="17202A"/>
                          </a:solidFill>
                          <a:latin typeface="Segoe UI"/>
                        </a:rPr>
                        <a:t>0.00%</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l"/>
                      <a:r>
                        <a:rPr sz="1150" b="0">
                          <a:solidFill>
                            <a:srgbClr val="2D7449"/>
                          </a:solidFill>
                          <a:latin typeface="Segoe UI Semibold"/>
                        </a:rPr>
                        <a:t>OK</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r>
              <a:tr h="384048">
                <a:tc>
                  <a:txBody>
                    <a:bodyPr wrap="square"/>
                    <a:lstStyle/>
                    <a:p>
                      <a:pPr algn="l"/>
                      <a:r>
                        <a:rPr sz="1150" b="0">
                          <a:solidFill>
                            <a:srgbClr val="17202A"/>
                          </a:solidFill>
                          <a:latin typeface="Segoe UI"/>
                        </a:rPr>
                        <a:t>employees</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r"/>
                      <a:r>
                        <a:rPr sz="1150" b="0">
                          <a:solidFill>
                            <a:srgbClr val="17202A"/>
                          </a:solidFill>
                          <a:latin typeface="Segoe UI"/>
                        </a:rPr>
                        <a:t>2,000</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r"/>
                      <a:r>
                        <a:rPr sz="1150" b="0">
                          <a:solidFill>
                            <a:srgbClr val="17202A"/>
                          </a:solidFill>
                          <a:latin typeface="Segoe UI"/>
                        </a:rPr>
                        <a:t>0</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r"/>
                      <a:r>
                        <a:rPr sz="1150" b="0">
                          <a:solidFill>
                            <a:srgbClr val="17202A"/>
                          </a:solidFill>
                          <a:latin typeface="Segoe UI"/>
                        </a:rPr>
                        <a:t>0.00%</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l"/>
                      <a:r>
                        <a:rPr sz="1150" b="0">
                          <a:solidFill>
                            <a:srgbClr val="2D7449"/>
                          </a:solidFill>
                          <a:latin typeface="Segoe UI Semibold"/>
                        </a:rPr>
                        <a:t>OK</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r>
              <a:tr h="384048">
                <a:tc>
                  <a:txBody>
                    <a:bodyPr wrap="square"/>
                    <a:lstStyle/>
                    <a:p>
                      <a:pPr algn="l"/>
                      <a:r>
                        <a:rPr sz="1150" b="0">
                          <a:solidFill>
                            <a:srgbClr val="17202A"/>
                          </a:solidFill>
                          <a:latin typeface="Segoe UI"/>
                        </a:rPr>
                        <a:t>projects</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r"/>
                      <a:r>
                        <a:rPr sz="1150" b="0">
                          <a:solidFill>
                            <a:srgbClr val="17202A"/>
                          </a:solidFill>
                          <a:latin typeface="Segoe UI"/>
                        </a:rPr>
                        <a:t>33</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r"/>
                      <a:r>
                        <a:rPr sz="1150" b="0">
                          <a:solidFill>
                            <a:srgbClr val="17202A"/>
                          </a:solidFill>
                          <a:latin typeface="Segoe UI"/>
                        </a:rPr>
                        <a:t>0</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r"/>
                      <a:r>
                        <a:rPr sz="1150" b="0">
                          <a:solidFill>
                            <a:srgbClr val="17202A"/>
                          </a:solidFill>
                          <a:latin typeface="Segoe UI"/>
                        </a:rPr>
                        <a:t>0.00%</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l"/>
                      <a:r>
                        <a:rPr sz="1150" b="0">
                          <a:solidFill>
                            <a:srgbClr val="2D7449"/>
                          </a:solidFill>
                          <a:latin typeface="Segoe UI Semibold"/>
                        </a:rPr>
                        <a:t>OK</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r>
              <a:tr h="384048">
                <a:tc>
                  <a:txBody>
                    <a:bodyPr wrap="square"/>
                    <a:lstStyle/>
                    <a:p>
                      <a:pPr algn="l"/>
                      <a:r>
                        <a:rPr sz="1150" b="0">
                          <a:solidFill>
                            <a:srgbClr val="17202A"/>
                          </a:solidFill>
                          <a:latin typeface="Segoe UI"/>
                        </a:rPr>
                        <a:t>performance_reviews</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r"/>
                      <a:r>
                        <a:rPr sz="1150" b="0">
                          <a:solidFill>
                            <a:srgbClr val="17202A"/>
                          </a:solidFill>
                          <a:latin typeface="Segoe UI"/>
                        </a:rPr>
                        <a:t>4,000</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r"/>
                      <a:r>
                        <a:rPr sz="1150" b="0">
                          <a:solidFill>
                            <a:srgbClr val="17202A"/>
                          </a:solidFill>
                          <a:latin typeface="Segoe UI"/>
                        </a:rPr>
                        <a:t>0</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r"/>
                      <a:r>
                        <a:rPr sz="1150" b="0">
                          <a:solidFill>
                            <a:srgbClr val="17202A"/>
                          </a:solidFill>
                          <a:latin typeface="Segoe UI"/>
                        </a:rPr>
                        <a:t>0.00%</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l"/>
                      <a:r>
                        <a:rPr sz="1150" b="0">
                          <a:solidFill>
                            <a:srgbClr val="2D7449"/>
                          </a:solidFill>
                          <a:latin typeface="Segoe UI Semibold"/>
                        </a:rPr>
                        <a:t>OK</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r>
              <a:tr h="384048">
                <a:tc>
                  <a:txBody>
                    <a:bodyPr wrap="square"/>
                    <a:lstStyle/>
                    <a:p>
                      <a:pPr algn="l"/>
                      <a:r>
                        <a:rPr sz="1150" b="0">
                          <a:solidFill>
                            <a:srgbClr val="17202A"/>
                          </a:solidFill>
                          <a:latin typeface="Segoe UI"/>
                        </a:rPr>
                        <a:t>competency_assessments</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r"/>
                      <a:r>
                        <a:rPr sz="1150" b="0">
                          <a:solidFill>
                            <a:srgbClr val="17202A"/>
                          </a:solidFill>
                          <a:latin typeface="Segoe UI"/>
                        </a:rPr>
                        <a:t>4,000</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r"/>
                      <a:r>
                        <a:rPr sz="1150" b="0">
                          <a:solidFill>
                            <a:srgbClr val="17202A"/>
                          </a:solidFill>
                          <a:latin typeface="Segoe UI"/>
                        </a:rPr>
                        <a:t>0</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r"/>
                      <a:r>
                        <a:rPr sz="1150" b="0">
                          <a:solidFill>
                            <a:srgbClr val="17202A"/>
                          </a:solidFill>
                          <a:latin typeface="Segoe UI"/>
                        </a:rPr>
                        <a:t>0.00%</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l"/>
                      <a:r>
                        <a:rPr sz="1150" b="0">
                          <a:solidFill>
                            <a:srgbClr val="2D7449"/>
                          </a:solidFill>
                          <a:latin typeface="Segoe UI Semibold"/>
                        </a:rPr>
                        <a:t>OK</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r>
              <a:tr h="384048">
                <a:tc>
                  <a:txBody>
                    <a:bodyPr wrap="square"/>
                    <a:lstStyle/>
                    <a:p>
                      <a:pPr algn="l"/>
                      <a:r>
                        <a:rPr sz="1150" b="0">
                          <a:solidFill>
                            <a:srgbClr val="17202A"/>
                          </a:solidFill>
                          <a:latin typeface="Segoe UI"/>
                        </a:rPr>
                        <a:t>talent_review</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r"/>
                      <a:r>
                        <a:rPr sz="1150" b="0">
                          <a:solidFill>
                            <a:srgbClr val="17202A"/>
                          </a:solidFill>
                          <a:latin typeface="Segoe UI"/>
                        </a:rPr>
                        <a:t>2,000</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r"/>
                      <a:r>
                        <a:rPr sz="1150" b="0">
                          <a:solidFill>
                            <a:srgbClr val="17202A"/>
                          </a:solidFill>
                          <a:latin typeface="Segoe UI"/>
                        </a:rPr>
                        <a:t>0</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r"/>
                      <a:r>
                        <a:rPr sz="1150" b="0">
                          <a:solidFill>
                            <a:srgbClr val="17202A"/>
                          </a:solidFill>
                          <a:latin typeface="Segoe UI"/>
                        </a:rPr>
                        <a:t>0.00%</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l"/>
                      <a:r>
                        <a:rPr sz="1150" b="0">
                          <a:solidFill>
                            <a:srgbClr val="2D7449"/>
                          </a:solidFill>
                          <a:latin typeface="Segoe UI Semibold"/>
                        </a:rPr>
                        <a:t>OK</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r>
              <a:tr h="384048">
                <a:tc>
                  <a:txBody>
                    <a:bodyPr wrap="square"/>
                    <a:lstStyle/>
                    <a:p>
                      <a:pPr algn="l"/>
                      <a:r>
                        <a:rPr sz="1150" b="0">
                          <a:solidFill>
                            <a:srgbClr val="17202A"/>
                          </a:solidFill>
                          <a:latin typeface="Segoe UI"/>
                        </a:rPr>
                        <a:t>learning_activity</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r"/>
                      <a:r>
                        <a:rPr sz="1150" b="0">
                          <a:solidFill>
                            <a:srgbClr val="17202A"/>
                          </a:solidFill>
                          <a:latin typeface="Segoe UI"/>
                        </a:rPr>
                        <a:t>29,868</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r"/>
                      <a:r>
                        <a:rPr sz="1150" b="0">
                          <a:solidFill>
                            <a:srgbClr val="17202A"/>
                          </a:solidFill>
                          <a:latin typeface="Segoe UI"/>
                        </a:rPr>
                        <a:t>294</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r"/>
                      <a:r>
                        <a:rPr sz="1150" b="0">
                          <a:solidFill>
                            <a:srgbClr val="17202A"/>
                          </a:solidFill>
                          <a:latin typeface="Segoe UI"/>
                        </a:rPr>
                        <a:t>0.98%</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l"/>
                      <a:r>
                        <a:rPr sz="1150" b="0">
                          <a:solidFill>
                            <a:srgbClr val="2D7449"/>
                          </a:solidFill>
                          <a:latin typeface="Segoe UI Semibold"/>
                        </a:rPr>
                        <a:t>OK</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r>
            </a:tbl>
          </a:graphicData>
        </a:graphic>
      </p:graphicFrame>
      <p:sp>
        <p:nvSpPr>
          <p:cNvPr id="5" name="TextBox 4"/>
          <p:cNvSpPr txBox="1"/>
          <p:nvPr/>
        </p:nvSpPr>
        <p:spPr>
          <a:xfrm>
            <a:off x="548640" y="5029200"/>
            <a:ext cx="6309360" cy="365760"/>
          </a:xfrm>
          <a:prstGeom prst="rect">
            <a:avLst/>
          </a:prstGeom>
          <a:noFill/>
        </p:spPr>
        <p:txBody>
          <a:bodyPr wrap="square" anchor="t" lIns="18288" rIns="18288" tIns="18288" bIns="18288">
            <a:spAutoFit/>
          </a:bodyPr>
          <a:lstStyle/>
          <a:p>
            <a:pPr algn="l">
              <a:spcAft>
                <a:spcPts val="400"/>
              </a:spcAft>
            </a:pPr>
            <a:r>
              <a:rPr sz="1200" b="0">
                <a:solidFill>
                  <a:srgbClr val="4B5765"/>
                </a:solidFill>
                <a:latin typeface="Segoe UI"/>
              </a:rPr>
              <a:t>Last cloud run: 0 alerts. Highest rate: learning_activity 0.98%.</a:t>
            </a:r>
          </a:p>
        </p:txBody>
      </p:sp>
      <p:sp>
        <p:nvSpPr>
          <p:cNvPr id="6" name="TextBox 5"/>
          <p:cNvSpPr txBox="1"/>
          <p:nvPr/>
        </p:nvSpPr>
        <p:spPr>
          <a:xfrm>
            <a:off x="7223760" y="1444752"/>
            <a:ext cx="4389120" cy="365760"/>
          </a:xfrm>
          <a:prstGeom prst="rect">
            <a:avLst/>
          </a:prstGeom>
          <a:noFill/>
        </p:spPr>
        <p:txBody>
          <a:bodyPr wrap="square" anchor="t" lIns="18288" rIns="18288" tIns="18288" bIns="18288">
            <a:spAutoFit/>
          </a:bodyPr>
          <a:lstStyle/>
          <a:p>
            <a:pPr algn="l">
              <a:spcAft>
                <a:spcPts val="400"/>
              </a:spcAft>
            </a:pPr>
            <a:r>
              <a:rPr sz="1400" b="0">
                <a:solidFill>
                  <a:srgbClr val="17202A"/>
                </a:solidFill>
                <a:latin typeface="Segoe UI Semibold"/>
              </a:rPr>
              <a:t>Alert rules (configurable)</a:t>
            </a:r>
          </a:p>
        </p:txBody>
      </p:sp>
      <p:sp>
        <p:nvSpPr>
          <p:cNvPr id="7" name="Rounded Rectangle 6"/>
          <p:cNvSpPr/>
          <p:nvPr/>
        </p:nvSpPr>
        <p:spPr>
          <a:xfrm>
            <a:off x="7223760" y="1874519"/>
            <a:ext cx="4416552" cy="786384"/>
          </a:xfrm>
          <a:prstGeom prst="roundRect">
            <a:avLst>
              <a:gd name="adj" fmla="val 6000"/>
            </a:avLst>
          </a:prstGeom>
          <a:solidFill>
            <a:srgbClr val="DFF0E5"/>
          </a:solidFill>
          <a:ln>
            <a:noFill/>
          </a:ln>
        </p:spPr>
        <p:txBody>
          <a:bodyPr rtlCol="0" anchor="ctr"/>
          <a:lstStyle/>
          <a:p/>
        </p:txBody>
      </p:sp>
      <p:sp>
        <p:nvSpPr>
          <p:cNvPr id="8" name="TextBox 7"/>
          <p:cNvSpPr txBox="1"/>
          <p:nvPr/>
        </p:nvSpPr>
        <p:spPr>
          <a:xfrm>
            <a:off x="7406640" y="1965960"/>
            <a:ext cx="1371600" cy="274320"/>
          </a:xfrm>
          <a:prstGeom prst="rect">
            <a:avLst/>
          </a:prstGeom>
          <a:noFill/>
        </p:spPr>
        <p:txBody>
          <a:bodyPr wrap="square" anchor="t" lIns="18288" rIns="18288" tIns="18288" bIns="18288">
            <a:spAutoFit/>
          </a:bodyPr>
          <a:lstStyle/>
          <a:p>
            <a:pPr algn="l">
              <a:spcAft>
                <a:spcPts val="400"/>
              </a:spcAft>
            </a:pPr>
            <a:r>
              <a:rPr sz="1200" b="0">
                <a:solidFill>
                  <a:srgbClr val="2D7449"/>
                </a:solidFill>
                <a:latin typeface="Segoe UI Semibold"/>
              </a:rPr>
              <a:t>OK</a:t>
            </a:r>
          </a:p>
        </p:txBody>
      </p:sp>
      <p:sp>
        <p:nvSpPr>
          <p:cNvPr id="9" name="TextBox 8"/>
          <p:cNvSpPr txBox="1"/>
          <p:nvPr/>
        </p:nvSpPr>
        <p:spPr>
          <a:xfrm>
            <a:off x="8778240" y="1965960"/>
            <a:ext cx="2743200" cy="274320"/>
          </a:xfrm>
          <a:prstGeom prst="rect">
            <a:avLst/>
          </a:prstGeom>
          <a:noFill/>
        </p:spPr>
        <p:txBody>
          <a:bodyPr wrap="square" anchor="t" lIns="18288" rIns="18288" tIns="18288" bIns="18288">
            <a:spAutoFit/>
          </a:bodyPr>
          <a:lstStyle/>
          <a:p>
            <a:pPr algn="l">
              <a:spcAft>
                <a:spcPts val="400"/>
              </a:spcAft>
            </a:pPr>
            <a:r>
              <a:rPr sz="1200" b="0">
                <a:solidFill>
                  <a:srgbClr val="17202A"/>
                </a:solidFill>
                <a:latin typeface="Segoe UI Semibold"/>
              </a:rPr>
              <a:t>below 5%</a:t>
            </a:r>
          </a:p>
        </p:txBody>
      </p:sp>
      <p:sp>
        <p:nvSpPr>
          <p:cNvPr id="10" name="TextBox 9"/>
          <p:cNvSpPr txBox="1"/>
          <p:nvPr/>
        </p:nvSpPr>
        <p:spPr>
          <a:xfrm>
            <a:off x="7406640" y="2286000"/>
            <a:ext cx="4114800" cy="365760"/>
          </a:xfrm>
          <a:prstGeom prst="rect">
            <a:avLst/>
          </a:prstGeom>
          <a:noFill/>
        </p:spPr>
        <p:txBody>
          <a:bodyPr wrap="square" anchor="t" lIns="18288" rIns="18288" tIns="18288" bIns="18288">
            <a:spAutoFit/>
          </a:bodyPr>
          <a:lstStyle/>
          <a:p>
            <a:pPr algn="l">
              <a:spcAft>
                <a:spcPts val="400"/>
              </a:spcAft>
            </a:pPr>
            <a:r>
              <a:rPr sz="1100" b="0">
                <a:solidFill>
                  <a:srgbClr val="4B5765"/>
                </a:solidFill>
                <a:latin typeface="Segoe UI"/>
              </a:rPr>
              <a:t>publish normally</a:t>
            </a:r>
          </a:p>
        </p:txBody>
      </p:sp>
      <p:sp>
        <p:nvSpPr>
          <p:cNvPr id="11" name="Rounded Rectangle 10"/>
          <p:cNvSpPr/>
          <p:nvPr/>
        </p:nvSpPr>
        <p:spPr>
          <a:xfrm>
            <a:off x="7223760" y="2770632"/>
            <a:ext cx="4416552" cy="786384"/>
          </a:xfrm>
          <a:prstGeom prst="roundRect">
            <a:avLst>
              <a:gd name="adj" fmla="val 6000"/>
            </a:avLst>
          </a:prstGeom>
          <a:solidFill>
            <a:srgbClr val="FBF0D9"/>
          </a:solidFill>
          <a:ln>
            <a:noFill/>
          </a:ln>
        </p:spPr>
        <p:txBody>
          <a:bodyPr rtlCol="0" anchor="ctr"/>
          <a:lstStyle/>
          <a:p/>
        </p:txBody>
      </p:sp>
      <p:sp>
        <p:nvSpPr>
          <p:cNvPr id="12" name="TextBox 11"/>
          <p:cNvSpPr txBox="1"/>
          <p:nvPr/>
        </p:nvSpPr>
        <p:spPr>
          <a:xfrm>
            <a:off x="7406640" y="2862072"/>
            <a:ext cx="1371600" cy="274320"/>
          </a:xfrm>
          <a:prstGeom prst="rect">
            <a:avLst/>
          </a:prstGeom>
          <a:noFill/>
        </p:spPr>
        <p:txBody>
          <a:bodyPr wrap="square" anchor="t" lIns="18288" rIns="18288" tIns="18288" bIns="18288">
            <a:spAutoFit/>
          </a:bodyPr>
          <a:lstStyle/>
          <a:p>
            <a:pPr algn="l">
              <a:spcAft>
                <a:spcPts val="400"/>
              </a:spcAft>
            </a:pPr>
            <a:r>
              <a:rPr sz="1200" b="0">
                <a:solidFill>
                  <a:srgbClr val="B7791F"/>
                </a:solidFill>
                <a:latin typeface="Segoe UI Semibold"/>
              </a:rPr>
              <a:t>WARNING</a:t>
            </a:r>
          </a:p>
        </p:txBody>
      </p:sp>
      <p:sp>
        <p:nvSpPr>
          <p:cNvPr id="13" name="TextBox 12"/>
          <p:cNvSpPr txBox="1"/>
          <p:nvPr/>
        </p:nvSpPr>
        <p:spPr>
          <a:xfrm>
            <a:off x="8778240" y="2862072"/>
            <a:ext cx="2743200" cy="274320"/>
          </a:xfrm>
          <a:prstGeom prst="rect">
            <a:avLst/>
          </a:prstGeom>
          <a:noFill/>
        </p:spPr>
        <p:txBody>
          <a:bodyPr wrap="square" anchor="t" lIns="18288" rIns="18288" tIns="18288" bIns="18288">
            <a:spAutoFit/>
          </a:bodyPr>
          <a:lstStyle/>
          <a:p>
            <a:pPr algn="l">
              <a:spcAft>
                <a:spcPts val="400"/>
              </a:spcAft>
            </a:pPr>
            <a:r>
              <a:rPr sz="1200" b="0">
                <a:solidFill>
                  <a:srgbClr val="17202A"/>
                </a:solidFill>
                <a:latin typeface="Segoe UI Semibold"/>
              </a:rPr>
              <a:t>from 5%</a:t>
            </a:r>
          </a:p>
        </p:txBody>
      </p:sp>
      <p:sp>
        <p:nvSpPr>
          <p:cNvPr id="14" name="TextBox 13"/>
          <p:cNvSpPr txBox="1"/>
          <p:nvPr/>
        </p:nvSpPr>
        <p:spPr>
          <a:xfrm>
            <a:off x="7406640" y="3182112"/>
            <a:ext cx="4114800" cy="365760"/>
          </a:xfrm>
          <a:prstGeom prst="rect">
            <a:avLst/>
          </a:prstGeom>
          <a:noFill/>
        </p:spPr>
        <p:txBody>
          <a:bodyPr wrap="square" anchor="t" lIns="18288" rIns="18288" tIns="18288" bIns="18288">
            <a:spAutoFit/>
          </a:bodyPr>
          <a:lstStyle/>
          <a:p>
            <a:pPr algn="l">
              <a:spcAft>
                <a:spcPts val="400"/>
              </a:spcAft>
            </a:pPr>
            <a:r>
              <a:rPr sz="1100" b="0">
                <a:solidFill>
                  <a:srgbClr val="4B5765"/>
                </a:solidFill>
                <a:latin typeface="Segoe UI"/>
              </a:rPr>
              <a:t>publish, and alert in log, report, manifest and dashboard</a:t>
            </a:r>
          </a:p>
        </p:txBody>
      </p:sp>
      <p:sp>
        <p:nvSpPr>
          <p:cNvPr id="15" name="Rounded Rectangle 14"/>
          <p:cNvSpPr/>
          <p:nvPr/>
        </p:nvSpPr>
        <p:spPr>
          <a:xfrm>
            <a:off x="7223760" y="3666744"/>
            <a:ext cx="4416552" cy="786384"/>
          </a:xfrm>
          <a:prstGeom prst="roundRect">
            <a:avLst>
              <a:gd name="adj" fmla="val 6000"/>
            </a:avLst>
          </a:prstGeom>
          <a:solidFill>
            <a:srgbClr val="F8E2DC"/>
          </a:solidFill>
          <a:ln>
            <a:noFill/>
          </a:ln>
        </p:spPr>
        <p:txBody>
          <a:bodyPr rtlCol="0" anchor="ctr"/>
          <a:lstStyle/>
          <a:p/>
        </p:txBody>
      </p:sp>
      <p:sp>
        <p:nvSpPr>
          <p:cNvPr id="16" name="TextBox 15"/>
          <p:cNvSpPr txBox="1"/>
          <p:nvPr/>
        </p:nvSpPr>
        <p:spPr>
          <a:xfrm>
            <a:off x="7406640" y="3758183"/>
            <a:ext cx="1371600" cy="274320"/>
          </a:xfrm>
          <a:prstGeom prst="rect">
            <a:avLst/>
          </a:prstGeom>
          <a:noFill/>
        </p:spPr>
        <p:txBody>
          <a:bodyPr wrap="square" anchor="t" lIns="18288" rIns="18288" tIns="18288" bIns="18288">
            <a:spAutoFit/>
          </a:bodyPr>
          <a:lstStyle/>
          <a:p>
            <a:pPr algn="l">
              <a:spcAft>
                <a:spcPts val="400"/>
              </a:spcAft>
            </a:pPr>
            <a:r>
              <a:rPr sz="1200" b="0">
                <a:solidFill>
                  <a:srgbClr val="B0412D"/>
                </a:solidFill>
                <a:latin typeface="Segoe UI Semibold"/>
              </a:rPr>
              <a:t>CRITICAL</a:t>
            </a:r>
          </a:p>
        </p:txBody>
      </p:sp>
      <p:sp>
        <p:nvSpPr>
          <p:cNvPr id="17" name="TextBox 16"/>
          <p:cNvSpPr txBox="1"/>
          <p:nvPr/>
        </p:nvSpPr>
        <p:spPr>
          <a:xfrm>
            <a:off x="8778240" y="3758183"/>
            <a:ext cx="2743200" cy="274320"/>
          </a:xfrm>
          <a:prstGeom prst="rect">
            <a:avLst/>
          </a:prstGeom>
          <a:noFill/>
        </p:spPr>
        <p:txBody>
          <a:bodyPr wrap="square" anchor="t" lIns="18288" rIns="18288" tIns="18288" bIns="18288">
            <a:spAutoFit/>
          </a:bodyPr>
          <a:lstStyle/>
          <a:p>
            <a:pPr algn="l">
              <a:spcAft>
                <a:spcPts val="400"/>
              </a:spcAft>
            </a:pPr>
            <a:r>
              <a:rPr sz="1200" b="0">
                <a:solidFill>
                  <a:srgbClr val="17202A"/>
                </a:solidFill>
                <a:latin typeface="Segoe UI Semibold"/>
              </a:rPr>
              <a:t>from 50%</a:t>
            </a:r>
          </a:p>
        </p:txBody>
      </p:sp>
      <p:sp>
        <p:nvSpPr>
          <p:cNvPr id="18" name="TextBox 17"/>
          <p:cNvSpPr txBox="1"/>
          <p:nvPr/>
        </p:nvSpPr>
        <p:spPr>
          <a:xfrm>
            <a:off x="7406640" y="4078224"/>
            <a:ext cx="4114800" cy="365760"/>
          </a:xfrm>
          <a:prstGeom prst="rect">
            <a:avLst/>
          </a:prstGeom>
          <a:noFill/>
        </p:spPr>
        <p:txBody>
          <a:bodyPr wrap="square" anchor="t" lIns="18288" rIns="18288" tIns="18288" bIns="18288">
            <a:spAutoFit/>
          </a:bodyPr>
          <a:lstStyle/>
          <a:p>
            <a:pPr algn="l">
              <a:spcAft>
                <a:spcPts val="400"/>
              </a:spcAft>
            </a:pPr>
            <a:r>
              <a:rPr sz="1100" b="0">
                <a:solidFill>
                  <a:srgbClr val="4B5765"/>
                </a:solidFill>
                <a:latin typeface="Segoe UI"/>
              </a:rPr>
              <a:t>keep previous Silver and Gold, stop the run, alert</a:t>
            </a:r>
          </a:p>
        </p:txBody>
      </p:sp>
      <p:sp>
        <p:nvSpPr>
          <p:cNvPr id="19" name="Rounded Rectangle 18"/>
          <p:cNvSpPr/>
          <p:nvPr/>
        </p:nvSpPr>
        <p:spPr>
          <a:xfrm>
            <a:off x="7223760" y="4617720"/>
            <a:ext cx="4416552" cy="1554480"/>
          </a:xfrm>
          <a:prstGeom prst="roundRect">
            <a:avLst>
              <a:gd name="adj" fmla="val 6000"/>
            </a:avLst>
          </a:prstGeom>
          <a:solidFill>
            <a:srgbClr val="F4F6F8"/>
          </a:solidFill>
          <a:ln>
            <a:noFill/>
          </a:ln>
        </p:spPr>
        <p:txBody>
          <a:bodyPr rtlCol="0" anchor="ctr"/>
          <a:lstStyle/>
          <a:p/>
        </p:txBody>
      </p:sp>
      <p:sp>
        <p:nvSpPr>
          <p:cNvPr id="20" name="TextBox 19"/>
          <p:cNvSpPr txBox="1"/>
          <p:nvPr/>
        </p:nvSpPr>
        <p:spPr>
          <a:xfrm>
            <a:off x="7406640" y="4709160"/>
            <a:ext cx="4114800" cy="1417320"/>
          </a:xfrm>
          <a:prstGeom prst="rect">
            <a:avLst/>
          </a:prstGeom>
          <a:noFill/>
        </p:spPr>
        <p:txBody>
          <a:bodyPr wrap="square" anchor="t" lIns="18288" rIns="18288" tIns="18288" bIns="18288">
            <a:spAutoFit/>
          </a:bodyPr>
          <a:lstStyle/>
          <a:p>
            <a:pPr algn="l">
              <a:spcAft>
                <a:spcPts val="500"/>
              </a:spcAft>
            </a:pPr>
            <a:r>
              <a:rPr sz="1100" b="0">
                <a:solidFill>
                  <a:srgbClr val="17202A"/>
                </a:solidFill>
                <a:latin typeface="Segoe UI Semibold"/>
              </a:rPr>
              <a:t>Example: 500 of 1,000 rows quarantined = 50% → critical</a:t>
            </a:r>
          </a:p>
          <a:p>
            <a:pPr algn="l">
              <a:spcAft>
                <a:spcPts val="500"/>
              </a:spcAft>
            </a:pPr>
            <a:r>
              <a:rPr sz="1100" b="0">
                <a:solidFill>
                  <a:srgbClr val="4B5765"/>
                </a:solidFill>
                <a:latin typeface="Segoe UI"/>
              </a:rPr>
              <a:t>Proven by an end-to-end test: with the limit lowered to 0.5%, the real batch (about 1%) trips it; the run fails and the previous Silver data stays.</a:t>
            </a:r>
          </a:p>
        </p:txBody>
      </p:sp>
      <p:cxnSp>
        <p:nvCxnSpPr>
          <p:cNvPr id="21" name="Connector 20"/>
          <p:cNvCxnSpPr/>
          <p:nvPr/>
        </p:nvCxnSpPr>
        <p:spPr>
          <a:xfrm>
            <a:off x="548640" y="6400800"/>
            <a:ext cx="11094415" cy="0"/>
          </a:xfrm>
          <a:prstGeom prst="line">
            <a:avLst/>
          </a:prstGeom>
          <a:ln w="9525">
            <a:solidFill>
              <a:srgbClr val="D4DAE1"/>
            </a:solidFill>
          </a:ln>
        </p:spPr>
      </p:cxnSp>
      <p:sp>
        <p:nvSpPr>
          <p:cNvPr id="22" name="TextBox 21"/>
          <p:cNvSpPr txBox="1"/>
          <p:nvPr/>
        </p:nvSpPr>
        <p:spPr>
          <a:xfrm>
            <a:off x="548640" y="6455664"/>
            <a:ext cx="7315200" cy="274320"/>
          </a:xfrm>
          <a:prstGeom prst="rect">
            <a:avLst/>
          </a:prstGeom>
          <a:noFill/>
        </p:spPr>
        <p:txBody>
          <a:bodyPr wrap="square" anchor="t" lIns="18288" rIns="18288" tIns="18288" bIns="18288">
            <a:spAutoFit/>
          </a:bodyPr>
          <a:lstStyle/>
          <a:p>
            <a:pPr algn="l">
              <a:spcAft>
                <a:spcPts val="400"/>
              </a:spcAft>
            </a:pPr>
            <a:r>
              <a:rPr sz="900" b="0">
                <a:solidFill>
                  <a:srgbClr val="8A94A0"/>
                </a:solidFill>
                <a:latin typeface="Segoe UI"/>
              </a:rPr>
              <a:t>ACME Talent Lake  ·  Data Engineer track  ·  Coding Workshop 2026</a:t>
            </a:r>
          </a:p>
        </p:txBody>
      </p:sp>
      <p:sp>
        <p:nvSpPr>
          <p:cNvPr id="23" name="TextBox 22"/>
          <p:cNvSpPr txBox="1"/>
          <p:nvPr/>
        </p:nvSpPr>
        <p:spPr>
          <a:xfrm>
            <a:off x="10698480" y="6455664"/>
            <a:ext cx="941832" cy="274320"/>
          </a:xfrm>
          <a:prstGeom prst="rect">
            <a:avLst/>
          </a:prstGeom>
          <a:noFill/>
        </p:spPr>
        <p:txBody>
          <a:bodyPr wrap="square" anchor="t" lIns="18288" rIns="18288" tIns="18288" bIns="18288">
            <a:spAutoFit/>
          </a:bodyPr>
          <a:lstStyle/>
          <a:p>
            <a:pPr algn="r">
              <a:spcAft>
                <a:spcPts val="400"/>
              </a:spcAft>
            </a:pPr>
            <a:r>
              <a:rPr sz="900" b="0">
                <a:solidFill>
                  <a:srgbClr val="8A94A0"/>
                </a:solidFill>
                <a:latin typeface="Segoe UI"/>
              </a:rPr>
              <a:t>5 / 11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8229600" cy="274320"/>
          </a:xfrm>
          <a:prstGeom prst="rect">
            <a:avLst/>
          </a:prstGeom>
          <a:noFill/>
        </p:spPr>
        <p:txBody>
          <a:bodyPr wrap="square" anchor="t" lIns="18288" rIns="18288" tIns="18288" bIns="18288">
            <a:spAutoFit/>
          </a:bodyPr>
          <a:lstStyle/>
          <a:p>
            <a:pPr algn="l">
              <a:spcAft>
                <a:spcPts val="400"/>
              </a:spcAft>
            </a:pPr>
            <a:r>
              <a:rPr sz="1100" b="0">
                <a:solidFill>
                  <a:srgbClr val="1D4E89"/>
                </a:solidFill>
                <a:latin typeface="Segoe UI Semibold"/>
              </a:rPr>
              <a:t>RE-RUNS &amp; CHANGE DETECTION</a:t>
            </a:r>
          </a:p>
        </p:txBody>
      </p:sp>
      <p:sp>
        <p:nvSpPr>
          <p:cNvPr id="3" name="TextBox 2"/>
          <p:cNvSpPr txBox="1"/>
          <p:nvPr/>
        </p:nvSpPr>
        <p:spPr>
          <a:xfrm>
            <a:off x="548640" y="566928"/>
            <a:ext cx="11064240" cy="731520"/>
          </a:xfrm>
          <a:prstGeom prst="rect">
            <a:avLst/>
          </a:prstGeom>
          <a:noFill/>
        </p:spPr>
        <p:txBody>
          <a:bodyPr wrap="square" anchor="t" lIns="18288" rIns="18288" tIns="18288" bIns="18288">
            <a:spAutoFit/>
          </a:bodyPr>
          <a:lstStyle/>
          <a:p>
            <a:pPr algn="l">
              <a:spcAft>
                <a:spcPts val="400"/>
              </a:spcAft>
            </a:pPr>
            <a:r>
              <a:rPr sz="2600" b="0">
                <a:solidFill>
                  <a:srgbClr val="17202A"/>
                </a:solidFill>
                <a:latin typeface="Segoe UI Semibold"/>
              </a:rPr>
              <a:t>Re-running with unchanged data repeats no work</a:t>
            </a:r>
          </a:p>
        </p:txBody>
      </p:sp>
      <p:sp>
        <p:nvSpPr>
          <p:cNvPr id="4" name="Rounded Rectangle 3"/>
          <p:cNvSpPr/>
          <p:nvPr/>
        </p:nvSpPr>
        <p:spPr>
          <a:xfrm>
            <a:off x="548640" y="1463040"/>
            <a:ext cx="5394960" cy="548640"/>
          </a:xfrm>
          <a:prstGeom prst="roundRect">
            <a:avLst>
              <a:gd name="adj" fmla="val 6000"/>
            </a:avLst>
          </a:prstGeom>
          <a:solidFill>
            <a:srgbClr val="F4F6F8"/>
          </a:solidFill>
          <a:ln>
            <a:noFill/>
          </a:ln>
        </p:spPr>
        <p:txBody>
          <a:bodyPr rtlCol="0" anchor="ctr"/>
          <a:lstStyle/>
          <a:p/>
        </p:txBody>
      </p:sp>
      <p:sp>
        <p:nvSpPr>
          <p:cNvPr id="5" name="TextBox 4"/>
          <p:cNvSpPr txBox="1"/>
          <p:nvPr/>
        </p:nvSpPr>
        <p:spPr>
          <a:xfrm>
            <a:off x="731520" y="1554480"/>
            <a:ext cx="5029200" cy="320040"/>
          </a:xfrm>
          <a:prstGeom prst="rect">
            <a:avLst/>
          </a:prstGeom>
          <a:noFill/>
        </p:spPr>
        <p:txBody>
          <a:bodyPr wrap="square" anchor="t" lIns="18288" rIns="18288" tIns="18288" bIns="18288">
            <a:spAutoFit/>
          </a:bodyPr>
          <a:lstStyle/>
          <a:p>
            <a:pPr algn="l">
              <a:spcAft>
                <a:spcPts val="400"/>
              </a:spcAft>
            </a:pPr>
            <a:r>
              <a:rPr sz="1300" b="0">
                <a:solidFill>
                  <a:srgbClr val="17202A"/>
                </a:solidFill>
                <a:latin typeface="Segoe UI Semibold"/>
              </a:rPr>
              <a:t>Run starts</a:t>
            </a:r>
          </a:p>
        </p:txBody>
      </p:sp>
      <p:cxnSp>
        <p:nvCxnSpPr>
          <p:cNvPr id="6" name="Connector 5"/>
          <p:cNvCxnSpPr/>
          <p:nvPr/>
        </p:nvCxnSpPr>
        <p:spPr>
          <a:xfrm>
            <a:off x="3246120" y="2011680"/>
            <a:ext cx="0" cy="182880"/>
          </a:xfrm>
          <a:prstGeom prst="line">
            <a:avLst/>
          </a:prstGeom>
          <a:ln w="19050">
            <a:solidFill>
              <a:srgbClr val="4B5765"/>
            </a:solidFill>
            <a:tailEnd type="triangle" w="med" len="med"/>
          </a:ln>
        </p:spPr>
      </p:cxnSp>
      <p:sp>
        <p:nvSpPr>
          <p:cNvPr id="7" name="Rounded Rectangle 6"/>
          <p:cNvSpPr/>
          <p:nvPr/>
        </p:nvSpPr>
        <p:spPr>
          <a:xfrm>
            <a:off x="548640" y="2194560"/>
            <a:ext cx="5394960" cy="1234440"/>
          </a:xfrm>
          <a:prstGeom prst="roundRect">
            <a:avLst>
              <a:gd name="adj" fmla="val 6000"/>
            </a:avLst>
          </a:prstGeom>
          <a:solidFill>
            <a:srgbClr val="FFFFFF"/>
          </a:solidFill>
          <a:ln w="12700">
            <a:solidFill>
              <a:srgbClr val="D4DAE1"/>
            </a:solidFill>
          </a:ln>
        </p:spPr>
        <p:txBody>
          <a:bodyPr rtlCol="0" anchor="ctr"/>
          <a:lstStyle/>
          <a:p/>
        </p:txBody>
      </p:sp>
      <p:sp>
        <p:nvSpPr>
          <p:cNvPr id="8" name="TextBox 7"/>
          <p:cNvSpPr txBox="1"/>
          <p:nvPr/>
        </p:nvSpPr>
        <p:spPr>
          <a:xfrm>
            <a:off x="731520" y="2286000"/>
            <a:ext cx="5029200" cy="320040"/>
          </a:xfrm>
          <a:prstGeom prst="rect">
            <a:avLst/>
          </a:prstGeom>
          <a:noFill/>
        </p:spPr>
        <p:txBody>
          <a:bodyPr wrap="square" anchor="t" lIns="18288" rIns="18288" tIns="18288" bIns="18288">
            <a:spAutoFit/>
          </a:bodyPr>
          <a:lstStyle/>
          <a:p>
            <a:pPr algn="l">
              <a:spcAft>
                <a:spcPts val="400"/>
              </a:spcAft>
            </a:pPr>
            <a:r>
              <a:rPr sz="1300" b="0">
                <a:solidFill>
                  <a:srgbClr val="17202A"/>
                </a:solidFill>
                <a:latin typeface="Segoe UI Semibold"/>
              </a:rPr>
              <a:t>Change check, per source</a:t>
            </a:r>
          </a:p>
        </p:txBody>
      </p:sp>
      <p:sp>
        <p:nvSpPr>
          <p:cNvPr id="9" name="TextBox 8"/>
          <p:cNvSpPr txBox="1"/>
          <p:nvPr/>
        </p:nvSpPr>
        <p:spPr>
          <a:xfrm>
            <a:off x="731520" y="2633472"/>
            <a:ext cx="5029200" cy="777240"/>
          </a:xfrm>
          <a:prstGeom prst="rect">
            <a:avLst/>
          </a:prstGeom>
          <a:noFill/>
        </p:spPr>
        <p:txBody>
          <a:bodyPr wrap="square" anchor="t" lIns="18288" rIns="18288" tIns="18288" bIns="18288">
            <a:spAutoFit/>
          </a:bodyPr>
          <a:lstStyle/>
          <a:p>
            <a:pPr algn="l">
              <a:spcAft>
                <a:spcPts val="400"/>
              </a:spcAft>
            </a:pPr>
            <a:r>
              <a:rPr sz="1150" b="0">
                <a:solidFill>
                  <a:srgbClr val="17202A"/>
                </a:solidFill>
                <a:latin typeface="Segoe UI Semibold"/>
              </a:rPr>
              <a:t>S3 files  </a:t>
            </a:r>
            <a:r>
              <a:rPr sz="1150" b="0">
                <a:solidFill>
                  <a:srgbClr val="4B5765"/>
                </a:solidFill>
                <a:latin typeface="Segoe UI"/>
              </a:rPr>
              <a:t>ETag vs the _state watermark</a:t>
            </a:r>
          </a:p>
          <a:p>
            <a:pPr algn="l">
              <a:spcAft>
                <a:spcPts val="400"/>
              </a:spcAft>
            </a:pPr>
            <a:r>
              <a:rPr sz="1150" b="0">
                <a:solidFill>
                  <a:srgbClr val="17202A"/>
                </a:solidFill>
                <a:latin typeface="Segoe UI Semibold"/>
              </a:rPr>
              <a:t>PostgreSQL tables  </a:t>
            </a:r>
            <a:r>
              <a:rPr sz="1150" b="0">
                <a:solidFill>
                  <a:srgbClr val="4B5765"/>
                </a:solidFill>
                <a:latin typeface="Segoe UI"/>
              </a:rPr>
              <a:t>export checksum vs last Bronze manifest</a:t>
            </a:r>
          </a:p>
        </p:txBody>
      </p:sp>
      <p:cxnSp>
        <p:nvCxnSpPr>
          <p:cNvPr id="10" name="Connector 9"/>
          <p:cNvCxnSpPr/>
          <p:nvPr/>
        </p:nvCxnSpPr>
        <p:spPr>
          <a:xfrm>
            <a:off x="1874519" y="3429000"/>
            <a:ext cx="0" cy="457200"/>
          </a:xfrm>
          <a:prstGeom prst="line">
            <a:avLst/>
          </a:prstGeom>
          <a:ln w="19050">
            <a:solidFill>
              <a:srgbClr val="4B5765"/>
            </a:solidFill>
            <a:tailEnd type="triangle" w="med" len="med"/>
          </a:ln>
        </p:spPr>
      </p:cxnSp>
      <p:sp>
        <p:nvSpPr>
          <p:cNvPr id="11" name="TextBox 10"/>
          <p:cNvSpPr txBox="1"/>
          <p:nvPr/>
        </p:nvSpPr>
        <p:spPr>
          <a:xfrm>
            <a:off x="1965960" y="3493008"/>
            <a:ext cx="1463040" cy="274320"/>
          </a:xfrm>
          <a:prstGeom prst="rect">
            <a:avLst/>
          </a:prstGeom>
          <a:noFill/>
        </p:spPr>
        <p:txBody>
          <a:bodyPr wrap="square" anchor="t" lIns="18288" rIns="18288" tIns="18288" bIns="18288">
            <a:spAutoFit/>
          </a:bodyPr>
          <a:lstStyle/>
          <a:p>
            <a:pPr algn="l">
              <a:spcAft>
                <a:spcPts val="400"/>
              </a:spcAft>
            </a:pPr>
            <a:r>
              <a:rPr sz="950" b="0">
                <a:solidFill>
                  <a:srgbClr val="4B5765"/>
                </a:solidFill>
                <a:latin typeface="Consolas"/>
              </a:rPr>
              <a:t>nothing changed</a:t>
            </a:r>
          </a:p>
        </p:txBody>
      </p:sp>
      <p:cxnSp>
        <p:nvCxnSpPr>
          <p:cNvPr id="12" name="Connector 11"/>
          <p:cNvCxnSpPr/>
          <p:nvPr/>
        </p:nvCxnSpPr>
        <p:spPr>
          <a:xfrm>
            <a:off x="4617720" y="3429000"/>
            <a:ext cx="0" cy="457200"/>
          </a:xfrm>
          <a:prstGeom prst="line">
            <a:avLst/>
          </a:prstGeom>
          <a:ln w="19050">
            <a:solidFill>
              <a:srgbClr val="4B5765"/>
            </a:solidFill>
            <a:tailEnd type="triangle" w="med" len="med"/>
          </a:ln>
        </p:spPr>
      </p:cxnSp>
      <p:sp>
        <p:nvSpPr>
          <p:cNvPr id="13" name="TextBox 12"/>
          <p:cNvSpPr txBox="1"/>
          <p:nvPr/>
        </p:nvSpPr>
        <p:spPr>
          <a:xfrm>
            <a:off x="4709159" y="3493008"/>
            <a:ext cx="1280160" cy="274320"/>
          </a:xfrm>
          <a:prstGeom prst="rect">
            <a:avLst/>
          </a:prstGeom>
          <a:noFill/>
        </p:spPr>
        <p:txBody>
          <a:bodyPr wrap="square" anchor="t" lIns="18288" rIns="18288" tIns="18288" bIns="18288">
            <a:spAutoFit/>
          </a:bodyPr>
          <a:lstStyle/>
          <a:p>
            <a:pPr algn="l">
              <a:spcAft>
                <a:spcPts val="400"/>
              </a:spcAft>
            </a:pPr>
            <a:r>
              <a:rPr sz="950" b="0">
                <a:solidFill>
                  <a:srgbClr val="4B5765"/>
                </a:solidFill>
                <a:latin typeface="Consolas"/>
              </a:rPr>
              <a:t>changed</a:t>
            </a:r>
          </a:p>
        </p:txBody>
      </p:sp>
      <p:sp>
        <p:nvSpPr>
          <p:cNvPr id="14" name="Rounded Rectangle 13"/>
          <p:cNvSpPr/>
          <p:nvPr/>
        </p:nvSpPr>
        <p:spPr>
          <a:xfrm>
            <a:off x="548640" y="3886200"/>
            <a:ext cx="2606040" cy="1417320"/>
          </a:xfrm>
          <a:prstGeom prst="roundRect">
            <a:avLst>
              <a:gd name="adj" fmla="val 6000"/>
            </a:avLst>
          </a:prstGeom>
          <a:solidFill>
            <a:srgbClr val="DFF0E5"/>
          </a:solidFill>
          <a:ln>
            <a:noFill/>
          </a:ln>
        </p:spPr>
        <p:txBody>
          <a:bodyPr rtlCol="0" anchor="ctr"/>
          <a:lstStyle/>
          <a:p/>
        </p:txBody>
      </p:sp>
      <p:sp>
        <p:nvSpPr>
          <p:cNvPr id="15" name="TextBox 14"/>
          <p:cNvSpPr txBox="1"/>
          <p:nvPr/>
        </p:nvSpPr>
        <p:spPr>
          <a:xfrm>
            <a:off x="713232" y="3977639"/>
            <a:ext cx="2331720" cy="320040"/>
          </a:xfrm>
          <a:prstGeom prst="rect">
            <a:avLst/>
          </a:prstGeom>
          <a:noFill/>
        </p:spPr>
        <p:txBody>
          <a:bodyPr wrap="square" anchor="t" lIns="18288" rIns="18288" tIns="18288" bIns="18288">
            <a:spAutoFit/>
          </a:bodyPr>
          <a:lstStyle/>
          <a:p>
            <a:pPr algn="l">
              <a:spcAft>
                <a:spcPts val="400"/>
              </a:spcAft>
            </a:pPr>
            <a:r>
              <a:rPr sz="1300" b="0">
                <a:solidFill>
                  <a:srgbClr val="2D7449"/>
                </a:solidFill>
                <a:latin typeface="Segoe UI Semibold"/>
              </a:rPr>
              <a:t>No-op run</a:t>
            </a:r>
          </a:p>
        </p:txBody>
      </p:sp>
      <p:sp>
        <p:nvSpPr>
          <p:cNvPr id="16" name="TextBox 15"/>
          <p:cNvSpPr txBox="1"/>
          <p:nvPr/>
        </p:nvSpPr>
        <p:spPr>
          <a:xfrm>
            <a:off x="713232" y="4315968"/>
            <a:ext cx="2331720" cy="960120"/>
          </a:xfrm>
          <a:prstGeom prst="rect">
            <a:avLst/>
          </a:prstGeom>
          <a:noFill/>
        </p:spPr>
        <p:txBody>
          <a:bodyPr wrap="square" anchor="t" lIns="18288" rIns="18288" tIns="18288" bIns="18288">
            <a:spAutoFit/>
          </a:bodyPr>
          <a:lstStyle/>
          <a:p>
            <a:pPr algn="l">
              <a:spcAft>
                <a:spcPts val="400"/>
              </a:spcAft>
            </a:pPr>
            <a:r>
              <a:rPr sz="1100" b="0">
                <a:solidFill>
                  <a:srgbClr val="4B5765"/>
                </a:solidFill>
                <a:latin typeface="Segoe UI"/>
              </a:rPr>
              <a:t>Skip Bronze, Silver and Gold; record 'no changes' in the run manifest</a:t>
            </a:r>
          </a:p>
        </p:txBody>
      </p:sp>
      <p:sp>
        <p:nvSpPr>
          <p:cNvPr id="17" name="Rounded Rectangle 16"/>
          <p:cNvSpPr/>
          <p:nvPr/>
        </p:nvSpPr>
        <p:spPr>
          <a:xfrm>
            <a:off x="3337560" y="3886200"/>
            <a:ext cx="2606040" cy="1417320"/>
          </a:xfrm>
          <a:prstGeom prst="roundRect">
            <a:avLst>
              <a:gd name="adj" fmla="val 6000"/>
            </a:avLst>
          </a:prstGeom>
          <a:solidFill>
            <a:srgbClr val="F6ECCC"/>
          </a:solidFill>
          <a:ln>
            <a:noFill/>
          </a:ln>
        </p:spPr>
        <p:txBody>
          <a:bodyPr rtlCol="0" anchor="ctr"/>
          <a:lstStyle/>
          <a:p/>
        </p:txBody>
      </p:sp>
      <p:sp>
        <p:nvSpPr>
          <p:cNvPr id="18" name="TextBox 17"/>
          <p:cNvSpPr txBox="1"/>
          <p:nvPr/>
        </p:nvSpPr>
        <p:spPr>
          <a:xfrm>
            <a:off x="3502152" y="3977639"/>
            <a:ext cx="2331720" cy="320040"/>
          </a:xfrm>
          <a:prstGeom prst="rect">
            <a:avLst/>
          </a:prstGeom>
          <a:noFill/>
        </p:spPr>
        <p:txBody>
          <a:bodyPr wrap="square" anchor="t" lIns="18288" rIns="18288" tIns="18288" bIns="18288">
            <a:spAutoFit/>
          </a:bodyPr>
          <a:lstStyle/>
          <a:p>
            <a:pPr algn="l">
              <a:spcAft>
                <a:spcPts val="400"/>
              </a:spcAft>
            </a:pPr>
            <a:r>
              <a:rPr sz="1300" b="0">
                <a:solidFill>
                  <a:srgbClr val="8F6C0E"/>
                </a:solidFill>
                <a:latin typeface="Segoe UI Semibold"/>
              </a:rPr>
              <a:t>Process the change</a:t>
            </a:r>
          </a:p>
        </p:txBody>
      </p:sp>
      <p:sp>
        <p:nvSpPr>
          <p:cNvPr id="19" name="TextBox 18"/>
          <p:cNvSpPr txBox="1"/>
          <p:nvPr/>
        </p:nvSpPr>
        <p:spPr>
          <a:xfrm>
            <a:off x="3502152" y="4315968"/>
            <a:ext cx="2331720" cy="960120"/>
          </a:xfrm>
          <a:prstGeom prst="rect">
            <a:avLst/>
          </a:prstGeom>
          <a:noFill/>
        </p:spPr>
        <p:txBody>
          <a:bodyPr wrap="square" anchor="t" lIns="18288" rIns="18288" tIns="18288" bIns="18288">
            <a:spAutoFit/>
          </a:bodyPr>
          <a:lstStyle/>
          <a:p>
            <a:pPr algn="l">
              <a:spcAft>
                <a:spcPts val="400"/>
              </a:spcAft>
            </a:pPr>
            <a:r>
              <a:rPr sz="1100" b="0">
                <a:solidFill>
                  <a:srgbClr val="4B5765"/>
                </a:solidFill>
                <a:latin typeface="Segoe UI"/>
              </a:rPr>
              <a:t>Load only the changed sources into Bronze, then rebuild Silver and Gold</a:t>
            </a:r>
          </a:p>
        </p:txBody>
      </p:sp>
      <p:sp>
        <p:nvSpPr>
          <p:cNvPr id="20" name="TextBox 19"/>
          <p:cNvSpPr txBox="1"/>
          <p:nvPr/>
        </p:nvSpPr>
        <p:spPr>
          <a:xfrm>
            <a:off x="548640" y="5440680"/>
            <a:ext cx="5394960" cy="731520"/>
          </a:xfrm>
          <a:prstGeom prst="rect">
            <a:avLst/>
          </a:prstGeom>
          <a:noFill/>
        </p:spPr>
        <p:txBody>
          <a:bodyPr wrap="square" anchor="t" lIns="18288" rIns="18288" tIns="18288" bIns="18288">
            <a:spAutoFit/>
          </a:bodyPr>
          <a:lstStyle/>
          <a:p>
            <a:pPr algn="l">
              <a:spcAft>
                <a:spcPts val="400"/>
              </a:spcAft>
            </a:pPr>
            <a:r>
              <a:rPr sz="1100" b="0">
                <a:solidFill>
                  <a:srgbClr val="4B5765"/>
                </a:solidFill>
                <a:latin typeface="Segoe UI"/>
              </a:rPr>
              <a:t>Results are identical either way: every layer is idempotent. Change detection only saves work and avoids duplicate snapshots.</a:t>
            </a:r>
          </a:p>
        </p:txBody>
      </p:sp>
      <p:sp>
        <p:nvSpPr>
          <p:cNvPr id="21" name="TextBox 20"/>
          <p:cNvSpPr txBox="1"/>
          <p:nvPr/>
        </p:nvSpPr>
        <p:spPr>
          <a:xfrm>
            <a:off x="6355080" y="1444752"/>
            <a:ext cx="5303520" cy="365760"/>
          </a:xfrm>
          <a:prstGeom prst="rect">
            <a:avLst/>
          </a:prstGeom>
          <a:noFill/>
        </p:spPr>
        <p:txBody>
          <a:bodyPr wrap="square" anchor="t" lIns="18288" rIns="18288" tIns="18288" bIns="18288">
            <a:spAutoFit/>
          </a:bodyPr>
          <a:lstStyle/>
          <a:p>
            <a:pPr algn="l">
              <a:spcAft>
                <a:spcPts val="400"/>
              </a:spcAft>
            </a:pPr>
            <a:r>
              <a:rPr sz="1400" b="0">
                <a:solidFill>
                  <a:srgbClr val="17202A"/>
                </a:solidFill>
                <a:latin typeface="Segoe UI Semibold"/>
              </a:rPr>
              <a:t>Today vs design</a:t>
            </a:r>
          </a:p>
        </p:txBody>
      </p:sp>
      <p:graphicFrame>
        <p:nvGraphicFramePr>
          <p:cNvPr id="22" name="Table 21"/>
          <p:cNvGraphicFramePr>
            <a:graphicFrameLocks noGrp="1"/>
          </p:cNvGraphicFramePr>
          <p:nvPr/>
        </p:nvGraphicFramePr>
        <p:xfrm>
          <a:off x="6355080" y="1847088"/>
          <a:ext cx="5285232" cy="3474720"/>
        </p:xfrm>
        <a:graphic>
          <a:graphicData uri="http://schemas.openxmlformats.org/drawingml/2006/table">
            <a:tbl>
              <a:tblPr firstRow="1">
                <a:tableStyleId>{5C22544A-7EE6-4342-B048-85BDC9FD1C3A}</a:tableStyleId>
              </a:tblPr>
              <a:tblGrid>
                <a:gridCol w="1325880"/>
                <a:gridCol w="2011680"/>
                <a:gridCol w="1947672"/>
              </a:tblGrid>
              <a:tr h="868680">
                <a:tc>
                  <a:txBody>
                    <a:bodyPr wrap="square"/>
                    <a:lstStyle/>
                    <a:p>
                      <a:pPr algn="l"/>
                      <a:r>
                        <a:rPr sz="1000" b="1">
                          <a:solidFill>
                            <a:srgbClr val="4B5765"/>
                          </a:solidFill>
                          <a:latin typeface="Segoe UI Semibold"/>
                        </a:rPr>
                        <a:t>Source / layer</a:t>
                      </a:r>
                    </a:p>
                  </a:txBody>
                  <a:tcPr marL="82296" marR="82296" marT="36576" marB="36576" anchor="ctr">
                    <a:solidFill>
                      <a:srgbClr val="F4F6F8"/>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l"/>
                      <a:r>
                        <a:rPr sz="1000" b="1">
                          <a:solidFill>
                            <a:srgbClr val="4B5765"/>
                          </a:solidFill>
                          <a:latin typeface="Segoe UI Semibold"/>
                        </a:rPr>
                        <a:t>Built today</a:t>
                      </a:r>
                    </a:p>
                  </a:txBody>
                  <a:tcPr marL="82296" marR="82296" marT="36576" marB="36576" anchor="ctr">
                    <a:solidFill>
                      <a:srgbClr val="F4F6F8"/>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l"/>
                      <a:r>
                        <a:rPr sz="1000" b="1">
                          <a:solidFill>
                            <a:srgbClr val="4B5765"/>
                          </a:solidFill>
                          <a:latin typeface="Segoe UI Semibold"/>
                        </a:rPr>
                        <a:t>Design (planned)</a:t>
                      </a:r>
                    </a:p>
                  </a:txBody>
                  <a:tcPr marL="82296" marR="82296" marT="36576" marB="36576" anchor="ctr">
                    <a:solidFill>
                      <a:srgbClr val="F4F6F8"/>
                    </a:solidFill>
                    <a:lnL w="6350">
                      <a:solidFill>
                        <a:srgbClr val="D4DAE1"/>
                      </a:solidFill>
                    </a:lnL>
                    <a:lnR w="6350">
                      <a:solidFill>
                        <a:srgbClr val="D4DAE1"/>
                      </a:solidFill>
                    </a:lnR>
                    <a:lnT w="6350">
                      <a:solidFill>
                        <a:srgbClr val="D4DAE1"/>
                      </a:solidFill>
                    </a:lnT>
                    <a:lnB w="6350">
                      <a:solidFill>
                        <a:srgbClr val="D4DAE1"/>
                      </a:solidFill>
                    </a:lnB>
                  </a:tcPr>
                </a:tc>
              </a:tr>
              <a:tr h="868680">
                <a:tc>
                  <a:txBody>
                    <a:bodyPr wrap="square"/>
                    <a:lstStyle/>
                    <a:p>
                      <a:pPr algn="l"/>
                      <a:r>
                        <a:rPr sz="1100" b="0">
                          <a:solidFill>
                            <a:srgbClr val="17202A"/>
                          </a:solidFill>
                          <a:latin typeface="Segoe UI"/>
                        </a:rPr>
                        <a:t>S3 learning files</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l"/>
                      <a:r>
                        <a:rPr sz="1100" b="0">
                          <a:solidFill>
                            <a:srgbClr val="17202A"/>
                          </a:solidFill>
                          <a:latin typeface="Segoe UI"/>
                        </a:rPr>
                        <a:t>Unchanged files skipped by ETag (rerun copied 0 of 783)</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l"/>
                      <a:r>
                        <a:rPr sz="1100" b="0">
                          <a:solidFill>
                            <a:srgbClr val="2D7449"/>
                          </a:solidFill>
                          <a:latin typeface="Segoe UI Semibold"/>
                        </a:rPr>
                        <a:t>Built</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r>
              <a:tr h="868680">
                <a:tc>
                  <a:txBody>
                    <a:bodyPr wrap="square"/>
                    <a:lstStyle/>
                    <a:p>
                      <a:pPr algn="l"/>
                      <a:r>
                        <a:rPr sz="1100" b="0">
                          <a:solidFill>
                            <a:srgbClr val="17202A"/>
                          </a:solidFill>
                          <a:latin typeface="Segoe UI"/>
                        </a:rPr>
                        <a:t>PostgreSQL tables</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l"/>
                      <a:r>
                        <a:rPr sz="1100" b="0">
                          <a:solidFill>
                            <a:srgbClr val="17202A"/>
                          </a:solidFill>
                          <a:latin typeface="Segoe UI"/>
                        </a:rPr>
                        <a:t>Same-day rerun skipped; a new day takes a new snapshot</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l"/>
                      <a:r>
                        <a:rPr sz="1100" b="0">
                          <a:solidFill>
                            <a:srgbClr val="17202A"/>
                          </a:solidFill>
                          <a:latin typeface="Segoe UI"/>
                        </a:rPr>
                        <a:t>Skip the snapshot when the checksum matches the last manifest</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r>
              <a:tr h="868680">
                <a:tc>
                  <a:txBody>
                    <a:bodyPr wrap="square"/>
                    <a:lstStyle/>
                    <a:p>
                      <a:pPr algn="l"/>
                      <a:r>
                        <a:rPr sz="1100" b="0">
                          <a:solidFill>
                            <a:srgbClr val="17202A"/>
                          </a:solidFill>
                          <a:latin typeface="Segoe UI"/>
                        </a:rPr>
                        <a:t>Silver &amp; Gold</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l"/>
                      <a:r>
                        <a:rPr sz="1100" b="0">
                          <a:solidFill>
                            <a:srgbClr val="17202A"/>
                          </a:solidFill>
                          <a:latin typeface="Segoe UI"/>
                        </a:rPr>
                        <a:t>Rebuilt every run (seconds)</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l"/>
                      <a:r>
                        <a:rPr sz="1100" b="0">
                          <a:solidFill>
                            <a:srgbClr val="17202A"/>
                          </a:solidFill>
                          <a:latin typeface="Segoe UI"/>
                        </a:rPr>
                        <a:t>Skip when no source changed: no-op run</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r>
            </a:tbl>
          </a:graphicData>
        </a:graphic>
      </p:graphicFrame>
      <p:sp>
        <p:nvSpPr>
          <p:cNvPr id="23" name="TextBox 22"/>
          <p:cNvSpPr txBox="1"/>
          <p:nvPr/>
        </p:nvSpPr>
        <p:spPr>
          <a:xfrm>
            <a:off x="6355080" y="5486400"/>
            <a:ext cx="5303520" cy="685800"/>
          </a:xfrm>
          <a:prstGeom prst="rect">
            <a:avLst/>
          </a:prstGeom>
          <a:noFill/>
        </p:spPr>
        <p:txBody>
          <a:bodyPr wrap="square" anchor="t" lIns="18288" rIns="18288" tIns="18288" bIns="18288">
            <a:spAutoFit/>
          </a:bodyPr>
          <a:lstStyle/>
          <a:p>
            <a:pPr algn="l">
              <a:spcAft>
                <a:spcPts val="400"/>
              </a:spcAft>
            </a:pPr>
            <a:r>
              <a:rPr sz="1100" b="0">
                <a:solidFill>
                  <a:srgbClr val="4B5765"/>
                </a:solidFill>
                <a:latin typeface="Segoe UI"/>
              </a:rPr>
              <a:t>The checksum is already stored: every Bronze manifest records the MD5 of the table export, so the planned check needs no new storage.</a:t>
            </a:r>
          </a:p>
        </p:txBody>
      </p:sp>
      <p:cxnSp>
        <p:nvCxnSpPr>
          <p:cNvPr id="24" name="Connector 23"/>
          <p:cNvCxnSpPr/>
          <p:nvPr/>
        </p:nvCxnSpPr>
        <p:spPr>
          <a:xfrm>
            <a:off x="548640" y="6400800"/>
            <a:ext cx="11094415" cy="0"/>
          </a:xfrm>
          <a:prstGeom prst="line">
            <a:avLst/>
          </a:prstGeom>
          <a:ln w="9525">
            <a:solidFill>
              <a:srgbClr val="D4DAE1"/>
            </a:solidFill>
          </a:ln>
        </p:spPr>
      </p:cxnSp>
      <p:sp>
        <p:nvSpPr>
          <p:cNvPr id="25" name="TextBox 24"/>
          <p:cNvSpPr txBox="1"/>
          <p:nvPr/>
        </p:nvSpPr>
        <p:spPr>
          <a:xfrm>
            <a:off x="548640" y="6455664"/>
            <a:ext cx="7315200" cy="274320"/>
          </a:xfrm>
          <a:prstGeom prst="rect">
            <a:avLst/>
          </a:prstGeom>
          <a:noFill/>
        </p:spPr>
        <p:txBody>
          <a:bodyPr wrap="square" anchor="t" lIns="18288" rIns="18288" tIns="18288" bIns="18288">
            <a:spAutoFit/>
          </a:bodyPr>
          <a:lstStyle/>
          <a:p>
            <a:pPr algn="l">
              <a:spcAft>
                <a:spcPts val="400"/>
              </a:spcAft>
            </a:pPr>
            <a:r>
              <a:rPr sz="900" b="0">
                <a:solidFill>
                  <a:srgbClr val="8A94A0"/>
                </a:solidFill>
                <a:latin typeface="Segoe UI"/>
              </a:rPr>
              <a:t>ACME Talent Lake  ·  Data Engineer track  ·  Coding Workshop 2026</a:t>
            </a:r>
          </a:p>
        </p:txBody>
      </p:sp>
      <p:sp>
        <p:nvSpPr>
          <p:cNvPr id="26" name="TextBox 25"/>
          <p:cNvSpPr txBox="1"/>
          <p:nvPr/>
        </p:nvSpPr>
        <p:spPr>
          <a:xfrm>
            <a:off x="10698480" y="6455664"/>
            <a:ext cx="941832" cy="274320"/>
          </a:xfrm>
          <a:prstGeom prst="rect">
            <a:avLst/>
          </a:prstGeom>
          <a:noFill/>
        </p:spPr>
        <p:txBody>
          <a:bodyPr wrap="square" anchor="t" lIns="18288" rIns="18288" tIns="18288" bIns="18288">
            <a:spAutoFit/>
          </a:bodyPr>
          <a:lstStyle/>
          <a:p>
            <a:pPr algn="r">
              <a:spcAft>
                <a:spcPts val="400"/>
              </a:spcAft>
            </a:pPr>
            <a:r>
              <a:rPr sz="900" b="0">
                <a:solidFill>
                  <a:srgbClr val="8A94A0"/>
                </a:solidFill>
                <a:latin typeface="Segoe UI"/>
              </a:rPr>
              <a:t>6 / 11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8229600" cy="274320"/>
          </a:xfrm>
          <a:prstGeom prst="rect">
            <a:avLst/>
          </a:prstGeom>
          <a:noFill/>
        </p:spPr>
        <p:txBody>
          <a:bodyPr wrap="square" anchor="t" lIns="18288" rIns="18288" tIns="18288" bIns="18288">
            <a:spAutoFit/>
          </a:bodyPr>
          <a:lstStyle/>
          <a:p>
            <a:pPr algn="l">
              <a:spcAft>
                <a:spcPts val="400"/>
              </a:spcAft>
            </a:pPr>
            <a:r>
              <a:rPr sz="1100" b="0">
                <a:solidFill>
                  <a:srgbClr val="1D4E89"/>
                </a:solidFill>
                <a:latin typeface="Segoe UI Semibold"/>
              </a:rPr>
              <a:t>GOLD &amp; LINEAGE</a:t>
            </a:r>
          </a:p>
        </p:txBody>
      </p:sp>
      <p:sp>
        <p:nvSpPr>
          <p:cNvPr id="3" name="TextBox 2"/>
          <p:cNvSpPr txBox="1"/>
          <p:nvPr/>
        </p:nvSpPr>
        <p:spPr>
          <a:xfrm>
            <a:off x="548640" y="566928"/>
            <a:ext cx="11064240" cy="731520"/>
          </a:xfrm>
          <a:prstGeom prst="rect">
            <a:avLst/>
          </a:prstGeom>
          <a:noFill/>
        </p:spPr>
        <p:txBody>
          <a:bodyPr wrap="square" anchor="t" lIns="18288" rIns="18288" tIns="18288" bIns="18288">
            <a:spAutoFit/>
          </a:bodyPr>
          <a:lstStyle/>
          <a:p>
            <a:pPr algn="l">
              <a:spcAft>
                <a:spcPts val="400"/>
              </a:spcAft>
            </a:pPr>
            <a:r>
              <a:rPr sz="2600" b="0">
                <a:solidFill>
                  <a:srgbClr val="17202A"/>
                </a:solidFill>
                <a:latin typeface="Segoe UI Semibold"/>
              </a:rPr>
              <a:t>Eight Gold tables, each proven against Silver</a:t>
            </a:r>
          </a:p>
        </p:txBody>
      </p:sp>
      <p:graphicFrame>
        <p:nvGraphicFramePr>
          <p:cNvPr id="4" name="Table 3"/>
          <p:cNvGraphicFramePr>
            <a:graphicFrameLocks noGrp="1"/>
          </p:cNvGraphicFramePr>
          <p:nvPr/>
        </p:nvGraphicFramePr>
        <p:xfrm>
          <a:off x="548640" y="1463040"/>
          <a:ext cx="6583680" cy="3785616"/>
        </p:xfrm>
        <a:graphic>
          <a:graphicData uri="http://schemas.openxmlformats.org/drawingml/2006/table">
            <a:tbl>
              <a:tblPr firstRow="1">
                <a:tableStyleId>{5C22544A-7EE6-4342-B048-85BDC9FD1C3A}</a:tableStyleId>
              </a:tblPr>
              <a:tblGrid>
                <a:gridCol w="502920"/>
                <a:gridCol w="3063240"/>
                <a:gridCol w="2148840"/>
                <a:gridCol w="868680"/>
              </a:tblGrid>
              <a:tr h="420624">
                <a:tc>
                  <a:txBody>
                    <a:bodyPr wrap="square"/>
                    <a:lstStyle/>
                    <a:p>
                      <a:pPr algn="l"/>
                      <a:r>
                        <a:rPr sz="1100" b="1">
                          <a:solidFill>
                            <a:srgbClr val="4B5765"/>
                          </a:solidFill>
                          <a:latin typeface="Segoe UI Semibold"/>
                        </a:rPr>
                        <a:t>Q</a:t>
                      </a:r>
                    </a:p>
                  </a:txBody>
                  <a:tcPr marL="82296" marR="82296" marT="36576" marB="36576" anchor="ctr">
                    <a:solidFill>
                      <a:srgbClr val="F4F6F8"/>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l"/>
                      <a:r>
                        <a:rPr sz="1100" b="1">
                          <a:solidFill>
                            <a:srgbClr val="4B5765"/>
                          </a:solidFill>
                          <a:latin typeface="Segoe UI Semibold"/>
                        </a:rPr>
                        <a:t>Gold table</a:t>
                      </a:r>
                    </a:p>
                  </a:txBody>
                  <a:tcPr marL="82296" marR="82296" marT="36576" marB="36576" anchor="ctr">
                    <a:solidFill>
                      <a:srgbClr val="F4F6F8"/>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l"/>
                      <a:r>
                        <a:rPr sz="1100" b="1">
                          <a:solidFill>
                            <a:srgbClr val="4B5765"/>
                          </a:solidFill>
                          <a:latin typeface="Segoe UI Semibold"/>
                        </a:rPr>
                        <a:t>Grain</a:t>
                      </a:r>
                    </a:p>
                  </a:txBody>
                  <a:tcPr marL="82296" marR="82296" marT="36576" marB="36576" anchor="ctr">
                    <a:solidFill>
                      <a:srgbClr val="F4F6F8"/>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l"/>
                      <a:r>
                        <a:rPr sz="1100" b="1">
                          <a:solidFill>
                            <a:srgbClr val="4B5765"/>
                          </a:solidFill>
                          <a:latin typeface="Segoe UI Semibold"/>
                        </a:rPr>
                        <a:t>Rows</a:t>
                      </a:r>
                    </a:p>
                  </a:txBody>
                  <a:tcPr marL="82296" marR="82296" marT="36576" marB="36576" anchor="ctr">
                    <a:solidFill>
                      <a:srgbClr val="F4F6F8"/>
                    </a:solidFill>
                    <a:lnL w="6350">
                      <a:solidFill>
                        <a:srgbClr val="D4DAE1"/>
                      </a:solidFill>
                    </a:lnL>
                    <a:lnR w="6350">
                      <a:solidFill>
                        <a:srgbClr val="D4DAE1"/>
                      </a:solidFill>
                    </a:lnR>
                    <a:lnT w="6350">
                      <a:solidFill>
                        <a:srgbClr val="D4DAE1"/>
                      </a:solidFill>
                    </a:lnT>
                    <a:lnB w="6350">
                      <a:solidFill>
                        <a:srgbClr val="D4DAE1"/>
                      </a:solidFill>
                    </a:lnB>
                  </a:tcPr>
                </a:tc>
              </a:tr>
              <a:tr h="420624">
                <a:tc>
                  <a:txBody>
                    <a:bodyPr wrap="square"/>
                    <a:lstStyle/>
                    <a:p>
                      <a:pPr algn="l"/>
                      <a:r>
                        <a:rPr sz="1200" b="0">
                          <a:solidFill>
                            <a:srgbClr val="17202A"/>
                          </a:solidFill>
                          <a:latin typeface="Segoe UI"/>
                        </a:rPr>
                        <a:t>Q1</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l"/>
                      <a:r>
                        <a:rPr sz="1200" b="0">
                          <a:solidFill>
                            <a:srgbClr val="17202A"/>
                          </a:solidFill>
                          <a:latin typeface="Consolas"/>
                        </a:rPr>
                        <a:t>review_history</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l"/>
                      <a:r>
                        <a:rPr sz="1200" b="0">
                          <a:solidFill>
                            <a:srgbClr val="17202A"/>
                          </a:solidFill>
                          <a:latin typeface="Segoe UI"/>
                        </a:rPr>
                        <a:t>employee × review</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r"/>
                      <a:r>
                        <a:rPr sz="1200" b="0">
                          <a:solidFill>
                            <a:srgbClr val="17202A"/>
                          </a:solidFill>
                          <a:latin typeface="Segoe UI"/>
                        </a:rPr>
                        <a:t>4,000</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r>
              <a:tr h="420624">
                <a:tc>
                  <a:txBody>
                    <a:bodyPr wrap="square"/>
                    <a:lstStyle/>
                    <a:p>
                      <a:pPr algn="l"/>
                      <a:r>
                        <a:rPr sz="1200" b="0">
                          <a:solidFill>
                            <a:srgbClr val="17202A"/>
                          </a:solidFill>
                          <a:latin typeface="Segoe UI"/>
                        </a:rPr>
                        <a:t>Q1</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l"/>
                      <a:r>
                        <a:rPr sz="1200" b="0">
                          <a:solidFill>
                            <a:srgbClr val="17202A"/>
                          </a:solidFill>
                          <a:latin typeface="Consolas"/>
                        </a:rPr>
                        <a:t>employee_performance_summary</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l"/>
                      <a:r>
                        <a:rPr sz="1200" b="0">
                          <a:solidFill>
                            <a:srgbClr val="17202A"/>
                          </a:solidFill>
                          <a:latin typeface="Segoe UI"/>
                        </a:rPr>
                        <a:t>employee</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r"/>
                      <a:r>
                        <a:rPr sz="1200" b="0">
                          <a:solidFill>
                            <a:srgbClr val="17202A"/>
                          </a:solidFill>
                          <a:latin typeface="Segoe UI"/>
                        </a:rPr>
                        <a:t>2,000</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r>
              <a:tr h="420624">
                <a:tc>
                  <a:txBody>
                    <a:bodyPr wrap="square"/>
                    <a:lstStyle/>
                    <a:p>
                      <a:pPr algn="l"/>
                      <a:r>
                        <a:rPr sz="1200" b="0">
                          <a:solidFill>
                            <a:srgbClr val="17202A"/>
                          </a:solidFill>
                          <a:latin typeface="Segoe UI"/>
                        </a:rPr>
                        <a:t>Q2</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l"/>
                      <a:r>
                        <a:rPr sz="1200" b="0">
                          <a:solidFill>
                            <a:srgbClr val="17202A"/>
                          </a:solidFill>
                          <a:latin typeface="Consolas"/>
                        </a:rPr>
                        <a:t>skill_gaps</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l"/>
                      <a:r>
                        <a:rPr sz="1200" b="0">
                          <a:solidFill>
                            <a:srgbClr val="17202A"/>
                          </a:solidFill>
                          <a:latin typeface="Segoe UI"/>
                        </a:rPr>
                        <a:t>employee × competency</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r"/>
                      <a:r>
                        <a:rPr sz="1200" b="0">
                          <a:solidFill>
                            <a:srgbClr val="17202A"/>
                          </a:solidFill>
                          <a:latin typeface="Segoe UI"/>
                        </a:rPr>
                        <a:t>993</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r>
              <a:tr h="420624">
                <a:tc>
                  <a:txBody>
                    <a:bodyPr wrap="square"/>
                    <a:lstStyle/>
                    <a:p>
                      <a:pPr algn="l"/>
                      <a:r>
                        <a:rPr sz="1200" b="0">
                          <a:solidFill>
                            <a:srgbClr val="17202A"/>
                          </a:solidFill>
                          <a:latin typeface="Segoe UI"/>
                        </a:rPr>
                        <a:t>Q3</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l"/>
                      <a:r>
                        <a:rPr sz="1200" b="0">
                          <a:solidFill>
                            <a:srgbClr val="17202A"/>
                          </a:solidFill>
                          <a:latin typeface="Consolas"/>
                        </a:rPr>
                        <a:t>promotion_pipeline</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l"/>
                      <a:r>
                        <a:rPr sz="1200" b="0">
                          <a:solidFill>
                            <a:srgbClr val="17202A"/>
                          </a:solidFill>
                          <a:latin typeface="Segoe UI"/>
                        </a:rPr>
                        <a:t>employee</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r"/>
                      <a:r>
                        <a:rPr sz="1200" b="0">
                          <a:solidFill>
                            <a:srgbClr val="17202A"/>
                          </a:solidFill>
                          <a:latin typeface="Segoe UI"/>
                        </a:rPr>
                        <a:t>2,000</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r>
              <a:tr h="420624">
                <a:tc>
                  <a:txBody>
                    <a:bodyPr wrap="square"/>
                    <a:lstStyle/>
                    <a:p>
                      <a:pPr algn="l"/>
                      <a:r>
                        <a:rPr sz="1200" b="0">
                          <a:solidFill>
                            <a:srgbClr val="17202A"/>
                          </a:solidFill>
                          <a:latin typeface="Segoe UI"/>
                        </a:rPr>
                        <a:t>Q4</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l"/>
                      <a:r>
                        <a:rPr sz="1200" b="0">
                          <a:solidFill>
                            <a:srgbClr val="17202A"/>
                          </a:solidFill>
                          <a:latin typeface="Consolas"/>
                        </a:rPr>
                        <a:t>training_summary</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l"/>
                      <a:r>
                        <a:rPr sz="1200" b="0">
                          <a:solidFill>
                            <a:srgbClr val="17202A"/>
                          </a:solidFill>
                          <a:latin typeface="Segoe UI"/>
                        </a:rPr>
                        <a:t>employee</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r"/>
                      <a:r>
                        <a:rPr sz="1200" b="0">
                          <a:solidFill>
                            <a:srgbClr val="17202A"/>
                          </a:solidFill>
                          <a:latin typeface="Segoe UI"/>
                        </a:rPr>
                        <a:t>2,000</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r>
              <a:tr h="420624">
                <a:tc>
                  <a:txBody>
                    <a:bodyPr wrap="square"/>
                    <a:lstStyle/>
                    <a:p>
                      <a:pPr algn="l"/>
                      <a:r>
                        <a:rPr sz="1200" b="0">
                          <a:solidFill>
                            <a:srgbClr val="17202A"/>
                          </a:solidFill>
                          <a:latin typeface="Segoe UI"/>
                        </a:rPr>
                        <a:t>Q5</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l"/>
                      <a:r>
                        <a:rPr sz="1200" b="0">
                          <a:solidFill>
                            <a:srgbClr val="17202A"/>
                          </a:solidFill>
                          <a:latin typeface="Consolas"/>
                        </a:rPr>
                        <a:t>attrition_risk</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l"/>
                      <a:r>
                        <a:rPr sz="1200" b="0">
                          <a:solidFill>
                            <a:srgbClr val="17202A"/>
                          </a:solidFill>
                          <a:latin typeface="Segoe UI"/>
                        </a:rPr>
                        <a:t>employee</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r"/>
                      <a:r>
                        <a:rPr sz="1200" b="0">
                          <a:solidFill>
                            <a:srgbClr val="17202A"/>
                          </a:solidFill>
                          <a:latin typeface="Segoe UI"/>
                        </a:rPr>
                        <a:t>2,000</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r>
              <a:tr h="420624">
                <a:tc>
                  <a:txBody>
                    <a:bodyPr wrap="square"/>
                    <a:lstStyle/>
                    <a:p>
                      <a:pPr algn="l"/>
                      <a:r>
                        <a:rPr sz="1200" b="0">
                          <a:solidFill>
                            <a:srgbClr val="17202A"/>
                          </a:solidFill>
                          <a:latin typeface="Segoe UI"/>
                        </a:rPr>
                        <a:t>Q6</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l"/>
                      <a:r>
                        <a:rPr sz="1200" b="0">
                          <a:solidFill>
                            <a:srgbClr val="17202A"/>
                          </a:solidFill>
                          <a:latin typeface="Consolas"/>
                        </a:rPr>
                        <a:t>team_performance_outcomes</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l"/>
                      <a:r>
                        <a:rPr sz="1200" b="0">
                          <a:solidFill>
                            <a:srgbClr val="17202A"/>
                          </a:solidFill>
                          <a:latin typeface="Segoe UI"/>
                        </a:rPr>
                        <a:t>team</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r"/>
                      <a:r>
                        <a:rPr sz="1200" b="0">
                          <a:solidFill>
                            <a:srgbClr val="17202A"/>
                          </a:solidFill>
                          <a:latin typeface="Segoe UI"/>
                        </a:rPr>
                        <a:t>100</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r>
              <a:tr h="420624">
                <a:tc>
                  <a:txBody>
                    <a:bodyPr wrap="square"/>
                    <a:lstStyle/>
                    <a:p>
                      <a:pPr algn="l"/>
                      <a:r>
                        <a:rPr sz="1200" b="0">
                          <a:solidFill>
                            <a:srgbClr val="17202A"/>
                          </a:solidFill>
                          <a:latin typeface="Segoe UI"/>
                        </a:rPr>
                        <a:t>Q7</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l"/>
                      <a:r>
                        <a:rPr sz="1200" b="0">
                          <a:solidFill>
                            <a:srgbClr val="17202A"/>
                          </a:solidFill>
                          <a:latin typeface="Consolas"/>
                        </a:rPr>
                        <a:t>skill_distribution</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l"/>
                      <a:r>
                        <a:rPr sz="1200" b="0">
                          <a:solidFill>
                            <a:srgbClr val="17202A"/>
                          </a:solidFill>
                          <a:latin typeface="Segoe UI"/>
                        </a:rPr>
                        <a:t>competency × dept</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r"/>
                      <a:r>
                        <a:rPr sz="1200" b="0">
                          <a:solidFill>
                            <a:srgbClr val="17202A"/>
                          </a:solidFill>
                          <a:latin typeface="Segoe UI"/>
                        </a:rPr>
                        <a:t>440</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r>
            </a:tbl>
          </a:graphicData>
        </a:graphic>
      </p:graphicFrame>
      <p:sp>
        <p:nvSpPr>
          <p:cNvPr id="5" name="TextBox 4"/>
          <p:cNvSpPr txBox="1"/>
          <p:nvPr/>
        </p:nvSpPr>
        <p:spPr>
          <a:xfrm>
            <a:off x="548640" y="5440680"/>
            <a:ext cx="6583680" cy="731520"/>
          </a:xfrm>
          <a:prstGeom prst="rect">
            <a:avLst/>
          </a:prstGeom>
          <a:noFill/>
        </p:spPr>
        <p:txBody>
          <a:bodyPr wrap="square" anchor="t" lIns="18288" rIns="18288" tIns="18288" bIns="18288">
            <a:spAutoFit/>
          </a:bodyPr>
          <a:lstStyle/>
          <a:p>
            <a:pPr algn="l">
              <a:spcAft>
                <a:spcPts val="400"/>
              </a:spcAft>
            </a:pPr>
            <a:r>
              <a:rPr sz="1150" b="0">
                <a:solidFill>
                  <a:srgbClr val="4B5765"/>
                </a:solidFill>
                <a:latin typeface="Segoe UI"/>
              </a:rPr>
              <a:t>Every rule and threshold is written to gold/_catalog.json, so anyone can see why a person is 'critical', 'ready' or 'high risk'.</a:t>
            </a:r>
          </a:p>
        </p:txBody>
      </p:sp>
      <p:sp>
        <p:nvSpPr>
          <p:cNvPr id="6" name="TextBox 5"/>
          <p:cNvSpPr txBox="1"/>
          <p:nvPr/>
        </p:nvSpPr>
        <p:spPr>
          <a:xfrm>
            <a:off x="7498079" y="1444752"/>
            <a:ext cx="4114800" cy="365760"/>
          </a:xfrm>
          <a:prstGeom prst="rect">
            <a:avLst/>
          </a:prstGeom>
          <a:noFill/>
        </p:spPr>
        <p:txBody>
          <a:bodyPr wrap="square" anchor="t" lIns="18288" rIns="18288" tIns="18288" bIns="18288">
            <a:spAutoFit/>
          </a:bodyPr>
          <a:lstStyle/>
          <a:p>
            <a:pPr algn="l">
              <a:spcAft>
                <a:spcPts val="400"/>
              </a:spcAft>
            </a:pPr>
            <a:r>
              <a:rPr sz="1400" b="0">
                <a:solidFill>
                  <a:srgbClr val="17202A"/>
                </a:solidFill>
                <a:latin typeface="Segoe UI Semibold"/>
              </a:rPr>
              <a:t>Checks that block publishing</a:t>
            </a:r>
          </a:p>
        </p:txBody>
      </p:sp>
      <p:sp>
        <p:nvSpPr>
          <p:cNvPr id="7" name="Rounded Rectangle 6"/>
          <p:cNvSpPr/>
          <p:nvPr/>
        </p:nvSpPr>
        <p:spPr>
          <a:xfrm>
            <a:off x="7498079" y="1847088"/>
            <a:ext cx="4142232" cy="758952"/>
          </a:xfrm>
          <a:prstGeom prst="roundRect">
            <a:avLst>
              <a:gd name="adj" fmla="val 6000"/>
            </a:avLst>
          </a:prstGeom>
          <a:solidFill>
            <a:srgbClr val="F6ECCC"/>
          </a:solidFill>
          <a:ln>
            <a:noFill/>
          </a:ln>
        </p:spPr>
        <p:txBody>
          <a:bodyPr rtlCol="0" anchor="ctr"/>
          <a:lstStyle/>
          <a:p/>
        </p:txBody>
      </p:sp>
      <p:sp>
        <p:nvSpPr>
          <p:cNvPr id="8" name="TextBox 7"/>
          <p:cNvSpPr txBox="1"/>
          <p:nvPr/>
        </p:nvSpPr>
        <p:spPr>
          <a:xfrm>
            <a:off x="7680960" y="1920240"/>
            <a:ext cx="3749039" cy="274320"/>
          </a:xfrm>
          <a:prstGeom prst="rect">
            <a:avLst/>
          </a:prstGeom>
          <a:noFill/>
        </p:spPr>
        <p:txBody>
          <a:bodyPr wrap="square" anchor="t" lIns="18288" rIns="18288" tIns="18288" bIns="18288">
            <a:spAutoFit/>
          </a:bodyPr>
          <a:lstStyle/>
          <a:p>
            <a:pPr algn="l">
              <a:spcAft>
                <a:spcPts val="400"/>
              </a:spcAft>
            </a:pPr>
            <a:r>
              <a:rPr sz="1250" b="0">
                <a:solidFill>
                  <a:srgbClr val="8F6C0E"/>
                </a:solidFill>
                <a:latin typeface="Segoe UI Semibold"/>
              </a:rPr>
              <a:t>Nothing dropped</a:t>
            </a:r>
          </a:p>
        </p:txBody>
      </p:sp>
      <p:sp>
        <p:nvSpPr>
          <p:cNvPr id="9" name="TextBox 8"/>
          <p:cNvSpPr txBox="1"/>
          <p:nvPr/>
        </p:nvSpPr>
        <p:spPr>
          <a:xfrm>
            <a:off x="7680960" y="2231136"/>
            <a:ext cx="3840480" cy="365760"/>
          </a:xfrm>
          <a:prstGeom prst="rect">
            <a:avLst/>
          </a:prstGeom>
          <a:noFill/>
        </p:spPr>
        <p:txBody>
          <a:bodyPr wrap="square" anchor="t" lIns="18288" rIns="18288" tIns="18288" bIns="18288">
            <a:spAutoFit/>
          </a:bodyPr>
          <a:lstStyle/>
          <a:p>
            <a:pPr algn="l">
              <a:spcAft>
                <a:spcPts val="400"/>
              </a:spcAft>
            </a:pPr>
            <a:r>
              <a:rPr sz="1100" b="0">
                <a:solidFill>
                  <a:srgbClr val="4B5765"/>
                </a:solidFill>
                <a:latin typeface="Segoe UI"/>
              </a:rPr>
              <a:t>4,000 reviews = 4,000 rows; one row per employee (2,000)</a:t>
            </a:r>
          </a:p>
        </p:txBody>
      </p:sp>
      <p:sp>
        <p:nvSpPr>
          <p:cNvPr id="10" name="Rounded Rectangle 9"/>
          <p:cNvSpPr/>
          <p:nvPr/>
        </p:nvSpPr>
        <p:spPr>
          <a:xfrm>
            <a:off x="7498079" y="2715768"/>
            <a:ext cx="4142232" cy="758952"/>
          </a:xfrm>
          <a:prstGeom prst="roundRect">
            <a:avLst>
              <a:gd name="adj" fmla="val 6000"/>
            </a:avLst>
          </a:prstGeom>
          <a:solidFill>
            <a:srgbClr val="F6ECCC"/>
          </a:solidFill>
          <a:ln>
            <a:noFill/>
          </a:ln>
        </p:spPr>
        <p:txBody>
          <a:bodyPr rtlCol="0" anchor="ctr"/>
          <a:lstStyle/>
          <a:p/>
        </p:txBody>
      </p:sp>
      <p:sp>
        <p:nvSpPr>
          <p:cNvPr id="11" name="TextBox 10"/>
          <p:cNvSpPr txBox="1"/>
          <p:nvPr/>
        </p:nvSpPr>
        <p:spPr>
          <a:xfrm>
            <a:off x="7680960" y="2788920"/>
            <a:ext cx="3749039" cy="274320"/>
          </a:xfrm>
          <a:prstGeom prst="rect">
            <a:avLst/>
          </a:prstGeom>
          <a:noFill/>
        </p:spPr>
        <p:txBody>
          <a:bodyPr wrap="square" anchor="t" lIns="18288" rIns="18288" tIns="18288" bIns="18288">
            <a:spAutoFit/>
          </a:bodyPr>
          <a:lstStyle/>
          <a:p>
            <a:pPr algn="l">
              <a:spcAft>
                <a:spcPts val="400"/>
              </a:spcAft>
            </a:pPr>
            <a:r>
              <a:rPr sz="1250" b="0">
                <a:solidFill>
                  <a:srgbClr val="8F6C0E"/>
                </a:solidFill>
                <a:latin typeface="Segoe UI Semibold"/>
              </a:rPr>
              <a:t>Nothing double counted</a:t>
            </a:r>
          </a:p>
        </p:txBody>
      </p:sp>
      <p:sp>
        <p:nvSpPr>
          <p:cNvPr id="12" name="TextBox 11"/>
          <p:cNvSpPr txBox="1"/>
          <p:nvPr/>
        </p:nvSpPr>
        <p:spPr>
          <a:xfrm>
            <a:off x="7680960" y="3099815"/>
            <a:ext cx="3840480" cy="365760"/>
          </a:xfrm>
          <a:prstGeom prst="rect">
            <a:avLst/>
          </a:prstGeom>
          <a:noFill/>
        </p:spPr>
        <p:txBody>
          <a:bodyPr wrap="square" anchor="t" lIns="18288" rIns="18288" tIns="18288" bIns="18288">
            <a:spAutoFit/>
          </a:bodyPr>
          <a:lstStyle/>
          <a:p>
            <a:pPr algn="l">
              <a:spcAft>
                <a:spcPts val="400"/>
              </a:spcAft>
            </a:pPr>
            <a:r>
              <a:rPr sz="1100" b="0">
                <a:solidFill>
                  <a:srgbClr val="4B5765"/>
                </a:solidFill>
                <a:latin typeface="Segoe UI"/>
              </a:rPr>
              <a:t>4,398 enrolments = 4,398 Silver events</a:t>
            </a:r>
          </a:p>
        </p:txBody>
      </p:sp>
      <p:sp>
        <p:nvSpPr>
          <p:cNvPr id="13" name="Rounded Rectangle 12"/>
          <p:cNvSpPr/>
          <p:nvPr/>
        </p:nvSpPr>
        <p:spPr>
          <a:xfrm>
            <a:off x="7498079" y="3584448"/>
            <a:ext cx="4142232" cy="758952"/>
          </a:xfrm>
          <a:prstGeom prst="roundRect">
            <a:avLst>
              <a:gd name="adj" fmla="val 6000"/>
            </a:avLst>
          </a:prstGeom>
          <a:solidFill>
            <a:srgbClr val="F6ECCC"/>
          </a:solidFill>
          <a:ln>
            <a:noFill/>
          </a:ln>
        </p:spPr>
        <p:txBody>
          <a:bodyPr rtlCol="0" anchor="ctr"/>
          <a:lstStyle/>
          <a:p/>
        </p:txBody>
      </p:sp>
      <p:sp>
        <p:nvSpPr>
          <p:cNvPr id="14" name="TextBox 13"/>
          <p:cNvSpPr txBox="1"/>
          <p:nvPr/>
        </p:nvSpPr>
        <p:spPr>
          <a:xfrm>
            <a:off x="7680960" y="3657600"/>
            <a:ext cx="3749039" cy="274320"/>
          </a:xfrm>
          <a:prstGeom prst="rect">
            <a:avLst/>
          </a:prstGeom>
          <a:noFill/>
        </p:spPr>
        <p:txBody>
          <a:bodyPr wrap="square" anchor="t" lIns="18288" rIns="18288" tIns="18288" bIns="18288">
            <a:spAutoFit/>
          </a:bodyPr>
          <a:lstStyle/>
          <a:p>
            <a:pPr algn="l">
              <a:spcAft>
                <a:spcPts val="400"/>
              </a:spcAft>
            </a:pPr>
            <a:r>
              <a:rPr sz="1250" b="0">
                <a:solidFill>
                  <a:srgbClr val="8F6C0E"/>
                </a:solidFill>
                <a:latin typeface="Segoe UI Semibold"/>
              </a:rPr>
              <a:t>Rules obeyed</a:t>
            </a:r>
          </a:p>
        </p:txBody>
      </p:sp>
      <p:sp>
        <p:nvSpPr>
          <p:cNvPr id="15" name="TextBox 14"/>
          <p:cNvSpPr txBox="1"/>
          <p:nvPr/>
        </p:nvSpPr>
        <p:spPr>
          <a:xfrm>
            <a:off x="7680960" y="3968496"/>
            <a:ext cx="3840480" cy="365760"/>
          </a:xfrm>
          <a:prstGeom prst="rect">
            <a:avLst/>
          </a:prstGeom>
          <a:noFill/>
        </p:spPr>
        <p:txBody>
          <a:bodyPr wrap="square" anchor="t" lIns="18288" rIns="18288" tIns="18288" bIns="18288">
            <a:spAutoFit/>
          </a:bodyPr>
          <a:lstStyle/>
          <a:p>
            <a:pPr algn="l">
              <a:spcAft>
                <a:spcPts val="400"/>
              </a:spcAft>
            </a:pPr>
            <a:r>
              <a:rPr sz="1100" b="0">
                <a:solidFill>
                  <a:srgbClr val="4B5765"/>
                </a:solidFill>
                <a:latin typeface="Segoe UI"/>
              </a:rPr>
              <a:t>risk score = sum of its signals; 0 mismatches</a:t>
            </a:r>
          </a:p>
        </p:txBody>
      </p:sp>
      <p:sp>
        <p:nvSpPr>
          <p:cNvPr id="16" name="Rounded Rectangle 15"/>
          <p:cNvSpPr/>
          <p:nvPr/>
        </p:nvSpPr>
        <p:spPr>
          <a:xfrm>
            <a:off x="7498079" y="4553712"/>
            <a:ext cx="4142232" cy="1618488"/>
          </a:xfrm>
          <a:prstGeom prst="roundRect">
            <a:avLst>
              <a:gd name="adj" fmla="val 6000"/>
            </a:avLst>
          </a:prstGeom>
          <a:solidFill>
            <a:srgbClr val="F4F6F8"/>
          </a:solidFill>
          <a:ln>
            <a:noFill/>
          </a:ln>
        </p:spPr>
        <p:txBody>
          <a:bodyPr rtlCol="0" anchor="ctr"/>
          <a:lstStyle/>
          <a:p/>
        </p:txBody>
      </p:sp>
      <p:sp>
        <p:nvSpPr>
          <p:cNvPr id="17" name="TextBox 16"/>
          <p:cNvSpPr txBox="1"/>
          <p:nvPr/>
        </p:nvSpPr>
        <p:spPr>
          <a:xfrm>
            <a:off x="7680960" y="4645152"/>
            <a:ext cx="3840480" cy="1508760"/>
          </a:xfrm>
          <a:prstGeom prst="rect">
            <a:avLst/>
          </a:prstGeom>
          <a:noFill/>
        </p:spPr>
        <p:txBody>
          <a:bodyPr wrap="square" anchor="t" lIns="18288" rIns="18288" tIns="18288" bIns="18288">
            <a:spAutoFit/>
          </a:bodyPr>
          <a:lstStyle/>
          <a:p>
            <a:pPr algn="l">
              <a:spcAft>
                <a:spcPts val="400"/>
              </a:spcAft>
            </a:pPr>
            <a:r>
              <a:rPr sz="1250" b="0">
                <a:solidFill>
                  <a:srgbClr val="17202A"/>
                </a:solidFill>
                <a:latin typeface="Segoe UI Semibold"/>
              </a:rPr>
              <a:t>Lineage at three levels</a:t>
            </a:r>
          </a:p>
          <a:p>
            <a:pPr algn="l">
              <a:spcAft>
                <a:spcPts val="400"/>
              </a:spcAft>
            </a:pPr>
            <a:r>
              <a:rPr sz="1100" b="0">
                <a:solidFill>
                  <a:srgbClr val="17202A"/>
                </a:solidFill>
                <a:latin typeface="Segoe UI Semibold"/>
              </a:rPr>
              <a:t>Run  </a:t>
            </a:r>
            <a:r>
              <a:rPr sz="1100" b="0">
                <a:solidFill>
                  <a:srgbClr val="4B5765"/>
                </a:solidFill>
                <a:latin typeface="Segoe UI"/>
              </a:rPr>
              <a:t>manifest of inputs, outputs, row counts</a:t>
            </a:r>
          </a:p>
          <a:p>
            <a:pPr algn="l">
              <a:spcAft>
                <a:spcPts val="400"/>
              </a:spcAft>
            </a:pPr>
            <a:r>
              <a:rPr sz="1100" b="0">
                <a:solidFill>
                  <a:srgbClr val="17202A"/>
                </a:solidFill>
                <a:latin typeface="Segoe UI Semibold"/>
              </a:rPr>
              <a:t>Row  </a:t>
            </a:r>
            <a:r>
              <a:rPr sz="1100" b="0">
                <a:solidFill>
                  <a:srgbClr val="4B5765"/>
                </a:solidFill>
                <a:latin typeface="Segoe UI"/>
              </a:rPr>
              <a:t>_source, _run_id → file and line</a:t>
            </a:r>
          </a:p>
          <a:p>
            <a:pPr algn="l">
              <a:spcAft>
                <a:spcPts val="400"/>
              </a:spcAft>
            </a:pPr>
            <a:r>
              <a:rPr sz="1100" b="0">
                <a:solidFill>
                  <a:srgbClr val="17202A"/>
                </a:solidFill>
                <a:latin typeface="Segoe UI Semibold"/>
              </a:rPr>
              <a:t>Column  </a:t>
            </a:r>
            <a:r>
              <a:rPr sz="1100" b="0">
                <a:solidFill>
                  <a:srgbClr val="4B5765"/>
                </a:solidFill>
                <a:latin typeface="Segoe UI"/>
              </a:rPr>
              <a:t>catalog: grain, columns, rules</a:t>
            </a:r>
          </a:p>
        </p:txBody>
      </p:sp>
      <p:cxnSp>
        <p:nvCxnSpPr>
          <p:cNvPr id="18" name="Connector 17"/>
          <p:cNvCxnSpPr/>
          <p:nvPr/>
        </p:nvCxnSpPr>
        <p:spPr>
          <a:xfrm>
            <a:off x="548640" y="6400800"/>
            <a:ext cx="11094415" cy="0"/>
          </a:xfrm>
          <a:prstGeom prst="line">
            <a:avLst/>
          </a:prstGeom>
          <a:ln w="9525">
            <a:solidFill>
              <a:srgbClr val="D4DAE1"/>
            </a:solidFill>
          </a:ln>
        </p:spPr>
      </p:cxnSp>
      <p:sp>
        <p:nvSpPr>
          <p:cNvPr id="19" name="TextBox 18"/>
          <p:cNvSpPr txBox="1"/>
          <p:nvPr/>
        </p:nvSpPr>
        <p:spPr>
          <a:xfrm>
            <a:off x="548640" y="6455664"/>
            <a:ext cx="7315200" cy="274320"/>
          </a:xfrm>
          <a:prstGeom prst="rect">
            <a:avLst/>
          </a:prstGeom>
          <a:noFill/>
        </p:spPr>
        <p:txBody>
          <a:bodyPr wrap="square" anchor="t" lIns="18288" rIns="18288" tIns="18288" bIns="18288">
            <a:spAutoFit/>
          </a:bodyPr>
          <a:lstStyle/>
          <a:p>
            <a:pPr algn="l">
              <a:spcAft>
                <a:spcPts val="400"/>
              </a:spcAft>
            </a:pPr>
            <a:r>
              <a:rPr sz="900" b="0">
                <a:solidFill>
                  <a:srgbClr val="8A94A0"/>
                </a:solidFill>
                <a:latin typeface="Segoe UI"/>
              </a:rPr>
              <a:t>ACME Talent Lake  ·  Data Engineer track  ·  Coding Workshop 2026</a:t>
            </a:r>
          </a:p>
        </p:txBody>
      </p:sp>
      <p:sp>
        <p:nvSpPr>
          <p:cNvPr id="20" name="TextBox 19"/>
          <p:cNvSpPr txBox="1"/>
          <p:nvPr/>
        </p:nvSpPr>
        <p:spPr>
          <a:xfrm>
            <a:off x="10698480" y="6455664"/>
            <a:ext cx="941832" cy="274320"/>
          </a:xfrm>
          <a:prstGeom prst="rect">
            <a:avLst/>
          </a:prstGeom>
          <a:noFill/>
        </p:spPr>
        <p:txBody>
          <a:bodyPr wrap="square" anchor="t" lIns="18288" rIns="18288" tIns="18288" bIns="18288">
            <a:spAutoFit/>
          </a:bodyPr>
          <a:lstStyle/>
          <a:p>
            <a:pPr algn="r">
              <a:spcAft>
                <a:spcPts val="400"/>
              </a:spcAft>
            </a:pPr>
            <a:r>
              <a:rPr sz="900" b="0">
                <a:solidFill>
                  <a:srgbClr val="8A94A0"/>
                </a:solidFill>
                <a:latin typeface="Segoe UI"/>
              </a:rPr>
              <a:t>7 / 11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8229600" cy="274320"/>
          </a:xfrm>
          <a:prstGeom prst="rect">
            <a:avLst/>
          </a:prstGeom>
          <a:noFill/>
        </p:spPr>
        <p:txBody>
          <a:bodyPr wrap="square" anchor="t" lIns="18288" rIns="18288" tIns="18288" bIns="18288">
            <a:spAutoFit/>
          </a:bodyPr>
          <a:lstStyle/>
          <a:p>
            <a:pPr algn="l">
              <a:spcAft>
                <a:spcPts val="400"/>
              </a:spcAft>
            </a:pPr>
            <a:r>
              <a:rPr sz="1100" b="0">
                <a:solidFill>
                  <a:srgbClr val="1D4E89"/>
                </a:solidFill>
                <a:latin typeface="Segoe UI Semibold"/>
              </a:rPr>
              <a:t>FINDINGS · Q1–Q4</a:t>
            </a:r>
          </a:p>
        </p:txBody>
      </p:sp>
      <p:sp>
        <p:nvSpPr>
          <p:cNvPr id="3" name="TextBox 2"/>
          <p:cNvSpPr txBox="1"/>
          <p:nvPr/>
        </p:nvSpPr>
        <p:spPr>
          <a:xfrm>
            <a:off x="548640" y="566928"/>
            <a:ext cx="11064240" cy="731520"/>
          </a:xfrm>
          <a:prstGeom prst="rect">
            <a:avLst/>
          </a:prstGeom>
          <a:noFill/>
        </p:spPr>
        <p:txBody>
          <a:bodyPr wrap="square" anchor="t" lIns="18288" rIns="18288" tIns="18288" bIns="18288">
            <a:spAutoFit/>
          </a:bodyPr>
          <a:lstStyle/>
          <a:p>
            <a:pPr algn="l">
              <a:spcAft>
                <a:spcPts val="400"/>
              </a:spcAft>
            </a:pPr>
            <a:r>
              <a:rPr sz="2600" b="0">
                <a:solidFill>
                  <a:srgbClr val="17202A"/>
                </a:solidFill>
                <a:latin typeface="Segoe UI Semibold"/>
              </a:rPr>
              <a:t>230 declining · 441 with gaps · 124 ready · 232 not learning</a:t>
            </a:r>
          </a:p>
        </p:txBody>
      </p:sp>
      <p:sp>
        <p:nvSpPr>
          <p:cNvPr id="4" name="TextBox 3"/>
          <p:cNvSpPr txBox="1"/>
          <p:nvPr/>
        </p:nvSpPr>
        <p:spPr>
          <a:xfrm>
            <a:off x="548640" y="1417320"/>
            <a:ext cx="5422392" cy="320040"/>
          </a:xfrm>
          <a:prstGeom prst="rect">
            <a:avLst/>
          </a:prstGeom>
          <a:noFill/>
        </p:spPr>
        <p:txBody>
          <a:bodyPr wrap="square" anchor="t" lIns="18288" rIns="18288" tIns="18288" bIns="18288">
            <a:spAutoFit/>
          </a:bodyPr>
          <a:lstStyle/>
          <a:p>
            <a:pPr algn="l">
              <a:spcAft>
                <a:spcPts val="400"/>
              </a:spcAft>
            </a:pPr>
            <a:r>
              <a:rPr sz="1300" b="0">
                <a:solidFill>
                  <a:srgbClr val="17202A"/>
                </a:solidFill>
                <a:latin typeface="Segoe UI Semibold"/>
              </a:rPr>
              <a:t>Q1 · Change since previous review</a:t>
            </a:r>
          </a:p>
        </p:txBody>
      </p:sp>
      <p:graphicFrame>
        <p:nvGraphicFramePr>
          <p:cNvPr id="5" name="Chart 4"/>
          <p:cNvGraphicFramePr>
            <a:graphicFrameLocks noGrp="1"/>
          </p:cNvGraphicFramePr>
          <p:nvPr/>
        </p:nvGraphicFramePr>
        <p:xfrm>
          <a:off x="457200" y="1737360"/>
          <a:ext cx="3566160" cy="1874519"/>
        </p:xfrm>
        <a:graphic>
          <a:graphicData uri="http://schemas.openxmlformats.org/drawingml/2006/chart">
            <c:chart xmlns:c="http://schemas.openxmlformats.org/drawingml/2006/chart" r:id="rId3"/>
          </a:graphicData>
        </a:graphic>
      </p:graphicFrame>
      <p:sp>
        <p:nvSpPr>
          <p:cNvPr id="6" name="TextBox 5"/>
          <p:cNvSpPr txBox="1"/>
          <p:nvPr/>
        </p:nvSpPr>
        <p:spPr>
          <a:xfrm>
            <a:off x="4206240" y="1920240"/>
            <a:ext cx="1737360" cy="548640"/>
          </a:xfrm>
          <a:prstGeom prst="rect">
            <a:avLst/>
          </a:prstGeom>
          <a:noFill/>
        </p:spPr>
        <p:txBody>
          <a:bodyPr wrap="square" anchor="t" lIns="18288" rIns="18288" tIns="18288" bIns="18288">
            <a:spAutoFit/>
          </a:bodyPr>
          <a:lstStyle/>
          <a:p>
            <a:pPr algn="l">
              <a:spcAft>
                <a:spcPts val="400"/>
              </a:spcAft>
            </a:pPr>
            <a:r>
              <a:rPr sz="2600" b="0">
                <a:solidFill>
                  <a:srgbClr val="17202A"/>
                </a:solidFill>
                <a:latin typeface="Segoe UI Semibold"/>
              </a:rPr>
              <a:t>3.41</a:t>
            </a:r>
          </a:p>
        </p:txBody>
      </p:sp>
      <p:sp>
        <p:nvSpPr>
          <p:cNvPr id="7" name="TextBox 6"/>
          <p:cNvSpPr txBox="1"/>
          <p:nvPr/>
        </p:nvSpPr>
        <p:spPr>
          <a:xfrm>
            <a:off x="4206240" y="2487168"/>
            <a:ext cx="1737360" cy="457200"/>
          </a:xfrm>
          <a:prstGeom prst="rect">
            <a:avLst/>
          </a:prstGeom>
          <a:noFill/>
        </p:spPr>
        <p:txBody>
          <a:bodyPr wrap="square" anchor="t" lIns="18288" rIns="18288" tIns="18288" bIns="18288">
            <a:spAutoFit/>
          </a:bodyPr>
          <a:lstStyle/>
          <a:p>
            <a:pPr algn="l">
              <a:spcAft>
                <a:spcPts val="400"/>
              </a:spcAft>
            </a:pPr>
            <a:r>
              <a:rPr sz="1100" b="0">
                <a:solidFill>
                  <a:srgbClr val="4B5765"/>
                </a:solidFill>
                <a:latin typeface="Segoe UI"/>
              </a:rPr>
              <a:t>average latest rating</a:t>
            </a:r>
          </a:p>
        </p:txBody>
      </p:sp>
      <p:sp>
        <p:nvSpPr>
          <p:cNvPr id="8" name="TextBox 7"/>
          <p:cNvSpPr txBox="1"/>
          <p:nvPr/>
        </p:nvSpPr>
        <p:spPr>
          <a:xfrm>
            <a:off x="4206240" y="2834640"/>
            <a:ext cx="1737360" cy="548640"/>
          </a:xfrm>
          <a:prstGeom prst="rect">
            <a:avLst/>
          </a:prstGeom>
          <a:noFill/>
        </p:spPr>
        <p:txBody>
          <a:bodyPr wrap="square" anchor="t" lIns="18288" rIns="18288" tIns="18288" bIns="18288">
            <a:spAutoFit/>
          </a:bodyPr>
          <a:lstStyle/>
          <a:p>
            <a:pPr algn="l">
              <a:spcAft>
                <a:spcPts val="400"/>
              </a:spcAft>
            </a:pPr>
            <a:r>
              <a:rPr sz="2600" b="0">
                <a:solidFill>
                  <a:srgbClr val="B0412D"/>
                </a:solidFill>
                <a:latin typeface="Segoe UI Semibold"/>
              </a:rPr>
              <a:t>84</a:t>
            </a:r>
          </a:p>
        </p:txBody>
      </p:sp>
      <p:sp>
        <p:nvSpPr>
          <p:cNvPr id="9" name="TextBox 8"/>
          <p:cNvSpPr txBox="1"/>
          <p:nvPr/>
        </p:nvSpPr>
        <p:spPr>
          <a:xfrm>
            <a:off x="4206240" y="3401568"/>
            <a:ext cx="1737360" cy="457200"/>
          </a:xfrm>
          <a:prstGeom prst="rect">
            <a:avLst/>
          </a:prstGeom>
          <a:noFill/>
        </p:spPr>
        <p:txBody>
          <a:bodyPr wrap="square" anchor="t" lIns="18288" rIns="18288" tIns="18288" bIns="18288">
            <a:spAutoFit/>
          </a:bodyPr>
          <a:lstStyle/>
          <a:p>
            <a:pPr algn="l">
              <a:spcAft>
                <a:spcPts val="400"/>
              </a:spcAft>
            </a:pPr>
            <a:r>
              <a:rPr sz="1100" b="0">
                <a:solidFill>
                  <a:srgbClr val="4B5765"/>
                </a:solidFill>
                <a:latin typeface="Segoe UI"/>
              </a:rPr>
              <a:t>dropped 2+ points</a:t>
            </a:r>
          </a:p>
        </p:txBody>
      </p:sp>
      <p:sp>
        <p:nvSpPr>
          <p:cNvPr id="10" name="TextBox 9"/>
          <p:cNvSpPr txBox="1"/>
          <p:nvPr/>
        </p:nvSpPr>
        <p:spPr>
          <a:xfrm>
            <a:off x="6217920" y="1417320"/>
            <a:ext cx="5422392" cy="320040"/>
          </a:xfrm>
          <a:prstGeom prst="rect">
            <a:avLst/>
          </a:prstGeom>
          <a:noFill/>
        </p:spPr>
        <p:txBody>
          <a:bodyPr wrap="square" anchor="t" lIns="18288" rIns="18288" tIns="18288" bIns="18288">
            <a:spAutoFit/>
          </a:bodyPr>
          <a:lstStyle/>
          <a:p>
            <a:pPr algn="l">
              <a:spcAft>
                <a:spcPts val="400"/>
              </a:spcAft>
            </a:pPr>
            <a:r>
              <a:rPr sz="1300" b="0">
                <a:solidFill>
                  <a:srgbClr val="17202A"/>
                </a:solidFill>
                <a:latin typeface="Segoe UI Semibold"/>
              </a:rPr>
              <a:t>Q2 · Most critical skill gaps</a:t>
            </a:r>
          </a:p>
        </p:txBody>
      </p:sp>
      <p:graphicFrame>
        <p:nvGraphicFramePr>
          <p:cNvPr id="11" name="Chart 10"/>
          <p:cNvGraphicFramePr>
            <a:graphicFrameLocks noGrp="1"/>
          </p:cNvGraphicFramePr>
          <p:nvPr/>
        </p:nvGraphicFramePr>
        <p:xfrm>
          <a:off x="6126480" y="1737360"/>
          <a:ext cx="3566160" cy="1874519"/>
        </p:xfrm>
        <a:graphic>
          <a:graphicData uri="http://schemas.openxmlformats.org/drawingml/2006/chart">
            <c:chart xmlns:c="http://schemas.openxmlformats.org/drawingml/2006/chart" r:id="rId4"/>
          </a:graphicData>
        </a:graphic>
      </p:graphicFrame>
      <p:sp>
        <p:nvSpPr>
          <p:cNvPr id="12" name="TextBox 11"/>
          <p:cNvSpPr txBox="1"/>
          <p:nvPr/>
        </p:nvSpPr>
        <p:spPr>
          <a:xfrm>
            <a:off x="9875520" y="1920240"/>
            <a:ext cx="1737360" cy="548640"/>
          </a:xfrm>
          <a:prstGeom prst="rect">
            <a:avLst/>
          </a:prstGeom>
          <a:noFill/>
        </p:spPr>
        <p:txBody>
          <a:bodyPr wrap="square" anchor="t" lIns="18288" rIns="18288" tIns="18288" bIns="18288">
            <a:spAutoFit/>
          </a:bodyPr>
          <a:lstStyle/>
          <a:p>
            <a:pPr algn="l">
              <a:spcAft>
                <a:spcPts val="400"/>
              </a:spcAft>
            </a:pPr>
            <a:r>
              <a:rPr sz="2600" b="0">
                <a:solidFill>
                  <a:srgbClr val="17202A"/>
                </a:solidFill>
                <a:latin typeface="Segoe UI Semibold"/>
              </a:rPr>
              <a:t>465</a:t>
            </a:r>
          </a:p>
        </p:txBody>
      </p:sp>
      <p:sp>
        <p:nvSpPr>
          <p:cNvPr id="13" name="TextBox 12"/>
          <p:cNvSpPr txBox="1"/>
          <p:nvPr/>
        </p:nvSpPr>
        <p:spPr>
          <a:xfrm>
            <a:off x="9875520" y="2487168"/>
            <a:ext cx="1737360" cy="457200"/>
          </a:xfrm>
          <a:prstGeom prst="rect">
            <a:avLst/>
          </a:prstGeom>
          <a:noFill/>
        </p:spPr>
        <p:txBody>
          <a:bodyPr wrap="square" anchor="t" lIns="18288" rIns="18288" tIns="18288" bIns="18288">
            <a:spAutoFit/>
          </a:bodyPr>
          <a:lstStyle/>
          <a:p>
            <a:pPr algn="l">
              <a:spcAft>
                <a:spcPts val="400"/>
              </a:spcAft>
            </a:pPr>
            <a:r>
              <a:rPr sz="1100" b="0">
                <a:solidFill>
                  <a:srgbClr val="4B5765"/>
                </a:solidFill>
                <a:latin typeface="Segoe UI"/>
              </a:rPr>
              <a:t>gaps across 441 people</a:t>
            </a:r>
          </a:p>
        </p:txBody>
      </p:sp>
      <p:sp>
        <p:nvSpPr>
          <p:cNvPr id="14" name="TextBox 13"/>
          <p:cNvSpPr txBox="1"/>
          <p:nvPr/>
        </p:nvSpPr>
        <p:spPr>
          <a:xfrm>
            <a:off x="9875520" y="2834640"/>
            <a:ext cx="1737360" cy="548640"/>
          </a:xfrm>
          <a:prstGeom prst="rect">
            <a:avLst/>
          </a:prstGeom>
          <a:noFill/>
        </p:spPr>
        <p:txBody>
          <a:bodyPr wrap="square" anchor="t" lIns="18288" rIns="18288" tIns="18288" bIns="18288">
            <a:spAutoFit/>
          </a:bodyPr>
          <a:lstStyle/>
          <a:p>
            <a:pPr algn="l">
              <a:spcAft>
                <a:spcPts val="400"/>
              </a:spcAft>
            </a:pPr>
            <a:r>
              <a:rPr sz="2600" b="0">
                <a:solidFill>
                  <a:srgbClr val="B0412D"/>
                </a:solidFill>
                <a:latin typeface="Segoe UI Semibold"/>
              </a:rPr>
              <a:t>28%</a:t>
            </a:r>
          </a:p>
        </p:txBody>
      </p:sp>
      <p:sp>
        <p:nvSpPr>
          <p:cNvPr id="15" name="TextBox 14"/>
          <p:cNvSpPr txBox="1"/>
          <p:nvPr/>
        </p:nvSpPr>
        <p:spPr>
          <a:xfrm>
            <a:off x="9875520" y="3401568"/>
            <a:ext cx="1737360" cy="457200"/>
          </a:xfrm>
          <a:prstGeom prst="rect">
            <a:avLst/>
          </a:prstGeom>
          <a:noFill/>
        </p:spPr>
        <p:txBody>
          <a:bodyPr wrap="square" anchor="t" lIns="18288" rIns="18288" tIns="18288" bIns="18288">
            <a:spAutoFit/>
          </a:bodyPr>
          <a:lstStyle/>
          <a:p>
            <a:pPr algn="l">
              <a:spcAft>
                <a:spcPts val="400"/>
              </a:spcAft>
            </a:pPr>
            <a:r>
              <a:rPr sz="1100" b="0">
                <a:solidFill>
                  <a:srgbClr val="4B5765"/>
                </a:solidFill>
                <a:latin typeface="Segoe UI"/>
              </a:rPr>
              <a:t>of Human Resources affected</a:t>
            </a:r>
          </a:p>
        </p:txBody>
      </p:sp>
      <p:sp>
        <p:nvSpPr>
          <p:cNvPr id="16" name="TextBox 15"/>
          <p:cNvSpPr txBox="1"/>
          <p:nvPr/>
        </p:nvSpPr>
        <p:spPr>
          <a:xfrm>
            <a:off x="548640" y="3931920"/>
            <a:ext cx="5422392" cy="320040"/>
          </a:xfrm>
          <a:prstGeom prst="rect">
            <a:avLst/>
          </a:prstGeom>
          <a:noFill/>
        </p:spPr>
        <p:txBody>
          <a:bodyPr wrap="square" anchor="t" lIns="18288" rIns="18288" tIns="18288" bIns="18288">
            <a:spAutoFit/>
          </a:bodyPr>
          <a:lstStyle/>
          <a:p>
            <a:pPr algn="l">
              <a:spcAft>
                <a:spcPts val="400"/>
              </a:spcAft>
            </a:pPr>
            <a:r>
              <a:rPr sz="1300" b="0">
                <a:solidFill>
                  <a:srgbClr val="17202A"/>
                </a:solidFill>
                <a:latin typeface="Segoe UI Semibold"/>
              </a:rPr>
              <a:t>Q3 · Promotion pipeline</a:t>
            </a:r>
          </a:p>
        </p:txBody>
      </p:sp>
      <p:graphicFrame>
        <p:nvGraphicFramePr>
          <p:cNvPr id="17" name="Chart 16"/>
          <p:cNvGraphicFramePr>
            <a:graphicFrameLocks noGrp="1"/>
          </p:cNvGraphicFramePr>
          <p:nvPr/>
        </p:nvGraphicFramePr>
        <p:xfrm>
          <a:off x="457200" y="4251959"/>
          <a:ext cx="3566160" cy="1874519"/>
        </p:xfrm>
        <a:graphic>
          <a:graphicData uri="http://schemas.openxmlformats.org/drawingml/2006/chart">
            <c:chart xmlns:c="http://schemas.openxmlformats.org/drawingml/2006/chart" r:id="rId5"/>
          </a:graphicData>
        </a:graphic>
      </p:graphicFrame>
      <p:sp>
        <p:nvSpPr>
          <p:cNvPr id="18" name="TextBox 17"/>
          <p:cNvSpPr txBox="1"/>
          <p:nvPr/>
        </p:nvSpPr>
        <p:spPr>
          <a:xfrm>
            <a:off x="4206240" y="4434840"/>
            <a:ext cx="1737360" cy="548640"/>
          </a:xfrm>
          <a:prstGeom prst="rect">
            <a:avLst/>
          </a:prstGeom>
          <a:noFill/>
        </p:spPr>
        <p:txBody>
          <a:bodyPr wrap="square" anchor="t" lIns="18288" rIns="18288" tIns="18288" bIns="18288">
            <a:spAutoFit/>
          </a:bodyPr>
          <a:lstStyle/>
          <a:p>
            <a:pPr algn="l">
              <a:spcAft>
                <a:spcPts val="400"/>
              </a:spcAft>
            </a:pPr>
            <a:r>
              <a:rPr sz="2600" b="0">
                <a:solidFill>
                  <a:srgbClr val="B0412D"/>
                </a:solidFill>
                <a:latin typeface="Segoe UI Semibold"/>
              </a:rPr>
              <a:t>28</a:t>
            </a:r>
          </a:p>
        </p:txBody>
      </p:sp>
      <p:sp>
        <p:nvSpPr>
          <p:cNvPr id="19" name="TextBox 18"/>
          <p:cNvSpPr txBox="1"/>
          <p:nvPr/>
        </p:nvSpPr>
        <p:spPr>
          <a:xfrm>
            <a:off x="4206240" y="5001768"/>
            <a:ext cx="1737360" cy="457200"/>
          </a:xfrm>
          <a:prstGeom prst="rect">
            <a:avLst/>
          </a:prstGeom>
          <a:noFill/>
        </p:spPr>
        <p:txBody>
          <a:bodyPr wrap="square" anchor="t" lIns="18288" rIns="18288" tIns="18288" bIns="18288">
            <a:spAutoFit/>
          </a:bodyPr>
          <a:lstStyle/>
          <a:p>
            <a:pPr algn="l">
              <a:spcAft>
                <a:spcPts val="400"/>
              </a:spcAft>
            </a:pPr>
            <a:r>
              <a:rPr sz="1100" b="0">
                <a:solidFill>
                  <a:srgbClr val="4B5765"/>
                </a:solidFill>
                <a:latin typeface="Segoe UI"/>
              </a:rPr>
              <a:t>high-potential people at high attrition risk</a:t>
            </a:r>
          </a:p>
        </p:txBody>
      </p:sp>
      <p:sp>
        <p:nvSpPr>
          <p:cNvPr id="20" name="TextBox 19"/>
          <p:cNvSpPr txBox="1"/>
          <p:nvPr/>
        </p:nvSpPr>
        <p:spPr>
          <a:xfrm>
            <a:off x="6217920" y="3931920"/>
            <a:ext cx="5422392" cy="320040"/>
          </a:xfrm>
          <a:prstGeom prst="rect">
            <a:avLst/>
          </a:prstGeom>
          <a:noFill/>
        </p:spPr>
        <p:txBody>
          <a:bodyPr wrap="square" anchor="t" lIns="18288" rIns="18288" tIns="18288" bIns="18288">
            <a:spAutoFit/>
          </a:bodyPr>
          <a:lstStyle/>
          <a:p>
            <a:pPr algn="l">
              <a:spcAft>
                <a:spcPts val="400"/>
              </a:spcAft>
            </a:pPr>
            <a:r>
              <a:rPr sz="1300" b="0">
                <a:solidFill>
                  <a:srgbClr val="17202A"/>
                </a:solidFill>
                <a:latin typeface="Segoe UI Semibold"/>
              </a:rPr>
              <a:t>Q4 · Training and development</a:t>
            </a:r>
          </a:p>
        </p:txBody>
      </p:sp>
      <p:sp>
        <p:nvSpPr>
          <p:cNvPr id="21" name="Rounded Rectangle 20"/>
          <p:cNvSpPr/>
          <p:nvPr/>
        </p:nvSpPr>
        <p:spPr>
          <a:xfrm>
            <a:off x="6217920" y="4343400"/>
            <a:ext cx="2633472" cy="886968"/>
          </a:xfrm>
          <a:prstGeom prst="roundRect">
            <a:avLst>
              <a:gd name="adj" fmla="val 6000"/>
            </a:avLst>
          </a:prstGeom>
          <a:solidFill>
            <a:srgbClr val="F4F6F8"/>
          </a:solidFill>
          <a:ln>
            <a:noFill/>
          </a:ln>
        </p:spPr>
        <p:txBody>
          <a:bodyPr rtlCol="0" anchor="ctr"/>
          <a:lstStyle/>
          <a:p/>
        </p:txBody>
      </p:sp>
      <p:sp>
        <p:nvSpPr>
          <p:cNvPr id="22" name="TextBox 21"/>
          <p:cNvSpPr txBox="1"/>
          <p:nvPr/>
        </p:nvSpPr>
        <p:spPr>
          <a:xfrm>
            <a:off x="6382512" y="4398264"/>
            <a:ext cx="2377440" cy="457200"/>
          </a:xfrm>
          <a:prstGeom prst="rect">
            <a:avLst/>
          </a:prstGeom>
          <a:noFill/>
        </p:spPr>
        <p:txBody>
          <a:bodyPr wrap="square" anchor="t" lIns="18288" rIns="18288" tIns="18288" bIns="18288">
            <a:spAutoFit/>
          </a:bodyPr>
          <a:lstStyle/>
          <a:p>
            <a:pPr algn="l">
              <a:spcAft>
                <a:spcPts val="400"/>
              </a:spcAft>
            </a:pPr>
            <a:r>
              <a:rPr sz="2200" b="0">
                <a:solidFill>
                  <a:srgbClr val="17202A"/>
                </a:solidFill>
                <a:latin typeface="Segoe UI Semibold"/>
              </a:rPr>
              <a:t>1.75</a:t>
            </a:r>
          </a:p>
        </p:txBody>
      </p:sp>
      <p:sp>
        <p:nvSpPr>
          <p:cNvPr id="23" name="TextBox 22"/>
          <p:cNvSpPr txBox="1"/>
          <p:nvPr/>
        </p:nvSpPr>
        <p:spPr>
          <a:xfrm>
            <a:off x="6382512" y="4855464"/>
            <a:ext cx="2377440" cy="320040"/>
          </a:xfrm>
          <a:prstGeom prst="rect">
            <a:avLst/>
          </a:prstGeom>
          <a:noFill/>
        </p:spPr>
        <p:txBody>
          <a:bodyPr wrap="square" anchor="t" lIns="18288" rIns="18288" tIns="18288" bIns="18288">
            <a:spAutoFit/>
          </a:bodyPr>
          <a:lstStyle/>
          <a:p>
            <a:pPr algn="l">
              <a:spcAft>
                <a:spcPts val="400"/>
              </a:spcAft>
            </a:pPr>
            <a:r>
              <a:rPr sz="1050" b="0">
                <a:solidFill>
                  <a:srgbClr val="4B5765"/>
                </a:solidFill>
                <a:latin typeface="Segoe UI"/>
              </a:rPr>
              <a:t>courses per employee</a:t>
            </a:r>
          </a:p>
        </p:txBody>
      </p:sp>
      <p:sp>
        <p:nvSpPr>
          <p:cNvPr id="24" name="Rounded Rectangle 23"/>
          <p:cNvSpPr/>
          <p:nvPr/>
        </p:nvSpPr>
        <p:spPr>
          <a:xfrm>
            <a:off x="8942832" y="4343400"/>
            <a:ext cx="2633472" cy="886968"/>
          </a:xfrm>
          <a:prstGeom prst="roundRect">
            <a:avLst>
              <a:gd name="adj" fmla="val 6000"/>
            </a:avLst>
          </a:prstGeom>
          <a:solidFill>
            <a:srgbClr val="F4F6F8"/>
          </a:solidFill>
          <a:ln>
            <a:noFill/>
          </a:ln>
        </p:spPr>
        <p:txBody>
          <a:bodyPr rtlCol="0" anchor="ctr"/>
          <a:lstStyle/>
          <a:p/>
        </p:txBody>
      </p:sp>
      <p:sp>
        <p:nvSpPr>
          <p:cNvPr id="25" name="TextBox 24"/>
          <p:cNvSpPr txBox="1"/>
          <p:nvPr/>
        </p:nvSpPr>
        <p:spPr>
          <a:xfrm>
            <a:off x="9107424" y="4398264"/>
            <a:ext cx="2377440" cy="457200"/>
          </a:xfrm>
          <a:prstGeom prst="rect">
            <a:avLst/>
          </a:prstGeom>
          <a:noFill/>
        </p:spPr>
        <p:txBody>
          <a:bodyPr wrap="square" anchor="t" lIns="18288" rIns="18288" tIns="18288" bIns="18288">
            <a:spAutoFit/>
          </a:bodyPr>
          <a:lstStyle/>
          <a:p>
            <a:pPr algn="l">
              <a:spcAft>
                <a:spcPts val="400"/>
              </a:spcAft>
            </a:pPr>
            <a:r>
              <a:rPr sz="2200" b="0">
                <a:solidFill>
                  <a:srgbClr val="17202A"/>
                </a:solidFill>
                <a:latin typeface="Segoe UI Semibold"/>
              </a:rPr>
              <a:t>1,764</a:t>
            </a:r>
          </a:p>
        </p:txBody>
      </p:sp>
      <p:sp>
        <p:nvSpPr>
          <p:cNvPr id="26" name="TextBox 25"/>
          <p:cNvSpPr txBox="1"/>
          <p:nvPr/>
        </p:nvSpPr>
        <p:spPr>
          <a:xfrm>
            <a:off x="9107424" y="4855464"/>
            <a:ext cx="2377440" cy="320040"/>
          </a:xfrm>
          <a:prstGeom prst="rect">
            <a:avLst/>
          </a:prstGeom>
          <a:noFill/>
        </p:spPr>
        <p:txBody>
          <a:bodyPr wrap="square" anchor="t" lIns="18288" rIns="18288" tIns="18288" bIns="18288">
            <a:spAutoFit/>
          </a:bodyPr>
          <a:lstStyle/>
          <a:p>
            <a:pPr algn="l">
              <a:spcAft>
                <a:spcPts val="400"/>
              </a:spcAft>
            </a:pPr>
            <a:r>
              <a:rPr sz="1050" b="0">
                <a:solidFill>
                  <a:srgbClr val="4B5765"/>
                </a:solidFill>
                <a:latin typeface="Segoe UI"/>
              </a:rPr>
              <a:t>certifications</a:t>
            </a:r>
          </a:p>
        </p:txBody>
      </p:sp>
      <p:sp>
        <p:nvSpPr>
          <p:cNvPr id="27" name="Rounded Rectangle 26"/>
          <p:cNvSpPr/>
          <p:nvPr/>
        </p:nvSpPr>
        <p:spPr>
          <a:xfrm>
            <a:off x="6217920" y="5321808"/>
            <a:ext cx="2633472" cy="886968"/>
          </a:xfrm>
          <a:prstGeom prst="roundRect">
            <a:avLst>
              <a:gd name="adj" fmla="val 6000"/>
            </a:avLst>
          </a:prstGeom>
          <a:solidFill>
            <a:srgbClr val="F4F6F8"/>
          </a:solidFill>
          <a:ln>
            <a:noFill/>
          </a:ln>
        </p:spPr>
        <p:txBody>
          <a:bodyPr rtlCol="0" anchor="ctr"/>
          <a:lstStyle/>
          <a:p/>
        </p:txBody>
      </p:sp>
      <p:sp>
        <p:nvSpPr>
          <p:cNvPr id="28" name="TextBox 27"/>
          <p:cNvSpPr txBox="1"/>
          <p:nvPr/>
        </p:nvSpPr>
        <p:spPr>
          <a:xfrm>
            <a:off x="6382512" y="5376672"/>
            <a:ext cx="2377440" cy="457200"/>
          </a:xfrm>
          <a:prstGeom prst="rect">
            <a:avLst/>
          </a:prstGeom>
          <a:noFill/>
        </p:spPr>
        <p:txBody>
          <a:bodyPr wrap="square" anchor="t" lIns="18288" rIns="18288" tIns="18288" bIns="18288">
            <a:spAutoFit/>
          </a:bodyPr>
          <a:lstStyle/>
          <a:p>
            <a:pPr algn="l">
              <a:spcAft>
                <a:spcPts val="400"/>
              </a:spcAft>
            </a:pPr>
            <a:r>
              <a:rPr sz="2200" b="0">
                <a:solidFill>
                  <a:srgbClr val="17202A"/>
                </a:solidFill>
                <a:latin typeface="Segoe UI Semibold"/>
              </a:rPr>
              <a:t>41%</a:t>
            </a:r>
          </a:p>
        </p:txBody>
      </p:sp>
      <p:sp>
        <p:nvSpPr>
          <p:cNvPr id="29" name="TextBox 28"/>
          <p:cNvSpPr txBox="1"/>
          <p:nvPr/>
        </p:nvSpPr>
        <p:spPr>
          <a:xfrm>
            <a:off x="6382512" y="5833872"/>
            <a:ext cx="2377440" cy="320040"/>
          </a:xfrm>
          <a:prstGeom prst="rect">
            <a:avLst/>
          </a:prstGeom>
          <a:noFill/>
        </p:spPr>
        <p:txBody>
          <a:bodyPr wrap="square" anchor="t" lIns="18288" rIns="18288" tIns="18288" bIns="18288">
            <a:spAutoFit/>
          </a:bodyPr>
          <a:lstStyle/>
          <a:p>
            <a:pPr algn="l">
              <a:spcAft>
                <a:spcPts val="400"/>
              </a:spcAft>
            </a:pPr>
            <a:r>
              <a:rPr sz="1050" b="0">
                <a:solidFill>
                  <a:srgbClr val="4B5765"/>
                </a:solidFill>
                <a:latin typeface="Segoe UI"/>
              </a:rPr>
              <a:t>quiz pass rate</a:t>
            </a:r>
          </a:p>
        </p:txBody>
      </p:sp>
      <p:sp>
        <p:nvSpPr>
          <p:cNvPr id="30" name="Rounded Rectangle 29"/>
          <p:cNvSpPr/>
          <p:nvPr/>
        </p:nvSpPr>
        <p:spPr>
          <a:xfrm>
            <a:off x="8942832" y="5321808"/>
            <a:ext cx="2633472" cy="886968"/>
          </a:xfrm>
          <a:prstGeom prst="roundRect">
            <a:avLst>
              <a:gd name="adj" fmla="val 6000"/>
            </a:avLst>
          </a:prstGeom>
          <a:solidFill>
            <a:srgbClr val="F4F6F8"/>
          </a:solidFill>
          <a:ln>
            <a:noFill/>
          </a:ln>
        </p:spPr>
        <p:txBody>
          <a:bodyPr rtlCol="0" anchor="ctr"/>
          <a:lstStyle/>
          <a:p/>
        </p:txBody>
      </p:sp>
      <p:sp>
        <p:nvSpPr>
          <p:cNvPr id="31" name="TextBox 30"/>
          <p:cNvSpPr txBox="1"/>
          <p:nvPr/>
        </p:nvSpPr>
        <p:spPr>
          <a:xfrm>
            <a:off x="9107424" y="5376672"/>
            <a:ext cx="2377440" cy="457200"/>
          </a:xfrm>
          <a:prstGeom prst="rect">
            <a:avLst/>
          </a:prstGeom>
          <a:noFill/>
        </p:spPr>
        <p:txBody>
          <a:bodyPr wrap="square" anchor="t" lIns="18288" rIns="18288" tIns="18288" bIns="18288">
            <a:spAutoFit/>
          </a:bodyPr>
          <a:lstStyle/>
          <a:p>
            <a:pPr algn="l">
              <a:spcAft>
                <a:spcPts val="400"/>
              </a:spcAft>
            </a:pPr>
            <a:r>
              <a:rPr sz="2200" b="0">
                <a:solidFill>
                  <a:srgbClr val="B0412D"/>
                </a:solidFill>
                <a:latin typeface="Segoe UI Semibold"/>
              </a:rPr>
              <a:t>232</a:t>
            </a:r>
          </a:p>
        </p:txBody>
      </p:sp>
      <p:sp>
        <p:nvSpPr>
          <p:cNvPr id="32" name="TextBox 31"/>
          <p:cNvSpPr txBox="1"/>
          <p:nvPr/>
        </p:nvSpPr>
        <p:spPr>
          <a:xfrm>
            <a:off x="9107424" y="5833872"/>
            <a:ext cx="2377440" cy="320040"/>
          </a:xfrm>
          <a:prstGeom prst="rect">
            <a:avLst/>
          </a:prstGeom>
          <a:noFill/>
        </p:spPr>
        <p:txBody>
          <a:bodyPr wrap="square" anchor="t" lIns="18288" rIns="18288" tIns="18288" bIns="18288">
            <a:spAutoFit/>
          </a:bodyPr>
          <a:lstStyle/>
          <a:p>
            <a:pPr algn="l">
              <a:spcAft>
                <a:spcPts val="400"/>
              </a:spcAft>
            </a:pPr>
            <a:r>
              <a:rPr sz="1050" b="0">
                <a:solidFill>
                  <a:srgbClr val="4B5765"/>
                </a:solidFill>
                <a:latin typeface="Segoe UI"/>
              </a:rPr>
              <a:t>with no learning activity</a:t>
            </a:r>
          </a:p>
        </p:txBody>
      </p:sp>
      <p:cxnSp>
        <p:nvCxnSpPr>
          <p:cNvPr id="33" name="Connector 32"/>
          <p:cNvCxnSpPr/>
          <p:nvPr/>
        </p:nvCxnSpPr>
        <p:spPr>
          <a:xfrm>
            <a:off x="548640" y="6400800"/>
            <a:ext cx="11094415" cy="0"/>
          </a:xfrm>
          <a:prstGeom prst="line">
            <a:avLst/>
          </a:prstGeom>
          <a:ln w="9525">
            <a:solidFill>
              <a:srgbClr val="D4DAE1"/>
            </a:solidFill>
          </a:ln>
        </p:spPr>
      </p:cxnSp>
      <p:sp>
        <p:nvSpPr>
          <p:cNvPr id="34" name="TextBox 33"/>
          <p:cNvSpPr txBox="1"/>
          <p:nvPr/>
        </p:nvSpPr>
        <p:spPr>
          <a:xfrm>
            <a:off x="548640" y="6455664"/>
            <a:ext cx="7315200" cy="274320"/>
          </a:xfrm>
          <a:prstGeom prst="rect">
            <a:avLst/>
          </a:prstGeom>
          <a:noFill/>
        </p:spPr>
        <p:txBody>
          <a:bodyPr wrap="square" anchor="t" lIns="18288" rIns="18288" tIns="18288" bIns="18288">
            <a:spAutoFit/>
          </a:bodyPr>
          <a:lstStyle/>
          <a:p>
            <a:pPr algn="l">
              <a:spcAft>
                <a:spcPts val="400"/>
              </a:spcAft>
            </a:pPr>
            <a:r>
              <a:rPr sz="900" b="0">
                <a:solidFill>
                  <a:srgbClr val="8A94A0"/>
                </a:solidFill>
                <a:latin typeface="Segoe UI"/>
              </a:rPr>
              <a:t>ACME Talent Lake  ·  Data Engineer track  ·  Coding Workshop 2026</a:t>
            </a:r>
          </a:p>
        </p:txBody>
      </p:sp>
      <p:sp>
        <p:nvSpPr>
          <p:cNvPr id="35" name="TextBox 34"/>
          <p:cNvSpPr txBox="1"/>
          <p:nvPr/>
        </p:nvSpPr>
        <p:spPr>
          <a:xfrm>
            <a:off x="10698480" y="6455664"/>
            <a:ext cx="941832" cy="274320"/>
          </a:xfrm>
          <a:prstGeom prst="rect">
            <a:avLst/>
          </a:prstGeom>
          <a:noFill/>
        </p:spPr>
        <p:txBody>
          <a:bodyPr wrap="square" anchor="t" lIns="18288" rIns="18288" tIns="18288" bIns="18288">
            <a:spAutoFit/>
          </a:bodyPr>
          <a:lstStyle/>
          <a:p>
            <a:pPr algn="r">
              <a:spcAft>
                <a:spcPts val="400"/>
              </a:spcAft>
            </a:pPr>
            <a:r>
              <a:rPr sz="900" b="0">
                <a:solidFill>
                  <a:srgbClr val="8A94A0"/>
                </a:solidFill>
                <a:latin typeface="Segoe UI"/>
              </a:rPr>
              <a:t>8 / 11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8229600" cy="274320"/>
          </a:xfrm>
          <a:prstGeom prst="rect">
            <a:avLst/>
          </a:prstGeom>
          <a:noFill/>
        </p:spPr>
        <p:txBody>
          <a:bodyPr wrap="square" anchor="t" lIns="18288" rIns="18288" tIns="18288" bIns="18288">
            <a:spAutoFit/>
          </a:bodyPr>
          <a:lstStyle/>
          <a:p>
            <a:pPr algn="l">
              <a:spcAft>
                <a:spcPts val="400"/>
              </a:spcAft>
            </a:pPr>
            <a:r>
              <a:rPr sz="1100" b="0">
                <a:solidFill>
                  <a:srgbClr val="1D4E89"/>
                </a:solidFill>
                <a:latin typeface="Segoe UI Semibold"/>
              </a:rPr>
              <a:t>FINDINGS · Q5–Q7</a:t>
            </a:r>
          </a:p>
        </p:txBody>
      </p:sp>
      <p:sp>
        <p:nvSpPr>
          <p:cNvPr id="3" name="TextBox 2"/>
          <p:cNvSpPr txBox="1"/>
          <p:nvPr/>
        </p:nvSpPr>
        <p:spPr>
          <a:xfrm>
            <a:off x="548640" y="566928"/>
            <a:ext cx="11064240" cy="731520"/>
          </a:xfrm>
          <a:prstGeom prst="rect">
            <a:avLst/>
          </a:prstGeom>
          <a:noFill/>
        </p:spPr>
        <p:txBody>
          <a:bodyPr wrap="square" anchor="t" lIns="18288" rIns="18288" tIns="18288" bIns="18288">
            <a:spAutoFit/>
          </a:bodyPr>
          <a:lstStyle/>
          <a:p>
            <a:pPr algn="l">
              <a:spcAft>
                <a:spcPts val="400"/>
              </a:spcAft>
            </a:pPr>
            <a:r>
              <a:rPr sz="2600" b="0">
                <a:solidFill>
                  <a:srgbClr val="17202A"/>
                </a:solidFill>
                <a:latin typeface="Segoe UI Semibold"/>
              </a:rPr>
              <a:t>212 at high attrition risk; stronger teams deliver on time</a:t>
            </a:r>
          </a:p>
        </p:txBody>
      </p:sp>
      <p:sp>
        <p:nvSpPr>
          <p:cNvPr id="4" name="TextBox 3"/>
          <p:cNvSpPr txBox="1"/>
          <p:nvPr/>
        </p:nvSpPr>
        <p:spPr>
          <a:xfrm>
            <a:off x="548640" y="1417320"/>
            <a:ext cx="3557016" cy="320040"/>
          </a:xfrm>
          <a:prstGeom prst="rect">
            <a:avLst/>
          </a:prstGeom>
          <a:noFill/>
        </p:spPr>
        <p:txBody>
          <a:bodyPr wrap="square" anchor="t" lIns="18288" rIns="18288" tIns="18288" bIns="18288">
            <a:spAutoFit/>
          </a:bodyPr>
          <a:lstStyle/>
          <a:p>
            <a:pPr algn="l">
              <a:spcAft>
                <a:spcPts val="400"/>
              </a:spcAft>
            </a:pPr>
            <a:r>
              <a:rPr sz="1300" b="0">
                <a:solidFill>
                  <a:srgbClr val="17202A"/>
                </a:solidFill>
                <a:latin typeface="Segoe UI Semibold"/>
              </a:rPr>
              <a:t>Q5 · Computed attrition risk</a:t>
            </a:r>
          </a:p>
        </p:txBody>
      </p:sp>
      <p:graphicFrame>
        <p:nvGraphicFramePr>
          <p:cNvPr id="5" name="Chart 4"/>
          <p:cNvGraphicFramePr>
            <a:graphicFrameLocks noGrp="1"/>
          </p:cNvGraphicFramePr>
          <p:nvPr/>
        </p:nvGraphicFramePr>
        <p:xfrm>
          <a:off x="457200" y="1737360"/>
          <a:ext cx="3648456" cy="1737360"/>
        </p:xfrm>
        <a:graphic>
          <a:graphicData uri="http://schemas.openxmlformats.org/drawingml/2006/chart">
            <c:chart xmlns:c="http://schemas.openxmlformats.org/drawingml/2006/chart" r:id="rId3"/>
          </a:graphicData>
        </a:graphic>
      </p:graphicFrame>
      <p:sp>
        <p:nvSpPr>
          <p:cNvPr id="6" name="TextBox 5"/>
          <p:cNvSpPr txBox="1"/>
          <p:nvPr/>
        </p:nvSpPr>
        <p:spPr>
          <a:xfrm>
            <a:off x="548640" y="3657600"/>
            <a:ext cx="3557016" cy="2468880"/>
          </a:xfrm>
          <a:prstGeom prst="rect">
            <a:avLst/>
          </a:prstGeom>
          <a:noFill/>
        </p:spPr>
        <p:txBody>
          <a:bodyPr wrap="square" anchor="t" lIns="18288" rIns="18288" tIns="18288" bIns="18288">
            <a:spAutoFit/>
          </a:bodyPr>
          <a:lstStyle/>
          <a:p>
            <a:pPr algn="l">
              <a:spcAft>
                <a:spcPts val="800"/>
              </a:spcAft>
            </a:pPr>
            <a:r>
              <a:rPr sz="1200" b="0">
                <a:solidFill>
                  <a:srgbClr val="4B5765"/>
                </a:solidFill>
                <a:latin typeface="Segoe UI"/>
              </a:rPr>
              <a:t>Managers flagged 311 as high risk; only 145 also show performance warning signs.</a:t>
            </a:r>
          </a:p>
          <a:p>
            <a:pPr algn="l">
              <a:spcAft>
                <a:spcPts val="800"/>
              </a:spcAft>
            </a:pPr>
            <a:r>
              <a:rPr sz="1200" b="0">
                <a:solidFill>
                  <a:srgbClr val="17202A"/>
                </a:solidFill>
                <a:latin typeface="Segoe UI Semibold"/>
              </a:rPr>
              <a:t>67 more score high without a manager flag.</a:t>
            </a:r>
          </a:p>
          <a:p>
            <a:pPr algn="l">
              <a:spcAft>
                <a:spcPts val="800"/>
              </a:spcAft>
            </a:pPr>
            <a:r>
              <a:rPr sz="1050" b="0">
                <a:solidFill>
                  <a:srgbClr val="8A94A0"/>
                </a:solidFill>
                <a:latin typeface="Segoe UI"/>
              </a:rPr>
              <a:t>Score: rating fell +2 · rating ≤ 2 +2 · negative comment +1 · no learning in 180 days +1 · manager flag +2 / +1. High = 5 or more.</a:t>
            </a:r>
          </a:p>
        </p:txBody>
      </p:sp>
      <p:sp>
        <p:nvSpPr>
          <p:cNvPr id="7" name="TextBox 6"/>
          <p:cNvSpPr txBox="1"/>
          <p:nvPr/>
        </p:nvSpPr>
        <p:spPr>
          <a:xfrm>
            <a:off x="4315968" y="1417320"/>
            <a:ext cx="3557016" cy="320040"/>
          </a:xfrm>
          <a:prstGeom prst="rect">
            <a:avLst/>
          </a:prstGeom>
          <a:noFill/>
        </p:spPr>
        <p:txBody>
          <a:bodyPr wrap="square" anchor="t" lIns="18288" rIns="18288" tIns="18288" bIns="18288">
            <a:spAutoFit/>
          </a:bodyPr>
          <a:lstStyle/>
          <a:p>
            <a:pPr algn="l">
              <a:spcAft>
                <a:spcPts val="400"/>
              </a:spcAft>
            </a:pPr>
            <a:r>
              <a:rPr sz="1300" b="0">
                <a:solidFill>
                  <a:srgbClr val="17202A"/>
                </a:solidFill>
                <a:latin typeface="Segoe UI Semibold"/>
              </a:rPr>
              <a:t>Q6 · % high performers by delivery</a:t>
            </a:r>
          </a:p>
        </p:txBody>
      </p:sp>
      <p:graphicFrame>
        <p:nvGraphicFramePr>
          <p:cNvPr id="8" name="Chart 7"/>
          <p:cNvGraphicFramePr>
            <a:graphicFrameLocks noGrp="1"/>
          </p:cNvGraphicFramePr>
          <p:nvPr/>
        </p:nvGraphicFramePr>
        <p:xfrm>
          <a:off x="4224528" y="1737360"/>
          <a:ext cx="3648456" cy="1737360"/>
        </p:xfrm>
        <a:graphic>
          <a:graphicData uri="http://schemas.openxmlformats.org/drawingml/2006/chart">
            <c:chart xmlns:c="http://schemas.openxmlformats.org/drawingml/2006/chart" r:id="rId4"/>
          </a:graphicData>
        </a:graphic>
      </p:graphicFrame>
      <p:sp>
        <p:nvSpPr>
          <p:cNvPr id="9" name="TextBox 8"/>
          <p:cNvSpPr txBox="1"/>
          <p:nvPr/>
        </p:nvSpPr>
        <p:spPr>
          <a:xfrm>
            <a:off x="4315968" y="3703320"/>
            <a:ext cx="1143000" cy="411480"/>
          </a:xfrm>
          <a:prstGeom prst="rect">
            <a:avLst/>
          </a:prstGeom>
          <a:noFill/>
        </p:spPr>
        <p:txBody>
          <a:bodyPr wrap="square" anchor="t" lIns="18288" rIns="18288" tIns="18288" bIns="18288">
            <a:spAutoFit/>
          </a:bodyPr>
          <a:lstStyle/>
          <a:p>
            <a:pPr algn="l">
              <a:spcAft>
                <a:spcPts val="400"/>
              </a:spcAft>
            </a:pPr>
            <a:r>
              <a:rPr sz="2000" b="0">
                <a:solidFill>
                  <a:srgbClr val="17202A"/>
                </a:solidFill>
                <a:latin typeface="Segoe UI Semibold"/>
              </a:rPr>
              <a:t>+0.24</a:t>
            </a:r>
          </a:p>
        </p:txBody>
      </p:sp>
      <p:sp>
        <p:nvSpPr>
          <p:cNvPr id="10" name="TextBox 9"/>
          <p:cNvSpPr txBox="1"/>
          <p:nvPr/>
        </p:nvSpPr>
        <p:spPr>
          <a:xfrm>
            <a:off x="4315968" y="4160520"/>
            <a:ext cx="1143000" cy="548640"/>
          </a:xfrm>
          <a:prstGeom prst="rect">
            <a:avLst/>
          </a:prstGeom>
          <a:noFill/>
        </p:spPr>
        <p:txBody>
          <a:bodyPr wrap="square" anchor="t" lIns="18288" rIns="18288" tIns="18288" bIns="18288">
            <a:spAutoFit/>
          </a:bodyPr>
          <a:lstStyle/>
          <a:p>
            <a:pPr algn="l">
              <a:spcAft>
                <a:spcPts val="0"/>
              </a:spcAft>
            </a:pPr>
            <a:r>
              <a:rPr sz="950" b="0">
                <a:solidFill>
                  <a:srgbClr val="4B5765"/>
                </a:solidFill>
                <a:latin typeface="Segoe UI"/>
              </a:rPr>
              <a:t>rating vs</a:t>
            </a:r>
          </a:p>
          <a:p>
            <a:pPr algn="l">
              <a:spcAft>
                <a:spcPts val="0"/>
              </a:spcAft>
            </a:pPr>
            <a:r>
              <a:rPr sz="950" b="0">
                <a:solidFill>
                  <a:srgbClr val="4B5765"/>
                </a:solidFill>
                <a:latin typeface="Segoe UI"/>
              </a:rPr>
              <a:t>project score</a:t>
            </a:r>
          </a:p>
        </p:txBody>
      </p:sp>
      <p:sp>
        <p:nvSpPr>
          <p:cNvPr id="11" name="TextBox 10"/>
          <p:cNvSpPr txBox="1"/>
          <p:nvPr/>
        </p:nvSpPr>
        <p:spPr>
          <a:xfrm>
            <a:off x="5504688" y="3703320"/>
            <a:ext cx="1143000" cy="411480"/>
          </a:xfrm>
          <a:prstGeom prst="rect">
            <a:avLst/>
          </a:prstGeom>
          <a:noFill/>
        </p:spPr>
        <p:txBody>
          <a:bodyPr wrap="square" anchor="t" lIns="18288" rIns="18288" tIns="18288" bIns="18288">
            <a:spAutoFit/>
          </a:bodyPr>
          <a:lstStyle/>
          <a:p>
            <a:pPr algn="l">
              <a:spcAft>
                <a:spcPts val="400"/>
              </a:spcAft>
            </a:pPr>
            <a:r>
              <a:rPr sz="2000" b="0">
                <a:solidFill>
                  <a:srgbClr val="17202A"/>
                </a:solidFill>
                <a:latin typeface="Segoe UI Semibold"/>
              </a:rPr>
              <a:t>+0.38</a:t>
            </a:r>
          </a:p>
        </p:txBody>
      </p:sp>
      <p:sp>
        <p:nvSpPr>
          <p:cNvPr id="12" name="TextBox 11"/>
          <p:cNvSpPr txBox="1"/>
          <p:nvPr/>
        </p:nvSpPr>
        <p:spPr>
          <a:xfrm>
            <a:off x="5504688" y="4160520"/>
            <a:ext cx="1143000" cy="548640"/>
          </a:xfrm>
          <a:prstGeom prst="rect">
            <a:avLst/>
          </a:prstGeom>
          <a:noFill/>
        </p:spPr>
        <p:txBody>
          <a:bodyPr wrap="square" anchor="t" lIns="18288" rIns="18288" tIns="18288" bIns="18288">
            <a:spAutoFit/>
          </a:bodyPr>
          <a:lstStyle/>
          <a:p>
            <a:pPr algn="l">
              <a:spcAft>
                <a:spcPts val="0"/>
              </a:spcAft>
            </a:pPr>
            <a:r>
              <a:rPr sz="950" b="0">
                <a:solidFill>
                  <a:srgbClr val="4B5765"/>
                </a:solidFill>
                <a:latin typeface="Segoe UI"/>
              </a:rPr>
              <a:t>high performers</a:t>
            </a:r>
          </a:p>
          <a:p>
            <a:pPr algn="l">
              <a:spcAft>
                <a:spcPts val="0"/>
              </a:spcAft>
            </a:pPr>
            <a:r>
              <a:rPr sz="950" b="0">
                <a:solidFill>
                  <a:srgbClr val="4B5765"/>
                </a:solidFill>
                <a:latin typeface="Segoe UI"/>
              </a:rPr>
              <a:t>vs on time</a:t>
            </a:r>
          </a:p>
        </p:txBody>
      </p:sp>
      <p:sp>
        <p:nvSpPr>
          <p:cNvPr id="13" name="TextBox 12"/>
          <p:cNvSpPr txBox="1"/>
          <p:nvPr/>
        </p:nvSpPr>
        <p:spPr>
          <a:xfrm>
            <a:off x="6693408" y="3703320"/>
            <a:ext cx="1143000" cy="411480"/>
          </a:xfrm>
          <a:prstGeom prst="rect">
            <a:avLst/>
          </a:prstGeom>
          <a:noFill/>
        </p:spPr>
        <p:txBody>
          <a:bodyPr wrap="square" anchor="t" lIns="18288" rIns="18288" tIns="18288" bIns="18288">
            <a:spAutoFit/>
          </a:bodyPr>
          <a:lstStyle/>
          <a:p>
            <a:pPr algn="l">
              <a:spcAft>
                <a:spcPts val="400"/>
              </a:spcAft>
            </a:pPr>
            <a:r>
              <a:rPr sz="2000" b="0">
                <a:solidFill>
                  <a:srgbClr val="17202A"/>
                </a:solidFill>
                <a:latin typeface="Segoe UI Semibold"/>
              </a:rPr>
              <a:t>-0.23</a:t>
            </a:r>
          </a:p>
        </p:txBody>
      </p:sp>
      <p:sp>
        <p:nvSpPr>
          <p:cNvPr id="14" name="TextBox 13"/>
          <p:cNvSpPr txBox="1"/>
          <p:nvPr/>
        </p:nvSpPr>
        <p:spPr>
          <a:xfrm>
            <a:off x="6693408" y="4160520"/>
            <a:ext cx="1143000" cy="548640"/>
          </a:xfrm>
          <a:prstGeom prst="rect">
            <a:avLst/>
          </a:prstGeom>
          <a:noFill/>
        </p:spPr>
        <p:txBody>
          <a:bodyPr wrap="square" anchor="t" lIns="18288" rIns="18288" tIns="18288" bIns="18288">
            <a:spAutoFit/>
          </a:bodyPr>
          <a:lstStyle/>
          <a:p>
            <a:pPr algn="l">
              <a:spcAft>
                <a:spcPts val="0"/>
              </a:spcAft>
            </a:pPr>
            <a:r>
              <a:rPr sz="950" b="0">
                <a:solidFill>
                  <a:srgbClr val="4B5765"/>
                </a:solidFill>
                <a:latin typeface="Segoe UI"/>
              </a:rPr>
              <a:t>skill gaps vs</a:t>
            </a:r>
          </a:p>
          <a:p>
            <a:pPr algn="l">
              <a:spcAft>
                <a:spcPts val="0"/>
              </a:spcAft>
            </a:pPr>
            <a:r>
              <a:rPr sz="950" b="0">
                <a:solidFill>
                  <a:srgbClr val="4B5765"/>
                </a:solidFill>
                <a:latin typeface="Segoe UI"/>
              </a:rPr>
              <a:t>project score</a:t>
            </a:r>
          </a:p>
        </p:txBody>
      </p:sp>
      <p:sp>
        <p:nvSpPr>
          <p:cNvPr id="15" name="TextBox 14"/>
          <p:cNvSpPr txBox="1"/>
          <p:nvPr/>
        </p:nvSpPr>
        <p:spPr>
          <a:xfrm>
            <a:off x="4315968" y="4983480"/>
            <a:ext cx="3557016" cy="1097280"/>
          </a:xfrm>
          <a:prstGeom prst="rect">
            <a:avLst/>
          </a:prstGeom>
          <a:noFill/>
        </p:spPr>
        <p:txBody>
          <a:bodyPr wrap="square" anchor="t" lIns="18288" rIns="18288" tIns="18288" bIns="18288">
            <a:spAutoFit/>
          </a:bodyPr>
          <a:lstStyle/>
          <a:p>
            <a:pPr algn="l">
              <a:spcAft>
                <a:spcPts val="400"/>
              </a:spcAft>
            </a:pPr>
            <a:r>
              <a:rPr sz="1100" b="0">
                <a:solidFill>
                  <a:srgbClr val="4B5765"/>
                </a:solidFill>
                <a:latin typeface="Segoe UI"/>
              </a:rPr>
              <a:t>Team level, because projects belong to teams. Based on 27 teams: indicative, not proof.</a:t>
            </a:r>
          </a:p>
        </p:txBody>
      </p:sp>
      <p:sp>
        <p:nvSpPr>
          <p:cNvPr id="16" name="TextBox 15"/>
          <p:cNvSpPr txBox="1"/>
          <p:nvPr/>
        </p:nvSpPr>
        <p:spPr>
          <a:xfrm>
            <a:off x="8083296" y="1417320"/>
            <a:ext cx="3557016" cy="320040"/>
          </a:xfrm>
          <a:prstGeom prst="rect">
            <a:avLst/>
          </a:prstGeom>
          <a:noFill/>
        </p:spPr>
        <p:txBody>
          <a:bodyPr wrap="square" anchor="t" lIns="18288" rIns="18288" tIns="18288" bIns="18288">
            <a:spAutoFit/>
          </a:bodyPr>
          <a:lstStyle/>
          <a:p>
            <a:pPr algn="l">
              <a:spcAft>
                <a:spcPts val="400"/>
              </a:spcAft>
            </a:pPr>
            <a:r>
              <a:rPr sz="1300" b="0">
                <a:solidFill>
                  <a:srgbClr val="17202A"/>
                </a:solidFill>
                <a:latin typeface="Segoe UI Semibold"/>
              </a:rPr>
              <a:t>Q7 · Weakest skill coverage</a:t>
            </a:r>
          </a:p>
        </p:txBody>
      </p:sp>
      <p:graphicFrame>
        <p:nvGraphicFramePr>
          <p:cNvPr id="17" name="Chart 16"/>
          <p:cNvGraphicFramePr>
            <a:graphicFrameLocks noGrp="1"/>
          </p:cNvGraphicFramePr>
          <p:nvPr/>
        </p:nvGraphicFramePr>
        <p:xfrm>
          <a:off x="7991856" y="1737360"/>
          <a:ext cx="3648456" cy="1737360"/>
        </p:xfrm>
        <a:graphic>
          <a:graphicData uri="http://schemas.openxmlformats.org/drawingml/2006/chart">
            <c:chart xmlns:c="http://schemas.openxmlformats.org/drawingml/2006/chart" r:id="rId5"/>
          </a:graphicData>
        </a:graphic>
      </p:graphicFrame>
      <p:sp>
        <p:nvSpPr>
          <p:cNvPr id="18" name="TextBox 17"/>
          <p:cNvSpPr txBox="1"/>
          <p:nvPr/>
        </p:nvSpPr>
        <p:spPr>
          <a:xfrm>
            <a:off x="8083296" y="3657600"/>
            <a:ext cx="1691640" cy="548640"/>
          </a:xfrm>
          <a:prstGeom prst="rect">
            <a:avLst/>
          </a:prstGeom>
          <a:noFill/>
        </p:spPr>
        <p:txBody>
          <a:bodyPr wrap="square" anchor="t" lIns="18288" rIns="18288" tIns="18288" bIns="18288">
            <a:spAutoFit/>
          </a:bodyPr>
          <a:lstStyle/>
          <a:p>
            <a:pPr algn="l">
              <a:spcAft>
                <a:spcPts val="400"/>
              </a:spcAft>
            </a:pPr>
            <a:r>
              <a:rPr sz="2400" b="0">
                <a:solidFill>
                  <a:srgbClr val="B0412D"/>
                </a:solidFill>
                <a:latin typeface="Segoe UI Semibold"/>
              </a:rPr>
              <a:t>33%</a:t>
            </a:r>
          </a:p>
        </p:txBody>
      </p:sp>
      <p:sp>
        <p:nvSpPr>
          <p:cNvPr id="19" name="TextBox 18"/>
          <p:cNvSpPr txBox="1"/>
          <p:nvPr/>
        </p:nvSpPr>
        <p:spPr>
          <a:xfrm>
            <a:off x="8083296" y="4224528"/>
            <a:ext cx="1691640" cy="457200"/>
          </a:xfrm>
          <a:prstGeom prst="rect">
            <a:avLst/>
          </a:prstGeom>
          <a:noFill/>
        </p:spPr>
        <p:txBody>
          <a:bodyPr wrap="square" anchor="t" lIns="18288" rIns="18288" tIns="18288" bIns="18288">
            <a:spAutoFit/>
          </a:bodyPr>
          <a:lstStyle/>
          <a:p>
            <a:pPr algn="l">
              <a:spcAft>
                <a:spcPts val="400"/>
              </a:spcAft>
            </a:pPr>
            <a:r>
              <a:rPr sz="1100" b="0">
                <a:solidFill>
                  <a:srgbClr val="4B5765"/>
                </a:solidFill>
                <a:latin typeface="Segoe UI"/>
              </a:rPr>
              <a:t>of assessments at level 1–2</a:t>
            </a:r>
          </a:p>
        </p:txBody>
      </p:sp>
      <p:sp>
        <p:nvSpPr>
          <p:cNvPr id="20" name="TextBox 19"/>
          <p:cNvSpPr txBox="1"/>
          <p:nvPr/>
        </p:nvSpPr>
        <p:spPr>
          <a:xfrm>
            <a:off x="9866376" y="3657600"/>
            <a:ext cx="1691640" cy="548640"/>
          </a:xfrm>
          <a:prstGeom prst="rect">
            <a:avLst/>
          </a:prstGeom>
          <a:noFill/>
        </p:spPr>
        <p:txBody>
          <a:bodyPr wrap="square" anchor="t" lIns="18288" rIns="18288" tIns="18288" bIns="18288">
            <a:spAutoFit/>
          </a:bodyPr>
          <a:lstStyle/>
          <a:p>
            <a:pPr algn="l">
              <a:spcAft>
                <a:spcPts val="400"/>
              </a:spcAft>
            </a:pPr>
            <a:r>
              <a:rPr sz="2400" b="0">
                <a:solidFill>
                  <a:srgbClr val="17202A"/>
                </a:solidFill>
                <a:latin typeface="Segoe UI Semibold"/>
              </a:rPr>
              <a:t>39%</a:t>
            </a:r>
          </a:p>
        </p:txBody>
      </p:sp>
      <p:sp>
        <p:nvSpPr>
          <p:cNvPr id="21" name="TextBox 20"/>
          <p:cNvSpPr txBox="1"/>
          <p:nvPr/>
        </p:nvSpPr>
        <p:spPr>
          <a:xfrm>
            <a:off x="9866376" y="4224528"/>
            <a:ext cx="1691640" cy="457200"/>
          </a:xfrm>
          <a:prstGeom prst="rect">
            <a:avLst/>
          </a:prstGeom>
          <a:noFill/>
        </p:spPr>
        <p:txBody>
          <a:bodyPr wrap="square" anchor="t" lIns="18288" rIns="18288" tIns="18288" bIns="18288">
            <a:spAutoFit/>
          </a:bodyPr>
          <a:lstStyle/>
          <a:p>
            <a:pPr algn="l">
              <a:spcAft>
                <a:spcPts val="400"/>
              </a:spcAft>
            </a:pPr>
            <a:r>
              <a:rPr sz="1100" b="0">
                <a:solidFill>
                  <a:srgbClr val="4B5765"/>
                </a:solidFill>
                <a:latin typeface="Segoe UI"/>
              </a:rPr>
              <a:t>at level 4–5</a:t>
            </a:r>
          </a:p>
        </p:txBody>
      </p:sp>
      <p:sp>
        <p:nvSpPr>
          <p:cNvPr id="22" name="TextBox 21"/>
          <p:cNvSpPr txBox="1"/>
          <p:nvPr/>
        </p:nvSpPr>
        <p:spPr>
          <a:xfrm>
            <a:off x="8083296" y="4983480"/>
            <a:ext cx="3557016" cy="1097280"/>
          </a:xfrm>
          <a:prstGeom prst="rect">
            <a:avLst/>
          </a:prstGeom>
          <a:noFill/>
        </p:spPr>
        <p:txBody>
          <a:bodyPr wrap="square" anchor="t" lIns="18288" rIns="18288" tIns="18288" bIns="18288">
            <a:spAutoFit/>
          </a:bodyPr>
          <a:lstStyle/>
          <a:p>
            <a:pPr algn="l">
              <a:spcAft>
                <a:spcPts val="400"/>
              </a:spcAft>
            </a:pPr>
            <a:r>
              <a:rPr sz="1100" b="0">
                <a:solidFill>
                  <a:srgbClr val="4B5765"/>
                </a:solidFill>
                <a:latin typeface="Segoe UI"/>
              </a:rPr>
              <a:t>% of assessed employees meeting their role's required level. Gaps are specific skills, not whole categories.</a:t>
            </a:r>
          </a:p>
        </p:txBody>
      </p:sp>
      <p:cxnSp>
        <p:nvCxnSpPr>
          <p:cNvPr id="23" name="Connector 22"/>
          <p:cNvCxnSpPr/>
          <p:nvPr/>
        </p:nvCxnSpPr>
        <p:spPr>
          <a:xfrm>
            <a:off x="548640" y="6400800"/>
            <a:ext cx="11094415" cy="0"/>
          </a:xfrm>
          <a:prstGeom prst="line">
            <a:avLst/>
          </a:prstGeom>
          <a:ln w="9525">
            <a:solidFill>
              <a:srgbClr val="D4DAE1"/>
            </a:solidFill>
          </a:ln>
        </p:spPr>
      </p:cxnSp>
      <p:sp>
        <p:nvSpPr>
          <p:cNvPr id="24" name="TextBox 23"/>
          <p:cNvSpPr txBox="1"/>
          <p:nvPr/>
        </p:nvSpPr>
        <p:spPr>
          <a:xfrm>
            <a:off x="548640" y="6455664"/>
            <a:ext cx="7315200" cy="274320"/>
          </a:xfrm>
          <a:prstGeom prst="rect">
            <a:avLst/>
          </a:prstGeom>
          <a:noFill/>
        </p:spPr>
        <p:txBody>
          <a:bodyPr wrap="square" anchor="t" lIns="18288" rIns="18288" tIns="18288" bIns="18288">
            <a:spAutoFit/>
          </a:bodyPr>
          <a:lstStyle/>
          <a:p>
            <a:pPr algn="l">
              <a:spcAft>
                <a:spcPts val="400"/>
              </a:spcAft>
            </a:pPr>
            <a:r>
              <a:rPr sz="900" b="0">
                <a:solidFill>
                  <a:srgbClr val="8A94A0"/>
                </a:solidFill>
                <a:latin typeface="Segoe UI"/>
              </a:rPr>
              <a:t>ACME Talent Lake  ·  Data Engineer track  ·  Coding Workshop 2026</a:t>
            </a:r>
          </a:p>
        </p:txBody>
      </p:sp>
      <p:sp>
        <p:nvSpPr>
          <p:cNvPr id="25" name="TextBox 24"/>
          <p:cNvSpPr txBox="1"/>
          <p:nvPr/>
        </p:nvSpPr>
        <p:spPr>
          <a:xfrm>
            <a:off x="10698480" y="6455664"/>
            <a:ext cx="941832" cy="274320"/>
          </a:xfrm>
          <a:prstGeom prst="rect">
            <a:avLst/>
          </a:prstGeom>
          <a:noFill/>
        </p:spPr>
        <p:txBody>
          <a:bodyPr wrap="square" anchor="t" lIns="18288" rIns="18288" tIns="18288" bIns="18288">
            <a:spAutoFit/>
          </a:bodyPr>
          <a:lstStyle/>
          <a:p>
            <a:pPr algn="r">
              <a:spcAft>
                <a:spcPts val="400"/>
              </a:spcAft>
            </a:pPr>
            <a:r>
              <a:rPr sz="900" b="0">
                <a:solidFill>
                  <a:srgbClr val="8A94A0"/>
                </a:solidFill>
                <a:latin typeface="Segoe UI"/>
              </a:rPr>
              <a:t>9 / 11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8229600" cy="274320"/>
          </a:xfrm>
          <a:prstGeom prst="rect">
            <a:avLst/>
          </a:prstGeom>
          <a:noFill/>
        </p:spPr>
        <p:txBody>
          <a:bodyPr wrap="square" anchor="t" lIns="18288" rIns="18288" tIns="18288" bIns="18288">
            <a:spAutoFit/>
          </a:bodyPr>
          <a:lstStyle/>
          <a:p>
            <a:pPr algn="l">
              <a:spcAft>
                <a:spcPts val="400"/>
              </a:spcAft>
            </a:pPr>
            <a:r>
              <a:rPr sz="1100" b="0">
                <a:solidFill>
                  <a:srgbClr val="1D4E89"/>
                </a:solidFill>
                <a:latin typeface="Segoe UI Semibold"/>
              </a:rPr>
              <a:t>DEPLOYMENT &amp; TESTING</a:t>
            </a:r>
          </a:p>
        </p:txBody>
      </p:sp>
      <p:sp>
        <p:nvSpPr>
          <p:cNvPr id="3" name="TextBox 2"/>
          <p:cNvSpPr txBox="1"/>
          <p:nvPr/>
        </p:nvSpPr>
        <p:spPr>
          <a:xfrm>
            <a:off x="548640" y="566928"/>
            <a:ext cx="11064240" cy="731520"/>
          </a:xfrm>
          <a:prstGeom prst="rect">
            <a:avLst/>
          </a:prstGeom>
          <a:noFill/>
        </p:spPr>
        <p:txBody>
          <a:bodyPr wrap="square" anchor="t" lIns="18288" rIns="18288" tIns="18288" bIns="18288">
            <a:spAutoFit/>
          </a:bodyPr>
          <a:lstStyle/>
          <a:p>
            <a:pPr algn="l">
              <a:spcAft>
                <a:spcPts val="400"/>
              </a:spcAft>
            </a:pPr>
            <a:r>
              <a:rPr sz="2600" b="0">
                <a:solidFill>
                  <a:srgbClr val="17202A"/>
                </a:solidFill>
                <a:latin typeface="Segoe UI Semibold"/>
              </a:rPr>
              <a:t>Same code locally and on AWS, tested at every layer</a:t>
            </a:r>
          </a:p>
        </p:txBody>
      </p:sp>
      <p:graphicFrame>
        <p:nvGraphicFramePr>
          <p:cNvPr id="4" name="Table 3"/>
          <p:cNvGraphicFramePr>
            <a:graphicFrameLocks noGrp="1"/>
          </p:cNvGraphicFramePr>
          <p:nvPr/>
        </p:nvGraphicFramePr>
        <p:xfrm>
          <a:off x="548640" y="1463040"/>
          <a:ext cx="5422392" cy="2286000"/>
        </p:xfrm>
        <a:graphic>
          <a:graphicData uri="http://schemas.openxmlformats.org/drawingml/2006/table">
            <a:tbl>
              <a:tblPr firstRow="1">
                <a:tableStyleId>{5C22544A-7EE6-4342-B048-85BDC9FD1C3A}</a:tableStyleId>
              </a:tblPr>
              <a:tblGrid>
                <a:gridCol w="1234440"/>
                <a:gridCol w="1901952"/>
                <a:gridCol w="2286000"/>
              </a:tblGrid>
              <a:tr h="457200">
                <a:tc>
                  <a:txBody>
                    <a:bodyPr wrap="square"/>
                    <a:lstStyle/>
                    <a:p>
                      <a:pPr algn="l"/>
                      <a:r>
                        <a:rPr sz="1100" b="1">
                          <a:solidFill>
                            <a:srgbClr val="4B5765"/>
                          </a:solidFill>
                          <a:latin typeface="Segoe UI Semibold"/>
                        </a:rPr>
                        <a:t/>
                      </a:r>
                    </a:p>
                  </a:txBody>
                  <a:tcPr marL="82296" marR="82296" marT="36576" marB="36576" anchor="ctr">
                    <a:solidFill>
                      <a:srgbClr val="F4F6F8"/>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l"/>
                      <a:r>
                        <a:rPr sz="1100" b="1">
                          <a:solidFill>
                            <a:srgbClr val="4B5765"/>
                          </a:solidFill>
                          <a:latin typeface="Segoe UI Semibold"/>
                        </a:rPr>
                        <a:t>Local (VDI)</a:t>
                      </a:r>
                    </a:p>
                  </a:txBody>
                  <a:tcPr marL="82296" marR="82296" marT="36576" marB="36576" anchor="ctr">
                    <a:solidFill>
                      <a:srgbClr val="F4F6F8"/>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l"/>
                      <a:r>
                        <a:rPr sz="1100" b="1">
                          <a:solidFill>
                            <a:srgbClr val="4B5765"/>
                          </a:solidFill>
                          <a:latin typeface="Segoe UI Semibold"/>
                        </a:rPr>
                        <a:t>AWS (ap-south-1)</a:t>
                      </a:r>
                    </a:p>
                  </a:txBody>
                  <a:tcPr marL="82296" marR="82296" marT="36576" marB="36576" anchor="ctr">
                    <a:solidFill>
                      <a:srgbClr val="F4F6F8"/>
                    </a:solidFill>
                    <a:lnL w="6350">
                      <a:solidFill>
                        <a:srgbClr val="D4DAE1"/>
                      </a:solidFill>
                    </a:lnL>
                    <a:lnR w="6350">
                      <a:solidFill>
                        <a:srgbClr val="D4DAE1"/>
                      </a:solidFill>
                    </a:lnR>
                    <a:lnT w="6350">
                      <a:solidFill>
                        <a:srgbClr val="D4DAE1"/>
                      </a:solidFill>
                    </a:lnT>
                    <a:lnB w="6350">
                      <a:solidFill>
                        <a:srgbClr val="D4DAE1"/>
                      </a:solidFill>
                    </a:lnB>
                  </a:tcPr>
                </a:tc>
              </a:tr>
              <a:tr h="457200">
                <a:tc>
                  <a:txBody>
                    <a:bodyPr wrap="square"/>
                    <a:lstStyle/>
                    <a:p>
                      <a:pPr algn="l"/>
                      <a:r>
                        <a:rPr sz="1200" b="0">
                          <a:solidFill>
                            <a:srgbClr val="17202A"/>
                          </a:solidFill>
                          <a:latin typeface="Segoe UI"/>
                        </a:rPr>
                        <a:t>Runner</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l"/>
                      <a:r>
                        <a:rPr sz="1200" b="0">
                          <a:solidFill>
                            <a:srgbClr val="17202A"/>
                          </a:solidFill>
                          <a:latin typeface="Segoe UI"/>
                        </a:rPr>
                        <a:t>python job.py</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l"/>
                      <a:r>
                        <a:rPr sz="1200" b="0">
                          <a:solidFill>
                            <a:srgbClr val="17202A"/>
                          </a:solidFill>
                          <a:latin typeface="Segoe UI"/>
                        </a:rPr>
                        <a:t>Kubernetes Job on EKS</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r>
              <a:tr h="457200">
                <a:tc>
                  <a:txBody>
                    <a:bodyPr wrap="square"/>
                    <a:lstStyle/>
                    <a:p>
                      <a:pPr algn="l"/>
                      <a:r>
                        <a:rPr sz="1200" b="0">
                          <a:solidFill>
                            <a:srgbClr val="17202A"/>
                          </a:solidFill>
                          <a:latin typeface="Segoe UI"/>
                        </a:rPr>
                        <a:t>HR source</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l"/>
                      <a:r>
                        <a:rPr sz="1200" b="0">
                          <a:solidFill>
                            <a:srgbClr val="17202A"/>
                          </a:solidFill>
                          <a:latin typeface="Segoe UI"/>
                        </a:rPr>
                        <a:t>PostgreSQL 18</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l"/>
                      <a:r>
                        <a:rPr sz="1200" b="0">
                          <a:solidFill>
                            <a:srgbClr val="17202A"/>
                          </a:solidFill>
                          <a:latin typeface="Segoe UI"/>
                        </a:rPr>
                        <a:t>Aurora PostgreSQL</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r>
              <a:tr h="457200">
                <a:tc>
                  <a:txBody>
                    <a:bodyPr wrap="square"/>
                    <a:lstStyle/>
                    <a:p>
                      <a:pPr algn="l"/>
                      <a:r>
                        <a:rPr sz="1200" b="0">
                          <a:solidFill>
                            <a:srgbClr val="17202A"/>
                          </a:solidFill>
                          <a:latin typeface="Segoe UI"/>
                        </a:rPr>
                        <a:t>Data lake</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l"/>
                      <a:r>
                        <a:rPr sz="1200" b="0">
                          <a:solidFill>
                            <a:srgbClr val="17202A"/>
                          </a:solidFill>
                          <a:latin typeface="Segoe UI"/>
                        </a:rPr>
                        <a:t>LocalStack S3</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l"/>
                      <a:r>
                        <a:rPr sz="1200" b="0">
                          <a:solidFill>
                            <a:srgbClr val="17202A"/>
                          </a:solidFill>
                          <a:latin typeface="Segoe UI"/>
                        </a:rPr>
                        <a:t>Amazon S3</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r>
              <a:tr h="457200">
                <a:tc>
                  <a:txBody>
                    <a:bodyPr wrap="square"/>
                    <a:lstStyle/>
                    <a:p>
                      <a:pPr algn="l"/>
                      <a:r>
                        <a:rPr sz="1200" b="0">
                          <a:solidFill>
                            <a:srgbClr val="17202A"/>
                          </a:solidFill>
                          <a:latin typeface="Segoe UI"/>
                        </a:rPr>
                        <a:t>Dashboard</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l"/>
                      <a:r>
                        <a:rPr sz="1200" b="0">
                          <a:solidFill>
                            <a:srgbClr val="17202A"/>
                          </a:solidFill>
                          <a:latin typeface="Segoe UI"/>
                        </a:rPr>
                        <a:t>localhost:8501</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c>
                  <a:txBody>
                    <a:bodyPr wrap="square"/>
                    <a:lstStyle/>
                    <a:p>
                      <a:pPr algn="l"/>
                      <a:r>
                        <a:rPr sz="1200" b="0">
                          <a:solidFill>
                            <a:srgbClr val="17202A"/>
                          </a:solidFill>
                          <a:latin typeface="Segoe UI"/>
                        </a:rPr>
                        <a:t>EKS + load balancer</a:t>
                      </a:r>
                    </a:p>
                  </a:txBody>
                  <a:tcPr marL="82296" marR="82296" marT="36576" marB="36576" anchor="ctr">
                    <a:solidFill>
                      <a:srgbClr val="FFFFFF"/>
                    </a:solidFill>
                    <a:lnL w="6350">
                      <a:solidFill>
                        <a:srgbClr val="D4DAE1"/>
                      </a:solidFill>
                    </a:lnL>
                    <a:lnR w="6350">
                      <a:solidFill>
                        <a:srgbClr val="D4DAE1"/>
                      </a:solidFill>
                    </a:lnR>
                    <a:lnT w="6350">
                      <a:solidFill>
                        <a:srgbClr val="D4DAE1"/>
                      </a:solidFill>
                    </a:lnT>
                    <a:lnB w="6350">
                      <a:solidFill>
                        <a:srgbClr val="D4DAE1"/>
                      </a:solidFill>
                    </a:lnB>
                  </a:tcPr>
                </a:tc>
              </a:tr>
            </a:tbl>
          </a:graphicData>
        </a:graphic>
      </p:graphicFrame>
      <p:sp>
        <p:nvSpPr>
          <p:cNvPr id="5" name="Rounded Rectangle 4"/>
          <p:cNvSpPr/>
          <p:nvPr/>
        </p:nvSpPr>
        <p:spPr>
          <a:xfrm>
            <a:off x="548640" y="3931920"/>
            <a:ext cx="5422392" cy="914400"/>
          </a:xfrm>
          <a:prstGeom prst="roundRect">
            <a:avLst>
              <a:gd name="adj" fmla="val 6000"/>
            </a:avLst>
          </a:prstGeom>
          <a:solidFill>
            <a:srgbClr val="DFF0E5"/>
          </a:solidFill>
          <a:ln>
            <a:noFill/>
          </a:ln>
        </p:spPr>
        <p:txBody>
          <a:bodyPr rtlCol="0" anchor="ctr"/>
          <a:lstStyle/>
          <a:p/>
        </p:txBody>
      </p:sp>
      <p:sp>
        <p:nvSpPr>
          <p:cNvPr id="6" name="TextBox 5"/>
          <p:cNvSpPr txBox="1"/>
          <p:nvPr/>
        </p:nvSpPr>
        <p:spPr>
          <a:xfrm>
            <a:off x="731520" y="4023360"/>
            <a:ext cx="5120640" cy="777240"/>
          </a:xfrm>
          <a:prstGeom prst="rect">
            <a:avLst/>
          </a:prstGeom>
          <a:noFill/>
        </p:spPr>
        <p:txBody>
          <a:bodyPr wrap="square" anchor="t" lIns="18288" rIns="18288" tIns="18288" bIns="18288">
            <a:spAutoFit/>
          </a:bodyPr>
          <a:lstStyle/>
          <a:p>
            <a:pPr algn="l">
              <a:spcAft>
                <a:spcPts val="300"/>
              </a:spcAft>
            </a:pPr>
            <a:r>
              <a:rPr sz="1400" b="0">
                <a:solidFill>
                  <a:srgbClr val="2D7449"/>
                </a:solidFill>
                <a:latin typeface="Segoe UI Semibold"/>
              </a:rPr>
              <a:t>Cloud run: 60 s, succeeded</a:t>
            </a:r>
          </a:p>
          <a:p>
            <a:pPr algn="l">
              <a:spcAft>
                <a:spcPts val="300"/>
              </a:spcAft>
            </a:pPr>
            <a:r>
              <a:rPr sz="1150" b="0">
                <a:solidFill>
                  <a:srgbClr val="4B5765"/>
                </a:solidFill>
                <a:latin typeface="Segoe UI"/>
              </a:rPr>
              <a:t>Identical answers: 3.41 avg · 465 gaps · 124 ready · 212 high risk</a:t>
            </a:r>
          </a:p>
        </p:txBody>
      </p:sp>
      <p:sp>
        <p:nvSpPr>
          <p:cNvPr id="7" name="TextBox 6"/>
          <p:cNvSpPr txBox="1"/>
          <p:nvPr/>
        </p:nvSpPr>
        <p:spPr>
          <a:xfrm>
            <a:off x="548640" y="5029200"/>
            <a:ext cx="5422392" cy="1097280"/>
          </a:xfrm>
          <a:prstGeom prst="rect">
            <a:avLst/>
          </a:prstGeom>
          <a:noFill/>
        </p:spPr>
        <p:txBody>
          <a:bodyPr wrap="square" anchor="t" lIns="18288" rIns="18288" tIns="18288" bIns="18288">
            <a:spAutoFit/>
          </a:bodyPr>
          <a:lstStyle/>
          <a:p>
            <a:pPr algn="l">
              <a:spcAft>
                <a:spcPts val="400"/>
              </a:spcAft>
            </a:pPr>
            <a:r>
              <a:rPr sz="1150" b="0">
                <a:solidFill>
                  <a:srgbClr val="4B5765"/>
                </a:solidFill>
                <a:latin typeface="Segoe UI"/>
              </a:rPr>
              <a:t>The first cloud run caught a real bug: numpy 2.5 needs Python 3.12, the cluster image runs 3.11. Pinned numpy 2.4.6 and checked every module on 3.11.</a:t>
            </a:r>
          </a:p>
        </p:txBody>
      </p:sp>
      <p:sp>
        <p:nvSpPr>
          <p:cNvPr id="8" name="TextBox 7"/>
          <p:cNvSpPr txBox="1"/>
          <p:nvPr/>
        </p:nvSpPr>
        <p:spPr>
          <a:xfrm>
            <a:off x="6217920" y="1444752"/>
            <a:ext cx="5422392" cy="365760"/>
          </a:xfrm>
          <a:prstGeom prst="rect">
            <a:avLst/>
          </a:prstGeom>
          <a:noFill/>
        </p:spPr>
        <p:txBody>
          <a:bodyPr wrap="square" anchor="t" lIns="18288" rIns="18288" tIns="18288" bIns="18288">
            <a:spAutoFit/>
          </a:bodyPr>
          <a:lstStyle/>
          <a:p>
            <a:pPr algn="l">
              <a:spcAft>
                <a:spcPts val="400"/>
              </a:spcAft>
            </a:pPr>
            <a:r>
              <a:rPr sz="1400" b="0">
                <a:solidFill>
                  <a:srgbClr val="17202A"/>
                </a:solidFill>
                <a:latin typeface="Segoe UI Semibold"/>
              </a:rPr>
              <a:t>Stock EKS gaps, closed without editing infra/</a:t>
            </a:r>
          </a:p>
        </p:txBody>
      </p:sp>
      <p:sp>
        <p:nvSpPr>
          <p:cNvPr id="9" name="TextBox 8"/>
          <p:cNvSpPr txBox="1"/>
          <p:nvPr/>
        </p:nvSpPr>
        <p:spPr>
          <a:xfrm>
            <a:off x="6217920" y="1874519"/>
            <a:ext cx="2468880" cy="411480"/>
          </a:xfrm>
          <a:prstGeom prst="rect">
            <a:avLst/>
          </a:prstGeom>
          <a:noFill/>
        </p:spPr>
        <p:txBody>
          <a:bodyPr wrap="square" anchor="t" lIns="18288" rIns="18288" tIns="18288" bIns="18288">
            <a:spAutoFit/>
          </a:bodyPr>
          <a:lstStyle/>
          <a:p>
            <a:pPr algn="l">
              <a:spcAft>
                <a:spcPts val="400"/>
              </a:spcAft>
            </a:pPr>
            <a:r>
              <a:rPr sz="1200" b="0">
                <a:solidFill>
                  <a:srgbClr val="4B5765"/>
                </a:solidFill>
                <a:latin typeface="Segoe UI"/>
              </a:rPr>
              <a:t>Only job.py shipped</a:t>
            </a:r>
          </a:p>
        </p:txBody>
      </p:sp>
      <p:sp>
        <p:nvSpPr>
          <p:cNvPr id="10" name="TextBox 9"/>
          <p:cNvSpPr txBox="1"/>
          <p:nvPr/>
        </p:nvSpPr>
        <p:spPr>
          <a:xfrm>
            <a:off x="8641080" y="1874519"/>
            <a:ext cx="3017520" cy="411480"/>
          </a:xfrm>
          <a:prstGeom prst="rect">
            <a:avLst/>
          </a:prstGeom>
          <a:noFill/>
        </p:spPr>
        <p:txBody>
          <a:bodyPr wrap="square" anchor="t" lIns="18288" rIns="18288" tIns="18288" bIns="18288">
            <a:spAutoFit/>
          </a:bodyPr>
          <a:lstStyle/>
          <a:p>
            <a:pPr algn="l">
              <a:spcAft>
                <a:spcPts val="400"/>
              </a:spcAft>
            </a:pPr>
            <a:r>
              <a:rPr sz="1200" b="0">
                <a:solidFill>
                  <a:srgbClr val="17202A"/>
                </a:solidFill>
                <a:latin typeface="Segoe UI"/>
              </a:rPr>
              <a:t>→  all modules sent as a ConfigMap</a:t>
            </a:r>
          </a:p>
        </p:txBody>
      </p:sp>
      <p:sp>
        <p:nvSpPr>
          <p:cNvPr id="11" name="TextBox 10"/>
          <p:cNvSpPr txBox="1"/>
          <p:nvPr/>
        </p:nvSpPr>
        <p:spPr>
          <a:xfrm>
            <a:off x="6217920" y="2350008"/>
            <a:ext cx="2468880" cy="411480"/>
          </a:xfrm>
          <a:prstGeom prst="rect">
            <a:avLst/>
          </a:prstGeom>
          <a:noFill/>
        </p:spPr>
        <p:txBody>
          <a:bodyPr wrap="square" anchor="t" lIns="18288" rIns="18288" tIns="18288" bIns="18288">
            <a:spAutoFit/>
          </a:bodyPr>
          <a:lstStyle/>
          <a:p>
            <a:pPr algn="l">
              <a:spcAft>
                <a:spcPts val="400"/>
              </a:spcAft>
            </a:pPr>
            <a:r>
              <a:rPr sz="1200" b="0">
                <a:solidFill>
                  <a:srgbClr val="4B5765"/>
                </a:solidFill>
                <a:latin typeface="Segoe UI"/>
              </a:rPr>
              <a:t>No settings or password</a:t>
            </a:r>
          </a:p>
        </p:txBody>
      </p:sp>
      <p:sp>
        <p:nvSpPr>
          <p:cNvPr id="12" name="TextBox 11"/>
          <p:cNvSpPr txBox="1"/>
          <p:nvPr/>
        </p:nvSpPr>
        <p:spPr>
          <a:xfrm>
            <a:off x="8641080" y="2350008"/>
            <a:ext cx="3017520" cy="411480"/>
          </a:xfrm>
          <a:prstGeom prst="rect">
            <a:avLst/>
          </a:prstGeom>
          <a:noFill/>
        </p:spPr>
        <p:txBody>
          <a:bodyPr wrap="square" anchor="t" lIns="18288" rIns="18288" tIns="18288" bIns="18288">
            <a:spAutoFit/>
          </a:bodyPr>
          <a:lstStyle/>
          <a:p>
            <a:pPr algn="l">
              <a:spcAft>
                <a:spcPts val="400"/>
              </a:spcAft>
            </a:pPr>
            <a:r>
              <a:rPr sz="1200" b="0">
                <a:solidFill>
                  <a:srgbClr val="17202A"/>
                </a:solidFill>
                <a:latin typeface="Segoe UI"/>
              </a:rPr>
              <a:t>→  env vars + Kubernetes Secret</a:t>
            </a:r>
          </a:p>
        </p:txBody>
      </p:sp>
      <p:sp>
        <p:nvSpPr>
          <p:cNvPr id="13" name="TextBox 12"/>
          <p:cNvSpPr txBox="1"/>
          <p:nvPr/>
        </p:nvSpPr>
        <p:spPr>
          <a:xfrm>
            <a:off x="6217920" y="2825496"/>
            <a:ext cx="2468880" cy="411480"/>
          </a:xfrm>
          <a:prstGeom prst="rect">
            <a:avLst/>
          </a:prstGeom>
          <a:noFill/>
        </p:spPr>
        <p:txBody>
          <a:bodyPr wrap="square" anchor="t" lIns="18288" rIns="18288" tIns="18288" bIns="18288">
            <a:spAutoFit/>
          </a:bodyPr>
          <a:lstStyle/>
          <a:p>
            <a:pPr algn="l">
              <a:spcAft>
                <a:spcPts val="400"/>
              </a:spcAft>
            </a:pPr>
            <a:r>
              <a:rPr sz="1200" b="0">
                <a:solidFill>
                  <a:srgbClr val="4B5765"/>
                </a:solidFill>
                <a:latin typeface="Segoe UI"/>
              </a:rPr>
              <a:t>No S3 permission</a:t>
            </a:r>
          </a:p>
        </p:txBody>
      </p:sp>
      <p:sp>
        <p:nvSpPr>
          <p:cNvPr id="14" name="TextBox 13"/>
          <p:cNvSpPr txBox="1"/>
          <p:nvPr/>
        </p:nvSpPr>
        <p:spPr>
          <a:xfrm>
            <a:off x="8641080" y="2825496"/>
            <a:ext cx="3017520" cy="411480"/>
          </a:xfrm>
          <a:prstGeom prst="rect">
            <a:avLst/>
          </a:prstGeom>
          <a:noFill/>
        </p:spPr>
        <p:txBody>
          <a:bodyPr wrap="square" anchor="t" lIns="18288" rIns="18288" tIns="18288" bIns="18288">
            <a:spAutoFit/>
          </a:bodyPr>
          <a:lstStyle/>
          <a:p>
            <a:pPr algn="l">
              <a:spcAft>
                <a:spcPts val="400"/>
              </a:spcAft>
            </a:pPr>
            <a:r>
              <a:rPr sz="1200" b="0">
                <a:solidFill>
                  <a:srgbClr val="17202A"/>
                </a:solidFill>
                <a:latin typeface="Segoe UI"/>
              </a:rPr>
              <a:t>→  node-role policy, lake bucket only</a:t>
            </a:r>
          </a:p>
        </p:txBody>
      </p:sp>
      <p:sp>
        <p:nvSpPr>
          <p:cNvPr id="15" name="TextBox 14"/>
          <p:cNvSpPr txBox="1"/>
          <p:nvPr/>
        </p:nvSpPr>
        <p:spPr>
          <a:xfrm>
            <a:off x="6217920" y="3300984"/>
            <a:ext cx="2468880" cy="411480"/>
          </a:xfrm>
          <a:prstGeom prst="rect">
            <a:avLst/>
          </a:prstGeom>
          <a:noFill/>
        </p:spPr>
        <p:txBody>
          <a:bodyPr wrap="square" anchor="t" lIns="18288" rIns="18288" tIns="18288" bIns="18288">
            <a:spAutoFit/>
          </a:bodyPr>
          <a:lstStyle/>
          <a:p>
            <a:pPr algn="l">
              <a:spcAft>
                <a:spcPts val="400"/>
              </a:spcAft>
            </a:pPr>
            <a:r>
              <a:rPr sz="1200" b="0">
                <a:solidFill>
                  <a:srgbClr val="4B5765"/>
                </a:solidFill>
                <a:latin typeface="Segoe UI"/>
              </a:rPr>
              <a:t>No route to Aurora</a:t>
            </a:r>
          </a:p>
        </p:txBody>
      </p:sp>
      <p:sp>
        <p:nvSpPr>
          <p:cNvPr id="16" name="TextBox 15"/>
          <p:cNvSpPr txBox="1"/>
          <p:nvPr/>
        </p:nvSpPr>
        <p:spPr>
          <a:xfrm>
            <a:off x="8641080" y="3300984"/>
            <a:ext cx="3017520" cy="411480"/>
          </a:xfrm>
          <a:prstGeom prst="rect">
            <a:avLst/>
          </a:prstGeom>
          <a:noFill/>
        </p:spPr>
        <p:txBody>
          <a:bodyPr wrap="square" anchor="t" lIns="18288" rIns="18288" tIns="18288" bIns="18288">
            <a:spAutoFit/>
          </a:bodyPr>
          <a:lstStyle/>
          <a:p>
            <a:pPr algn="l">
              <a:spcAft>
                <a:spcPts val="400"/>
              </a:spcAft>
            </a:pPr>
            <a:r>
              <a:rPr sz="1200" b="0">
                <a:solidFill>
                  <a:srgbClr val="17202A"/>
                </a:solidFill>
                <a:latin typeface="Segoe UI"/>
              </a:rPr>
              <a:t>→  EKS security group attached to Aurora</a:t>
            </a:r>
          </a:p>
        </p:txBody>
      </p:sp>
      <p:sp>
        <p:nvSpPr>
          <p:cNvPr id="17" name="Rounded Rectangle 16"/>
          <p:cNvSpPr/>
          <p:nvPr/>
        </p:nvSpPr>
        <p:spPr>
          <a:xfrm>
            <a:off x="6217920" y="3931920"/>
            <a:ext cx="5422392" cy="2240280"/>
          </a:xfrm>
          <a:prstGeom prst="roundRect">
            <a:avLst>
              <a:gd name="adj" fmla="val 6000"/>
            </a:avLst>
          </a:prstGeom>
          <a:solidFill>
            <a:srgbClr val="F4F6F8"/>
          </a:solidFill>
          <a:ln>
            <a:noFill/>
          </a:ln>
        </p:spPr>
        <p:txBody>
          <a:bodyPr rtlCol="0" anchor="ctr"/>
          <a:lstStyle/>
          <a:p/>
        </p:txBody>
      </p:sp>
      <p:sp>
        <p:nvSpPr>
          <p:cNvPr id="18" name="TextBox 17"/>
          <p:cNvSpPr txBox="1"/>
          <p:nvPr/>
        </p:nvSpPr>
        <p:spPr>
          <a:xfrm>
            <a:off x="6400800" y="4023360"/>
            <a:ext cx="1737360" cy="640080"/>
          </a:xfrm>
          <a:prstGeom prst="rect">
            <a:avLst/>
          </a:prstGeom>
          <a:noFill/>
        </p:spPr>
        <p:txBody>
          <a:bodyPr wrap="square" anchor="t" lIns="18288" rIns="18288" tIns="18288" bIns="18288">
            <a:spAutoFit/>
          </a:bodyPr>
          <a:lstStyle/>
          <a:p>
            <a:pPr algn="l">
              <a:spcAft>
                <a:spcPts val="400"/>
              </a:spcAft>
            </a:pPr>
            <a:r>
              <a:rPr sz="3600" b="0">
                <a:solidFill>
                  <a:srgbClr val="17202A"/>
                </a:solidFill>
                <a:latin typeface="Segoe UI Semibold"/>
              </a:rPr>
              <a:t>68</a:t>
            </a:r>
          </a:p>
        </p:txBody>
      </p:sp>
      <p:sp>
        <p:nvSpPr>
          <p:cNvPr id="19" name="TextBox 18"/>
          <p:cNvSpPr txBox="1"/>
          <p:nvPr/>
        </p:nvSpPr>
        <p:spPr>
          <a:xfrm>
            <a:off x="7818120" y="4160520"/>
            <a:ext cx="3749039" cy="548640"/>
          </a:xfrm>
          <a:prstGeom prst="rect">
            <a:avLst/>
          </a:prstGeom>
          <a:noFill/>
        </p:spPr>
        <p:txBody>
          <a:bodyPr wrap="square" anchor="t" lIns="18288" rIns="18288" tIns="18288" bIns="18288">
            <a:spAutoFit/>
          </a:bodyPr>
          <a:lstStyle/>
          <a:p>
            <a:pPr algn="l">
              <a:spcAft>
                <a:spcPts val="400"/>
              </a:spcAft>
            </a:pPr>
            <a:r>
              <a:rPr sz="1400" b="0">
                <a:solidFill>
                  <a:srgbClr val="4B5765"/>
                </a:solidFill>
                <a:latin typeface="Segoe UI"/>
              </a:rPr>
              <a:t>automated tests</a:t>
            </a:r>
          </a:p>
        </p:txBody>
      </p:sp>
      <p:sp>
        <p:nvSpPr>
          <p:cNvPr id="20" name="TextBox 19"/>
          <p:cNvSpPr txBox="1"/>
          <p:nvPr/>
        </p:nvSpPr>
        <p:spPr>
          <a:xfrm>
            <a:off x="6400800" y="4800600"/>
            <a:ext cx="5120640" cy="1325880"/>
          </a:xfrm>
          <a:prstGeom prst="rect">
            <a:avLst/>
          </a:prstGeom>
          <a:noFill/>
        </p:spPr>
        <p:txBody>
          <a:bodyPr wrap="square" anchor="t" lIns="18288" rIns="18288" tIns="18288" bIns="18288">
            <a:spAutoFit/>
          </a:bodyPr>
          <a:lstStyle/>
          <a:p>
            <a:pPr algn="l">
              <a:spcAft>
                <a:spcPts val="600"/>
              </a:spcAft>
            </a:pPr>
            <a:r>
              <a:rPr sz="1200" b="0">
                <a:solidFill>
                  <a:srgbClr val="4B5765"/>
                </a:solidFill>
                <a:latin typeface="Segoe UI"/>
              </a:rPr>
              <a:t>Contracts 15 · Silver 20 · Gold 17 · Bronze 6 · Dashboard 5 · Integration 5</a:t>
            </a:r>
          </a:p>
          <a:p>
            <a:pPr algn="l">
              <a:spcAft>
                <a:spcPts val="600"/>
              </a:spcAft>
            </a:pPr>
            <a:r>
              <a:rPr sz="1100" b="0">
                <a:solidFill>
                  <a:srgbClr val="4B5765"/>
                </a:solidFill>
                <a:latin typeface="Segoe UI"/>
              </a:rPr>
              <a:t>Integration runs end to end on LocalStack + PostgreSQL: reconciliation, idempotency, write-once, changed-file versioning, forced reload.</a:t>
            </a:r>
          </a:p>
        </p:txBody>
      </p:sp>
      <p:cxnSp>
        <p:nvCxnSpPr>
          <p:cNvPr id="21" name="Connector 20"/>
          <p:cNvCxnSpPr/>
          <p:nvPr/>
        </p:nvCxnSpPr>
        <p:spPr>
          <a:xfrm>
            <a:off x="548640" y="6400800"/>
            <a:ext cx="11094415" cy="0"/>
          </a:xfrm>
          <a:prstGeom prst="line">
            <a:avLst/>
          </a:prstGeom>
          <a:ln w="9525">
            <a:solidFill>
              <a:srgbClr val="D4DAE1"/>
            </a:solidFill>
          </a:ln>
        </p:spPr>
      </p:cxnSp>
      <p:sp>
        <p:nvSpPr>
          <p:cNvPr id="22" name="TextBox 21"/>
          <p:cNvSpPr txBox="1"/>
          <p:nvPr/>
        </p:nvSpPr>
        <p:spPr>
          <a:xfrm>
            <a:off x="548640" y="6455664"/>
            <a:ext cx="7315200" cy="274320"/>
          </a:xfrm>
          <a:prstGeom prst="rect">
            <a:avLst/>
          </a:prstGeom>
          <a:noFill/>
        </p:spPr>
        <p:txBody>
          <a:bodyPr wrap="square" anchor="t" lIns="18288" rIns="18288" tIns="18288" bIns="18288">
            <a:spAutoFit/>
          </a:bodyPr>
          <a:lstStyle/>
          <a:p>
            <a:pPr algn="l">
              <a:spcAft>
                <a:spcPts val="400"/>
              </a:spcAft>
            </a:pPr>
            <a:r>
              <a:rPr sz="900" b="0">
                <a:solidFill>
                  <a:srgbClr val="8A94A0"/>
                </a:solidFill>
                <a:latin typeface="Segoe UI"/>
              </a:rPr>
              <a:t>ACME Talent Lake  ·  Data Engineer track  ·  Coding Workshop 2026</a:t>
            </a:r>
          </a:p>
        </p:txBody>
      </p:sp>
      <p:sp>
        <p:nvSpPr>
          <p:cNvPr id="23" name="TextBox 22"/>
          <p:cNvSpPr txBox="1"/>
          <p:nvPr/>
        </p:nvSpPr>
        <p:spPr>
          <a:xfrm>
            <a:off x="10698480" y="6455664"/>
            <a:ext cx="941832" cy="274320"/>
          </a:xfrm>
          <a:prstGeom prst="rect">
            <a:avLst/>
          </a:prstGeom>
          <a:noFill/>
        </p:spPr>
        <p:txBody>
          <a:bodyPr wrap="square" anchor="t" lIns="18288" rIns="18288" tIns="18288" bIns="18288">
            <a:spAutoFit/>
          </a:bodyPr>
          <a:lstStyle/>
          <a:p>
            <a:pPr algn="r">
              <a:spcAft>
                <a:spcPts val="400"/>
              </a:spcAft>
            </a:pPr>
            <a:r>
              <a:rPr sz="900" b="0">
                <a:solidFill>
                  <a:srgbClr val="8A94A0"/>
                </a:solidFill>
                <a:latin typeface="Segoe UI"/>
              </a:rPr>
              <a:t>10 / 11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8229600" cy="274320"/>
          </a:xfrm>
          <a:prstGeom prst="rect">
            <a:avLst/>
          </a:prstGeom>
          <a:noFill/>
        </p:spPr>
        <p:txBody>
          <a:bodyPr wrap="square" anchor="t" lIns="18288" rIns="18288" tIns="18288" bIns="18288">
            <a:spAutoFit/>
          </a:bodyPr>
          <a:lstStyle/>
          <a:p>
            <a:pPr algn="l">
              <a:spcAft>
                <a:spcPts val="400"/>
              </a:spcAft>
            </a:pPr>
            <a:r>
              <a:rPr sz="1100" b="0">
                <a:solidFill>
                  <a:srgbClr val="1D4E89"/>
                </a:solidFill>
                <a:latin typeface="Segoe UI Semibold"/>
              </a:rPr>
              <a:t>DECISIONS &amp; NEXT STEPS</a:t>
            </a:r>
          </a:p>
        </p:txBody>
      </p:sp>
      <p:sp>
        <p:nvSpPr>
          <p:cNvPr id="3" name="TextBox 2"/>
          <p:cNvSpPr txBox="1"/>
          <p:nvPr/>
        </p:nvSpPr>
        <p:spPr>
          <a:xfrm>
            <a:off x="548640" y="566928"/>
            <a:ext cx="11064240" cy="731520"/>
          </a:xfrm>
          <a:prstGeom prst="rect">
            <a:avLst/>
          </a:prstGeom>
          <a:noFill/>
        </p:spPr>
        <p:txBody>
          <a:bodyPr wrap="square" anchor="t" lIns="18288" rIns="18288" tIns="18288" bIns="18288">
            <a:spAutoFit/>
          </a:bodyPr>
          <a:lstStyle/>
          <a:p>
            <a:pPr algn="l">
              <a:spcAft>
                <a:spcPts val="400"/>
              </a:spcAft>
            </a:pPr>
            <a:r>
              <a:rPr sz="2600" b="0">
                <a:solidFill>
                  <a:srgbClr val="17202A"/>
                </a:solidFill>
                <a:latin typeface="Segoe UI Semibold"/>
              </a:rPr>
              <a:t>Choices, limits and what comes next</a:t>
            </a:r>
          </a:p>
        </p:txBody>
      </p:sp>
      <p:sp>
        <p:nvSpPr>
          <p:cNvPr id="4" name="Rounded Rectangle 3"/>
          <p:cNvSpPr/>
          <p:nvPr/>
        </p:nvSpPr>
        <p:spPr>
          <a:xfrm>
            <a:off x="548640" y="1463040"/>
            <a:ext cx="3593592" cy="3063240"/>
          </a:xfrm>
          <a:prstGeom prst="roundRect">
            <a:avLst>
              <a:gd name="adj" fmla="val 6000"/>
            </a:avLst>
          </a:prstGeom>
          <a:solidFill>
            <a:srgbClr val="FFFFFF"/>
          </a:solidFill>
          <a:ln w="12700">
            <a:solidFill>
              <a:srgbClr val="D4DAE1"/>
            </a:solidFill>
          </a:ln>
        </p:spPr>
        <p:txBody>
          <a:bodyPr rtlCol="0" anchor="ctr"/>
          <a:lstStyle/>
          <a:p/>
        </p:txBody>
      </p:sp>
      <p:sp>
        <p:nvSpPr>
          <p:cNvPr id="5" name="TextBox 4"/>
          <p:cNvSpPr txBox="1"/>
          <p:nvPr/>
        </p:nvSpPr>
        <p:spPr>
          <a:xfrm>
            <a:off x="713232" y="1591056"/>
            <a:ext cx="3264408" cy="365760"/>
          </a:xfrm>
          <a:prstGeom prst="rect">
            <a:avLst/>
          </a:prstGeom>
          <a:noFill/>
        </p:spPr>
        <p:txBody>
          <a:bodyPr wrap="square" anchor="t" lIns="18288" rIns="18288" tIns="18288" bIns="18288">
            <a:spAutoFit/>
          </a:bodyPr>
          <a:lstStyle/>
          <a:p>
            <a:pPr algn="l">
              <a:spcAft>
                <a:spcPts val="400"/>
              </a:spcAft>
            </a:pPr>
            <a:r>
              <a:rPr sz="1400" b="0">
                <a:solidFill>
                  <a:srgbClr val="17202A"/>
                </a:solidFill>
                <a:latin typeface="Segoe UI Semibold"/>
              </a:rPr>
              <a:t>Decisions</a:t>
            </a:r>
          </a:p>
        </p:txBody>
      </p:sp>
      <p:sp>
        <p:nvSpPr>
          <p:cNvPr id="6" name="TextBox 5"/>
          <p:cNvSpPr txBox="1"/>
          <p:nvPr/>
        </p:nvSpPr>
        <p:spPr>
          <a:xfrm>
            <a:off x="713232" y="1965960"/>
            <a:ext cx="3264408" cy="2468880"/>
          </a:xfrm>
          <a:prstGeom prst="rect">
            <a:avLst/>
          </a:prstGeom>
          <a:noFill/>
        </p:spPr>
        <p:txBody>
          <a:bodyPr wrap="square" anchor="t" lIns="18288" rIns="18288" tIns="18288" bIns="18288">
            <a:spAutoFit/>
          </a:bodyPr>
          <a:lstStyle/>
          <a:p>
            <a:pPr algn="l">
              <a:spcAft>
                <a:spcPts val="500"/>
              </a:spcAft>
            </a:pPr>
            <a:r>
              <a:rPr sz="1150" b="0">
                <a:solidFill>
                  <a:srgbClr val="4B5765"/>
                </a:solidFill>
                <a:latin typeface="Segoe UI"/>
              </a:rPr>
              <a:t>pandas + Parquet: seconds at this size, easy to test, Spark-ready layout</a:t>
            </a:r>
          </a:p>
          <a:p>
            <a:pPr algn="l">
              <a:spcAft>
                <a:spcPts val="500"/>
              </a:spcAft>
            </a:pPr>
            <a:r>
              <a:rPr sz="1150" b="0">
                <a:solidFill>
                  <a:srgbClr val="4B5765"/>
                </a:solidFill>
                <a:latin typeface="Segoe UI"/>
              </a:rPr>
              <a:t>LocalStack S3: one code path for local and cloud</a:t>
            </a:r>
          </a:p>
          <a:p>
            <a:pPr algn="l">
              <a:spcAft>
                <a:spcPts val="500"/>
              </a:spcAft>
            </a:pPr>
            <a:r>
              <a:rPr sz="1150" b="0">
                <a:solidFill>
                  <a:srgbClr val="4B5765"/>
                </a:solidFill>
                <a:latin typeface="Segoe UI"/>
              </a:rPr>
              <a:t>Quarantine, never drop: evidence kept, counts reconcile</a:t>
            </a:r>
          </a:p>
          <a:p>
            <a:pPr algn="l">
              <a:spcAft>
                <a:spcPts val="500"/>
              </a:spcAft>
            </a:pPr>
            <a:r>
              <a:rPr sz="1150" b="0">
                <a:solidFill>
                  <a:srgbClr val="4B5765"/>
                </a:solidFill>
                <a:latin typeface="Segoe UI"/>
              </a:rPr>
              <a:t>Transparent attrition score: managers see why</a:t>
            </a:r>
          </a:p>
        </p:txBody>
      </p:sp>
      <p:sp>
        <p:nvSpPr>
          <p:cNvPr id="7" name="Rounded Rectangle 6"/>
          <p:cNvSpPr/>
          <p:nvPr/>
        </p:nvSpPr>
        <p:spPr>
          <a:xfrm>
            <a:off x="4297679" y="1463040"/>
            <a:ext cx="3593592" cy="3063240"/>
          </a:xfrm>
          <a:prstGeom prst="roundRect">
            <a:avLst>
              <a:gd name="adj" fmla="val 6000"/>
            </a:avLst>
          </a:prstGeom>
          <a:solidFill>
            <a:srgbClr val="FFFFFF"/>
          </a:solidFill>
          <a:ln w="12700">
            <a:solidFill>
              <a:srgbClr val="D4DAE1"/>
            </a:solidFill>
          </a:ln>
        </p:spPr>
        <p:txBody>
          <a:bodyPr rtlCol="0" anchor="ctr"/>
          <a:lstStyle/>
          <a:p/>
        </p:txBody>
      </p:sp>
      <p:sp>
        <p:nvSpPr>
          <p:cNvPr id="8" name="TextBox 7"/>
          <p:cNvSpPr txBox="1"/>
          <p:nvPr/>
        </p:nvSpPr>
        <p:spPr>
          <a:xfrm>
            <a:off x="4462271" y="1591056"/>
            <a:ext cx="3264408" cy="365760"/>
          </a:xfrm>
          <a:prstGeom prst="rect">
            <a:avLst/>
          </a:prstGeom>
          <a:noFill/>
        </p:spPr>
        <p:txBody>
          <a:bodyPr wrap="square" anchor="t" lIns="18288" rIns="18288" tIns="18288" bIns="18288">
            <a:spAutoFit/>
          </a:bodyPr>
          <a:lstStyle/>
          <a:p>
            <a:pPr algn="l">
              <a:spcAft>
                <a:spcPts val="400"/>
              </a:spcAft>
            </a:pPr>
            <a:r>
              <a:rPr sz="1400" b="0">
                <a:solidFill>
                  <a:srgbClr val="B0412D"/>
                </a:solidFill>
                <a:latin typeface="Segoe UI Semibold"/>
              </a:rPr>
              <a:t>Limitations</a:t>
            </a:r>
          </a:p>
        </p:txBody>
      </p:sp>
      <p:sp>
        <p:nvSpPr>
          <p:cNvPr id="9" name="TextBox 8"/>
          <p:cNvSpPr txBox="1"/>
          <p:nvPr/>
        </p:nvSpPr>
        <p:spPr>
          <a:xfrm>
            <a:off x="4462271" y="1965960"/>
            <a:ext cx="3264408" cy="2468880"/>
          </a:xfrm>
          <a:prstGeom prst="rect">
            <a:avLst/>
          </a:prstGeom>
          <a:noFill/>
        </p:spPr>
        <p:txBody>
          <a:bodyPr wrap="square" anchor="t" lIns="18288" rIns="18288" tIns="18288" bIns="18288">
            <a:spAutoFit/>
          </a:bodyPr>
          <a:lstStyle/>
          <a:p>
            <a:pPr algn="l">
              <a:spcAft>
                <a:spcPts val="500"/>
              </a:spcAft>
            </a:pPr>
            <a:r>
              <a:rPr sz="1150" b="0">
                <a:solidFill>
                  <a:srgbClr val="4B5765"/>
                </a:solidFill>
                <a:latin typeface="Segoe UI"/>
              </a:rPr>
              <a:t>Two review periods: one trend step per person</a:t>
            </a:r>
          </a:p>
          <a:p>
            <a:pPr algn="l">
              <a:spcAft>
                <a:spcPts val="500"/>
              </a:spcAft>
            </a:pPr>
            <a:r>
              <a:rPr sz="1150" b="0">
                <a:solidFill>
                  <a:srgbClr val="4B5765"/>
                </a:solidFill>
                <a:latin typeface="Segoe UI"/>
              </a:rPr>
              <a:t>Q6 rests on 27 teams: indicative only</a:t>
            </a:r>
          </a:p>
          <a:p>
            <a:pPr algn="l">
              <a:spcAft>
                <a:spcPts val="500"/>
              </a:spcAft>
            </a:pPr>
            <a:r>
              <a:rPr sz="1150" b="0">
                <a:solidFill>
                  <a:srgbClr val="4B5765"/>
                </a:solidFill>
                <a:latin typeface="Segoe UI"/>
              </a:rPr>
              <a:t>Manager potential barely tracks performance</a:t>
            </a:r>
          </a:p>
          <a:p>
            <a:pPr algn="l">
              <a:spcAft>
                <a:spcPts val="500"/>
              </a:spcAft>
            </a:pPr>
            <a:r>
              <a:rPr sz="1150" b="0">
                <a:solidFill>
                  <a:srgbClr val="4B5765"/>
                </a:solidFill>
                <a:latin typeface="Segoe UI"/>
              </a:rPr>
              <a:t>143 events unusable until the source fixes them</a:t>
            </a:r>
          </a:p>
        </p:txBody>
      </p:sp>
      <p:sp>
        <p:nvSpPr>
          <p:cNvPr id="10" name="Rounded Rectangle 9"/>
          <p:cNvSpPr/>
          <p:nvPr/>
        </p:nvSpPr>
        <p:spPr>
          <a:xfrm>
            <a:off x="8046719" y="1463040"/>
            <a:ext cx="3593592" cy="3063240"/>
          </a:xfrm>
          <a:prstGeom prst="roundRect">
            <a:avLst>
              <a:gd name="adj" fmla="val 6000"/>
            </a:avLst>
          </a:prstGeom>
          <a:solidFill>
            <a:srgbClr val="FFFFFF"/>
          </a:solidFill>
          <a:ln w="12700">
            <a:solidFill>
              <a:srgbClr val="D4DAE1"/>
            </a:solidFill>
          </a:ln>
        </p:spPr>
        <p:txBody>
          <a:bodyPr rtlCol="0" anchor="ctr"/>
          <a:lstStyle/>
          <a:p/>
        </p:txBody>
      </p:sp>
      <p:sp>
        <p:nvSpPr>
          <p:cNvPr id="11" name="TextBox 10"/>
          <p:cNvSpPr txBox="1"/>
          <p:nvPr/>
        </p:nvSpPr>
        <p:spPr>
          <a:xfrm>
            <a:off x="8211311" y="1591056"/>
            <a:ext cx="3264408" cy="365760"/>
          </a:xfrm>
          <a:prstGeom prst="rect">
            <a:avLst/>
          </a:prstGeom>
          <a:noFill/>
        </p:spPr>
        <p:txBody>
          <a:bodyPr wrap="square" anchor="t" lIns="18288" rIns="18288" tIns="18288" bIns="18288">
            <a:spAutoFit/>
          </a:bodyPr>
          <a:lstStyle/>
          <a:p>
            <a:pPr algn="l">
              <a:spcAft>
                <a:spcPts val="400"/>
              </a:spcAft>
            </a:pPr>
            <a:r>
              <a:rPr sz="1400" b="0">
                <a:solidFill>
                  <a:srgbClr val="2D7449"/>
                </a:solidFill>
                <a:latin typeface="Segoe UI Semibold"/>
              </a:rPr>
              <a:t>Next steps</a:t>
            </a:r>
          </a:p>
        </p:txBody>
      </p:sp>
      <p:sp>
        <p:nvSpPr>
          <p:cNvPr id="12" name="TextBox 11"/>
          <p:cNvSpPr txBox="1"/>
          <p:nvPr/>
        </p:nvSpPr>
        <p:spPr>
          <a:xfrm>
            <a:off x="8211311" y="1965960"/>
            <a:ext cx="3264408" cy="2468880"/>
          </a:xfrm>
          <a:prstGeom prst="rect">
            <a:avLst/>
          </a:prstGeom>
          <a:noFill/>
        </p:spPr>
        <p:txBody>
          <a:bodyPr wrap="square" anchor="t" lIns="18288" rIns="18288" tIns="18288" bIns="18288">
            <a:spAutoFit/>
          </a:bodyPr>
          <a:lstStyle/>
          <a:p>
            <a:pPr algn="l">
              <a:spcAft>
                <a:spcPts val="500"/>
              </a:spcAft>
            </a:pPr>
            <a:r>
              <a:rPr sz="1150" b="0">
                <a:solidFill>
                  <a:srgbClr val="4B5765"/>
                </a:solidFill>
                <a:latin typeface="Segoe UI"/>
              </a:rPr>
              <a:t>Change history (SCD Type 2) for HR records</a:t>
            </a:r>
          </a:p>
          <a:p>
            <a:pPr algn="l">
              <a:spcAft>
                <a:spcPts val="500"/>
              </a:spcAft>
            </a:pPr>
            <a:r>
              <a:rPr sz="1150" b="0">
                <a:solidFill>
                  <a:srgbClr val="4B5765"/>
                </a:solidFill>
                <a:latin typeface="Segoe UI"/>
              </a:rPr>
              <a:t>Four small infra/ changes so deploy-backend.sh runs the job</a:t>
            </a:r>
          </a:p>
          <a:p>
            <a:pPr algn="l">
              <a:spcAft>
                <a:spcPts val="500"/>
              </a:spcAft>
            </a:pPr>
            <a:r>
              <a:rPr sz="1150" b="0">
                <a:solidFill>
                  <a:srgbClr val="4B5765"/>
                </a:solidFill>
                <a:latin typeface="Segoe UI"/>
              </a:rPr>
              <a:t>Scheduled runs (CronJob) with alerts</a:t>
            </a:r>
          </a:p>
          <a:p>
            <a:pPr algn="l">
              <a:spcAft>
                <a:spcPts val="500"/>
              </a:spcAft>
            </a:pPr>
            <a:r>
              <a:rPr sz="1150" b="0">
                <a:solidFill>
                  <a:srgbClr val="4B5765"/>
                </a:solidFill>
                <a:latin typeface="Segoe UI"/>
              </a:rPr>
              <a:t>SQL over Gold; HTTPS and sign-in for the dashboard</a:t>
            </a:r>
          </a:p>
        </p:txBody>
      </p:sp>
      <p:sp>
        <p:nvSpPr>
          <p:cNvPr id="13" name="Rounded Rectangle 12"/>
          <p:cNvSpPr/>
          <p:nvPr/>
        </p:nvSpPr>
        <p:spPr>
          <a:xfrm>
            <a:off x="548640" y="4709160"/>
            <a:ext cx="11091672" cy="1463040"/>
          </a:xfrm>
          <a:prstGeom prst="roundRect">
            <a:avLst>
              <a:gd name="adj" fmla="val 6000"/>
            </a:avLst>
          </a:prstGeom>
          <a:solidFill>
            <a:srgbClr val="F4F6F8"/>
          </a:solidFill>
          <a:ln>
            <a:noFill/>
          </a:ln>
        </p:spPr>
        <p:txBody>
          <a:bodyPr rtlCol="0" anchor="ctr"/>
          <a:lstStyle/>
          <a:p/>
        </p:txBody>
      </p:sp>
      <p:sp>
        <p:nvSpPr>
          <p:cNvPr id="14" name="TextBox 13"/>
          <p:cNvSpPr txBox="1"/>
          <p:nvPr/>
        </p:nvSpPr>
        <p:spPr>
          <a:xfrm>
            <a:off x="777240" y="4846320"/>
            <a:ext cx="1463040" cy="365760"/>
          </a:xfrm>
          <a:prstGeom prst="rect">
            <a:avLst/>
          </a:prstGeom>
          <a:noFill/>
        </p:spPr>
        <p:txBody>
          <a:bodyPr wrap="square" anchor="t" lIns="18288" rIns="18288" tIns="18288" bIns="18288">
            <a:spAutoFit/>
          </a:bodyPr>
          <a:lstStyle/>
          <a:p>
            <a:pPr algn="l">
              <a:spcAft>
                <a:spcPts val="400"/>
              </a:spcAft>
            </a:pPr>
            <a:r>
              <a:rPr sz="1200" b="0">
                <a:solidFill>
                  <a:srgbClr val="4B5765"/>
                </a:solidFill>
                <a:latin typeface="Segoe UI Semibold"/>
              </a:rPr>
              <a:t>Code</a:t>
            </a:r>
          </a:p>
        </p:txBody>
      </p:sp>
      <p:sp>
        <p:nvSpPr>
          <p:cNvPr id="15" name="TextBox 14"/>
          <p:cNvSpPr txBox="1"/>
          <p:nvPr/>
        </p:nvSpPr>
        <p:spPr>
          <a:xfrm>
            <a:off x="2286000" y="4846320"/>
            <a:ext cx="9235440" cy="365760"/>
          </a:xfrm>
          <a:prstGeom prst="rect">
            <a:avLst/>
          </a:prstGeom>
          <a:noFill/>
        </p:spPr>
        <p:txBody>
          <a:bodyPr wrap="square" anchor="t" lIns="18288" rIns="18288" tIns="18288" bIns="18288">
            <a:spAutoFit/>
          </a:bodyPr>
          <a:lstStyle/>
          <a:p>
            <a:pPr algn="l">
              <a:spcAft>
                <a:spcPts val="400"/>
              </a:spcAft>
            </a:pPr>
            <a:r>
              <a:rPr sz="1200" b="0">
                <a:solidFill>
                  <a:srgbClr val="1D4E89"/>
                </a:solidFill>
                <a:latin typeface="Consolas"/>
              </a:rPr>
              <a:t>github.com/palash27114/palash-workshop-participant</a:t>
            </a:r>
          </a:p>
        </p:txBody>
      </p:sp>
      <p:sp>
        <p:nvSpPr>
          <p:cNvPr id="16" name="TextBox 15"/>
          <p:cNvSpPr txBox="1"/>
          <p:nvPr/>
        </p:nvSpPr>
        <p:spPr>
          <a:xfrm>
            <a:off x="777240" y="5257800"/>
            <a:ext cx="1463040" cy="365760"/>
          </a:xfrm>
          <a:prstGeom prst="rect">
            <a:avLst/>
          </a:prstGeom>
          <a:noFill/>
        </p:spPr>
        <p:txBody>
          <a:bodyPr wrap="square" anchor="t" lIns="18288" rIns="18288" tIns="18288" bIns="18288">
            <a:spAutoFit/>
          </a:bodyPr>
          <a:lstStyle/>
          <a:p>
            <a:pPr algn="l">
              <a:spcAft>
                <a:spcPts val="400"/>
              </a:spcAft>
            </a:pPr>
            <a:r>
              <a:rPr sz="1200" b="0">
                <a:solidFill>
                  <a:srgbClr val="4B5765"/>
                </a:solidFill>
                <a:latin typeface="Segoe UI Semibold"/>
              </a:rPr>
              <a:t>Dashboard</a:t>
            </a:r>
          </a:p>
        </p:txBody>
      </p:sp>
      <p:sp>
        <p:nvSpPr>
          <p:cNvPr id="17" name="TextBox 16"/>
          <p:cNvSpPr txBox="1"/>
          <p:nvPr/>
        </p:nvSpPr>
        <p:spPr>
          <a:xfrm>
            <a:off x="2286000" y="5257800"/>
            <a:ext cx="9235440" cy="365760"/>
          </a:xfrm>
          <a:prstGeom prst="rect">
            <a:avLst/>
          </a:prstGeom>
          <a:noFill/>
        </p:spPr>
        <p:txBody>
          <a:bodyPr wrap="square" anchor="t" lIns="18288" rIns="18288" tIns="18288" bIns="18288">
            <a:spAutoFit/>
          </a:bodyPr>
          <a:lstStyle/>
          <a:p>
            <a:pPr algn="l">
              <a:spcAft>
                <a:spcPts val="400"/>
              </a:spcAft>
            </a:pPr>
            <a:r>
              <a:rPr sz="1200" b="0">
                <a:solidFill>
                  <a:srgbClr val="1D4E89"/>
                </a:solidFill>
                <a:latin typeface="Consolas"/>
              </a:rPr>
              <a:t>http://a7040ba0173884c8ea4e7917083a0a9d-1383856101.ap-south-1.elb.amazonaws.com</a:t>
            </a:r>
          </a:p>
        </p:txBody>
      </p:sp>
      <p:sp>
        <p:nvSpPr>
          <p:cNvPr id="18" name="TextBox 17"/>
          <p:cNvSpPr txBox="1"/>
          <p:nvPr/>
        </p:nvSpPr>
        <p:spPr>
          <a:xfrm>
            <a:off x="777240" y="5669280"/>
            <a:ext cx="1463040" cy="365760"/>
          </a:xfrm>
          <a:prstGeom prst="rect">
            <a:avLst/>
          </a:prstGeom>
          <a:noFill/>
        </p:spPr>
        <p:txBody>
          <a:bodyPr wrap="square" anchor="t" lIns="18288" rIns="18288" tIns="18288" bIns="18288">
            <a:spAutoFit/>
          </a:bodyPr>
          <a:lstStyle/>
          <a:p>
            <a:pPr algn="l">
              <a:spcAft>
                <a:spcPts val="400"/>
              </a:spcAft>
            </a:pPr>
            <a:r>
              <a:rPr sz="1200" b="0">
                <a:solidFill>
                  <a:srgbClr val="4B5765"/>
                </a:solidFill>
                <a:latin typeface="Segoe UI Semibold"/>
              </a:rPr>
              <a:t>Run in AWS</a:t>
            </a:r>
          </a:p>
        </p:txBody>
      </p:sp>
      <p:sp>
        <p:nvSpPr>
          <p:cNvPr id="19" name="TextBox 18"/>
          <p:cNvSpPr txBox="1"/>
          <p:nvPr/>
        </p:nvSpPr>
        <p:spPr>
          <a:xfrm>
            <a:off x="2286000" y="5669280"/>
            <a:ext cx="9235440" cy="365760"/>
          </a:xfrm>
          <a:prstGeom prst="rect">
            <a:avLst/>
          </a:prstGeom>
          <a:noFill/>
        </p:spPr>
        <p:txBody>
          <a:bodyPr wrap="square" anchor="t" lIns="18288" rIns="18288" tIns="18288" bIns="18288">
            <a:spAutoFit/>
          </a:bodyPr>
          <a:lstStyle/>
          <a:p>
            <a:pPr algn="l">
              <a:spcAft>
                <a:spcPts val="400"/>
              </a:spcAft>
            </a:pPr>
            <a:r>
              <a:rPr sz="1200" b="0">
                <a:solidFill>
                  <a:srgbClr val="1D4E89"/>
                </a:solidFill>
                <a:latin typeface="Consolas"/>
              </a:rPr>
              <a:t>data/talent-etl/deploy/cloud_run.sh</a:t>
            </a:r>
          </a:p>
        </p:txBody>
      </p:sp>
      <p:cxnSp>
        <p:nvCxnSpPr>
          <p:cNvPr id="20" name="Connector 19"/>
          <p:cNvCxnSpPr/>
          <p:nvPr/>
        </p:nvCxnSpPr>
        <p:spPr>
          <a:xfrm>
            <a:off x="548640" y="6400800"/>
            <a:ext cx="11094415" cy="0"/>
          </a:xfrm>
          <a:prstGeom prst="line">
            <a:avLst/>
          </a:prstGeom>
          <a:ln w="9525">
            <a:solidFill>
              <a:srgbClr val="D4DAE1"/>
            </a:solidFill>
          </a:ln>
        </p:spPr>
      </p:cxnSp>
      <p:sp>
        <p:nvSpPr>
          <p:cNvPr id="21" name="TextBox 20"/>
          <p:cNvSpPr txBox="1"/>
          <p:nvPr/>
        </p:nvSpPr>
        <p:spPr>
          <a:xfrm>
            <a:off x="548640" y="6455664"/>
            <a:ext cx="7315200" cy="274320"/>
          </a:xfrm>
          <a:prstGeom prst="rect">
            <a:avLst/>
          </a:prstGeom>
          <a:noFill/>
        </p:spPr>
        <p:txBody>
          <a:bodyPr wrap="square" anchor="t" lIns="18288" rIns="18288" tIns="18288" bIns="18288">
            <a:spAutoFit/>
          </a:bodyPr>
          <a:lstStyle/>
          <a:p>
            <a:pPr algn="l">
              <a:spcAft>
                <a:spcPts val="400"/>
              </a:spcAft>
            </a:pPr>
            <a:r>
              <a:rPr sz="900" b="0">
                <a:solidFill>
                  <a:srgbClr val="8A94A0"/>
                </a:solidFill>
                <a:latin typeface="Segoe UI"/>
              </a:rPr>
              <a:t>ACME Talent Lake  ·  Data Engineer track  ·  Coding Workshop 2026</a:t>
            </a:r>
          </a:p>
        </p:txBody>
      </p:sp>
      <p:sp>
        <p:nvSpPr>
          <p:cNvPr id="22" name="TextBox 21"/>
          <p:cNvSpPr txBox="1"/>
          <p:nvPr/>
        </p:nvSpPr>
        <p:spPr>
          <a:xfrm>
            <a:off x="10698480" y="6455664"/>
            <a:ext cx="941832" cy="274320"/>
          </a:xfrm>
          <a:prstGeom prst="rect">
            <a:avLst/>
          </a:prstGeom>
          <a:noFill/>
        </p:spPr>
        <p:txBody>
          <a:bodyPr wrap="square" anchor="t" lIns="18288" rIns="18288" tIns="18288" bIns="18288">
            <a:spAutoFit/>
          </a:bodyPr>
          <a:lstStyle/>
          <a:p>
            <a:pPr algn="r">
              <a:spcAft>
                <a:spcPts val="400"/>
              </a:spcAft>
            </a:pPr>
            <a:r>
              <a:rPr sz="900" b="0">
                <a:solidFill>
                  <a:srgbClr val="8A94A0"/>
                </a:solidFill>
                <a:latin typeface="Segoe UI"/>
              </a:rPr>
              <a:t>11 / 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